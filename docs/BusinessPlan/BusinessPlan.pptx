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40080"/>
            <a:ext cx="54864" cy="502920"/>
          </a:xfrm>
          <a:prstGeom prst="rect">
            <a:avLst/>
          </a:prstGeom>
          <a:solidFill>
            <a:srgbClr val="C9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C9A86A"/>
                </a:solidFill>
                <a:latin typeface="Segoe UI"/>
              </a:rPr>
              <a:t>PROJEXCLOUD  ·  BUSINESS PLAN  · 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The AI-native enterprise application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E6ECF5"/>
                </a:solidFill>
                <a:latin typeface="Segoe UI"/>
              </a:rPr>
              <a:t>The substrate that powers vertical SaaS, internal enterprise apps, regulated workloads, and custom AI-agent applications — under one identity model, one billing system, one compliance posture. We replace the patchwork of Salesforce + ServiceNow + Snowflake + Auth0 + Stripe Billing + Datadog + LangChain that every modern enterprise is otherwise forced to stitch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98B3"/>
                </a:solidFill>
                <a:latin typeface="Segoe UI"/>
              </a:rPr>
              <a:t>Status: </a:t>
            </a:r>
            <a:r>
              <a:rPr sz="1000" b="1" i="0">
                <a:solidFill>
                  <a:srgbClr val="E6ECF5"/>
                </a:solidFill>
                <a:latin typeface="Segoe UI"/>
              </a:rPr>
              <a:t>Strategic alignment + investor-ready  </a:t>
            </a:r>
            <a:r>
              <a:rPr sz="1000" b="0" i="0">
                <a:solidFill>
                  <a:srgbClr val="8A98B3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E6ECF5"/>
                </a:solidFill>
                <a:latin typeface="Segoe UI"/>
              </a:rPr>
              <a:t>Companion docs in /docs/v3.1/  ·  PRDs in /prd/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1 ·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dirty="0">
                <a:solidFill>
                  <a:srgbClr val="FFFFFF"/>
                </a:solidFill>
                <a:latin typeface="Segoe UI"/>
              </a:rPr>
              <a:t>The wedge: method-level metering + six-layer show back + AI agent containment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" y="1883664"/>
            <a:ext cx="11192256" cy="118872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892808"/>
            <a:ext cx="54864" cy="1188720"/>
          </a:xfrm>
          <a:prstGeom prst="rect">
            <a:avLst/>
          </a:prstGeom>
          <a:solidFill>
            <a:srgbClr val="6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7032" y="2048256"/>
            <a:ext cx="10917936" cy="9692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E6ECF5"/>
                </a:solidFill>
                <a:latin typeface="Segoe UI"/>
              </a:rPr>
              <a:t>No existing platform offers all three. AWS bills lump sums per account; Salesforce charges per seat regardless of usage; Snowflake bills warehouse compute; nobody bills per SDK method per tenant per app per persona per encounter, with customer-verifiable hash chains, and gates AI agents through the same surface. This is structurally defensible.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9A86A"/>
                </a:solidFill>
                <a:latin typeface="Segoe U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32004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C9A86A"/>
                </a:solidFill>
                <a:latin typeface="Segoe UI"/>
              </a:rPr>
              <a:t>$80B+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AI-native multi-tenant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Global B2B SaaS hit ~$240B in 2025; adjacent platforms add ~$60B. We address the intersection.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1089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329184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9A86A"/>
                </a:solidFill>
                <a:latin typeface="Segoe UI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611880"/>
            <a:ext cx="32004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C9A86A"/>
                </a:solidFill>
                <a:latin typeface="Segoe UI"/>
              </a:rPr>
              <a:t>$25B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38912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Mid-market+ with 3+ verticals +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709160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Enterprises with 1k+ employees running 3+ vertical SaaS products and compliance/regulatory needs.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1089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9A86A"/>
                </a:solidFill>
                <a:latin typeface="Segoe UI"/>
              </a:rPr>
              <a:t>SOM · YR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611880"/>
            <a:ext cx="32004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C9A86A"/>
                </a:solidFill>
                <a:latin typeface="Segoe UI"/>
              </a:rPr>
              <a:t>$300M – $1B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38912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0.4% of SAM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709160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Capture $300M–1B ARR serving 100k+ tenants across 9 verticals in 3 regions.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1 ·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What we are · what we 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ECF5"/>
                </a:solidFill>
                <a:latin typeface="Segoe UI"/>
              </a:rPr>
              <a:t>Multi-tenant, AI-native application platform · 57 SDKs + 11 HDK modules + 6 foundation packages.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5577840" cy="41148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(1) PRE-BUILT VERTICAL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Customers subscribe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212080" cy="3063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Healthcare · Realty · Seva · FieldOps · eCommerce · BidWork · LeadPulse · OneEstate · Music/Video.
9 verticals shipping on the same substrate. ACV $50k – $2M depending on tier.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94560"/>
            <a:ext cx="5577840" cy="41148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(2) THE SDK PLATFORM ITSELF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5176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Pay-as-you-use per API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063240"/>
            <a:ext cx="5212080" cy="3063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Customers and partners build custom apps using @projexlight/sdk-* packages from the private npm registry.
Per-method metering · six-layer showback · customer-verifiable bills.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1 ·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Why now — three converging trends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749039" cy="42062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383279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TREND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38327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AI agents need enterprise 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383279" cy="3154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LangChain et al. solve the developer toolkit problem. Salesforce Agentforce / Microsoft Copilot solve the in-product problem.
Nobody solves the multi-tenant isolation + compliance + audit + billing problem for AI agents. The platform that does becomes the next Salesforce.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749039" cy="42062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383279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TREND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38327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Pay-as-you-use replacing per-seat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97480"/>
            <a:ext cx="3383279" cy="3154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Enterprise customers want predictability tied to usage, not seat counts inflated by ghost accounts.
AWS / Stripe / Anthropic proved the model. Nobody has built it for vertical SaaS at method-level granularity with customer-verifiable proof.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749039" cy="42062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383279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TREND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38327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Vertical SaaS is unbundling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97480"/>
            <a:ext cx="3383279" cy="3154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Customers want best-of-breed verticals on a common substrate — Healthcare from one vendor, Realty from another, but ONE identity + ONE bill + ONE audit.
Common substrate = the AWS play vs running on Microsoft licenses.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3 · 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The patchwork tax · 20–30% of software budget wasted on stitching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05940"/>
            <a:ext cx="112471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E6ECF5"/>
                </a:solidFill>
                <a:latin typeface="Segoe UI"/>
              </a:rPr>
              <a:t>A 5,000-employee enterprise running 5 vertical SaaS products today pays the patchwork tax: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CF5"/>
                </a:solidFill>
                <a:latin typeface="Segoe UI"/>
              </a:rPr>
              <a:t>• 5 identity systems to reconcile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24028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CF5"/>
                </a:solidFill>
                <a:latin typeface="Segoe UI"/>
              </a:rPr>
              <a:t>• 5 billing systems with different units (seats · API calls · MTUs · GB · hours)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CF5"/>
                </a:solidFill>
                <a:latin typeface="Segoe UI"/>
              </a:rPr>
              <a:t>• 5 audit logs to merge for SOC2/HIPAA self-audit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88036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CF5"/>
                </a:solidFill>
                <a:latin typeface="Segoe UI"/>
              </a:rPr>
              <a:t>• 5 customer success teams speaking different 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CF5"/>
                </a:solidFill>
                <a:latin typeface="Segoe UI"/>
              </a:rPr>
              <a:t>• 5 integration projects to connect to Salesforce/Snowflake/Slack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52044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6ECF5"/>
                </a:solidFill>
                <a:latin typeface="Segoe UI"/>
              </a:rPr>
              <a:t>• 5 vendors to negotiate with at renewal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4937760"/>
            <a:ext cx="11192256" cy="128016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54864" cy="1280160"/>
          </a:xfrm>
          <a:prstGeom prst="rect">
            <a:avLst/>
          </a:prstGeom>
          <a:solidFill>
            <a:srgbClr val="5D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5047488"/>
            <a:ext cx="10917936" cy="10607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6ECF5"/>
                </a:solidFill>
                <a:latin typeface="Segoe UI"/>
              </a:rPr>
              <a:t>Sample mid-market enterprise: $6.9M/yr SaaS spend + $1.5M/yr integration consultants + audit reconciliation + identity middleware = ~$8.4M total patchwork cost.
ProjexCloud equivalent (Enterprise tier + 3 vertical apps + 10 custom apps + AI platform): ~$1.5–3M.  Customer-side savings: $5–7M/year.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3 · 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The AI agent gap · nobody solves the enterprise substrate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37944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E6ECF5"/>
                </a:solidFill>
                <a:latin typeface="Segoe UI"/>
              </a:rPr>
              <a:t>Every enterprise wants AI agents. None have a safe substrate to deploy them 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3317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6B6B"/>
                </a:solidFill>
                <a:latin typeface="Segoe UI"/>
              </a:rPr>
              <a:t>FAILURE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331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Prompt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One customer's data ends up in another customer's agent context. Compliance disaster.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2860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3317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6B6B"/>
                </a:solidFill>
                <a:latin typeface="Segoe UI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331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Runaway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54680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Burn budget; produce irreversible actions; no kill switch.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2860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23317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6B6B"/>
                </a:solidFill>
                <a:latin typeface="Segoe UI"/>
              </a:rPr>
              <a:t>FAILURE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2331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No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54680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"Show me why the AI did X" becomes impossible to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2860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2468880"/>
            <a:ext cx="23317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6B6B"/>
                </a:solidFill>
                <a:latin typeface="Segoe UI"/>
              </a:rPr>
              <a:t>FAILURE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743200"/>
            <a:ext cx="2331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No semantic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154680"/>
            <a:ext cx="23317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Agents work with raw entities + 10k-token prompts. Brittle. Expensive.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4434840"/>
            <a:ext cx="11192256" cy="169164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54864" cy="1691640"/>
          </a:xfrm>
          <a:prstGeom prst="rect">
            <a:avLst/>
          </a:prstGeom>
          <a:solidFill>
            <a:srgbClr val="B8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" y="4544568"/>
            <a:ext cx="10917936" cy="1472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6ECF5"/>
                </a:solidFill>
                <a:latin typeface="Segoe UI"/>
              </a:rPr>
              <a:t>LangChain / CrewAI / AutoGen solve the developer-toolkit problem. Salesforce Agentforce / ServiceNow Now Assist / Microsoft Copilot solve the in-product problem within their own ecosystems. Nobody solves the enterprise substrate problem — multi-tenant agent isolation, semantic reasoning, full audit + lineage, capability-token-gated tool invocation, deterministic replay.
ProjexCloud's Agent Isolation Runtime (P6A) is the answer. This alone is a multi-billion-dollar business.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3 · 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Vertical SaaS unbundling · best-of-breed on a common substrate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" y="1956816"/>
            <a:ext cx="11192256" cy="137160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956816"/>
            <a:ext cx="54864" cy="1371600"/>
          </a:xfrm>
          <a:prstGeom prst="rect">
            <a:avLst/>
          </a:prstGeom>
          <a:solidFill>
            <a:srgbClr val="6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2057400"/>
            <a:ext cx="10917936" cy="11521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E6ECF5"/>
                </a:solidFill>
                <a:latin typeface="Segoe UI"/>
              </a:rPr>
              <a:t>Healthcare networks don't want Epic to ALSO be their CRM. Real estate firms don't want their MLS provider to ALSO run their HR. Customers want best-of-breed verticals on a common substrate.
</a:t>
            </a:r>
            <a:r>
              <a:rPr sz="1200" b="0" i="0" dirty="0" err="1">
                <a:solidFill>
                  <a:srgbClr val="E6ECF5"/>
                </a:solidFill>
                <a:latin typeface="Segoe UI"/>
              </a:rPr>
              <a:t>ProjexCloud</a:t>
            </a:r>
            <a:r>
              <a:rPr sz="1200" b="0" i="0" dirty="0">
                <a:solidFill>
                  <a:srgbClr val="E6ECF5"/>
                </a:solidFill>
                <a:latin typeface="Segoe UI"/>
              </a:rPr>
              <a:t> lets vertical SaaS companies build on us, while customers consume them through one Tenant Workspace, one identity, one bill.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3602736"/>
            <a:ext cx="11192256" cy="128016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3602736"/>
            <a:ext cx="54864" cy="1280160"/>
          </a:xfrm>
          <a:prstGeom prst="rect">
            <a:avLst/>
          </a:prstGeom>
          <a:solidFill>
            <a:srgbClr val="5D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3831336"/>
            <a:ext cx="10917936" cy="10607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E6ECF5"/>
                </a:solidFill>
                <a:latin typeface="Segoe UI"/>
              </a:rPr>
              <a:t>This is the same play AWS made vs running everything on Microsoft licenses: commodity the layer below; let products differentiate on top.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6B6B"/>
                </a:solidFill>
                <a:latin typeface="Segoe UI"/>
              </a:rPr>
              <a:t>Before: 5 vendors · 5 bills · 5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0292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6A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02920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5DD39E"/>
                </a:solidFill>
                <a:latin typeface="Segoe UI"/>
              </a:rPr>
              <a:t>After: ProjexCloud · 1 platform · 1 bill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3 ·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Per-vertical opportunity · $300–600M ARR aggregate by Year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VERTICAL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GLOBAL MARKET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OUR ICP SLICE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5-YEAR ARR POTENTIAL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Healthcare (provider IT)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$50B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Mid-size health networks (50–500 facilities)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$80–150M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Real Estate (CRM + ops)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$15B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Brokerages + property management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$50–100M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FieldOps (insurance + utilities)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$20B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National contractors + utility regions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$60–120M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Seva / Faith-tech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$3B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Religious orgs + ashrams + NGOs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$10–25M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eCommerce (mid-market)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$40B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$10M–500M GMV merchants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$50–100M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BidWork (auctions + procurement)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$8B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Niche B2B auction houses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$15–30M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LeadPulse (channel intake)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$5B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Multi-channel SMB-to-enterprise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$20–40M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OneEstate (capital + Sentinel)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$5B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RE investment platforms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$15–30M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4 ·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The substrate · 57 SDKs · 8 phases · 50 weeks to v1.0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697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C9A86A"/>
                </a:solidFill>
                <a:latin typeface="Segoe UI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697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SDKs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916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2697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C9A86A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68880"/>
            <a:ext cx="2697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Native HDK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916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2697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C9A86A"/>
                </a:solidFill>
                <a:latin typeface="Segoe U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2697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Delivery phases (50 weeks)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916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697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C9A86A"/>
                </a:solidFill>
                <a:latin typeface="Segoe U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468880"/>
            <a:ext cx="2697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Vertical apps (planned)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4612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SURFACE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ProjexCloud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182880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Internal staff: tenant ops, billing, support, pool health, regulatory.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24612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342900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SURFACE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70332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Tenant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14800"/>
            <a:ext cx="182880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Per-tenant: users, federation, API keys, billing, audit, custom apps.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324612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0" y="342900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SURFACE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70332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Vertical Apps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114800"/>
            <a:ext cx="182880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Pre-built products (Healthcare · Realty · Seva …) subscribed by tenants.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24612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0" y="342900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SURFACE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70332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Tenant 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114800"/>
            <a:ext cx="182880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Unified launcher · all verticals + custom apps · SSO + AI assistant.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324612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0" y="342900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SURFACE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70332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Tenant Custom Apps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114800"/>
            <a:ext cx="182880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Built by tenant devs via @projexlight/sdk-* · register in Workspace.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4 · 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The wedge · 10 differentiators competitors can't easily match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DIFFERENTIATOR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HOW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WHY COMPETITORS CAN'T MATCH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Method-level metering + six-layer showback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@meter decorator + projection carries 6-layer tuple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AWS/GCP tag-based · Salesforce per-seat · flat identity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Customer-verifiable bills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Hash-chained usage ledger · /billing/verify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Bolted-on metering doesn't expose raw events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Real-time meter ≤60s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Kafka → Redis live counter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Cloud bills lag 12–24h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Repriceable past months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Versioned pricing.catalog.vN · raw units immutable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History/catalog conflated elsewhere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Agent Isolation Runtime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Cap tokens + TTL + replay + sandbox memory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Industry-first at enterprise grade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Semantic Domain Layer (6 types)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Object · Relation · CapabilityGraph · Ontology · Intent · Policy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LangChain/CrewAI lack ontology reasoning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Hyperscale pool architecture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Pool router + federation runtime · per-pool encryption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Cell-based architecture rare at SaaS layer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Multi-deployment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Cloud + BYOK + Sovereign + On-Prem + Active-Active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Most SaaS cloud-only · on-prem needs re-engineering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Compliance built-in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GDPR · DPDP · HIPAA · PCI · SOC2 · FedRAMP roadmap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Compliance often retrofit · structural here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MCP bridge + connectors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Bidirectional MCP + typed connector framework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Standardized agent interop new (2024-2025)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5 ·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we fit · intersection of 4 categories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2651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AA9FF"/>
                </a:solidFill>
                <a:latin typeface="Segoe UI"/>
              </a:rPr>
              <a:t>↑ ABOVE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26517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Verticalized SaaS · Multi-vertical platforms (Salesforce Industries · Veeva)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57200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4754880"/>
            <a:ext cx="2651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AA9FF"/>
                </a:solidFill>
                <a:latin typeface="Segoe UI"/>
              </a:rPr>
              <a:t>↓ BELOW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029200"/>
            <a:ext cx="26517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Application development platforms (Outsystems · Mendix · Retool)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2651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AA9FF"/>
                </a:solidFill>
                <a:latin typeface="Segoe UI"/>
              </a:rPr>
              <a:t>←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26517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Enterprise iPaaS (Mulesoft · Workato · Tray.io)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01752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3200400"/>
            <a:ext cx="26517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AA9FF"/>
                </a:solidFill>
                <a:latin typeface="Segoe UI"/>
              </a:rPr>
              <a:t>→ 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474720"/>
            <a:ext cx="26517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Agent platforms (LangChain · CrewAI · AutoGen · LangGraph)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743200"/>
            <a:ext cx="3017520" cy="1371600"/>
          </a:xfrm>
          <a:prstGeom prst="roundRect">
            <a:avLst>
              <a:gd name="adj" fmla="val 5000"/>
            </a:avLst>
          </a:prstGeom>
          <a:solidFill>
            <a:srgbClr val="C9A86A"/>
          </a:solidFill>
          <a:ln w="9525">
            <a:solidFill>
              <a:srgbClr val="C9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15468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0B0F17"/>
                </a:solidFill>
                <a:latin typeface="Segoe UI"/>
              </a:rPr>
              <a:t>PROJEXCLOUD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" y="5852160"/>
            <a:ext cx="11192256" cy="45720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852160"/>
            <a:ext cx="54864" cy="457200"/>
          </a:xfrm>
          <a:prstGeom prst="rect">
            <a:avLst/>
          </a:prstGeom>
          <a:solidFill>
            <a:srgbClr val="C9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5961888"/>
            <a:ext cx="10917936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6ECF5"/>
                </a:solidFill>
                <a:latin typeface="Segoe UI"/>
              </a:rPr>
              <a:t>"We're not pure-play in any single quadrant — that's the moat. Anyone trying to copy ProjexCloud must build 4 disciplines simultaneously at compliance grade."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6 · CUSTOMER PROFILES (ICPS)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Four primary ICPs · one secondary channel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ICP 1 · MID-MARKET ENTERPRISE (1K–10K EMPL)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$50k–$300k ACV Y1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212080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CIO/CTO with 3–5 vertical SaaS products. Pain: 5 vendors · 5 bills · AI stalled · custom apps can't share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87452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ICP 2 · REGULATED ENTERPRISE (HEALTH · FINANCE · GOV)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$200k–$2M ACV Y1 · multi-year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5212080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50–500 facility health network · regional bank · gov agency. Pain: vertical SaaS doesn't meet compliance bar · AI deployment blocked.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39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160519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ICP 3 · VERTICAL SAAS COMPANY BUILDING ON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39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$10k–$100k ACV Y1 · scales with their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19"/>
            <a:ext cx="5212080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Series A/B startup that needs identity + billing + compliance + AI + field-ops infra without building it themselves.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77639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160519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ICP 4 · TENANT DEVELOPER (WITHIN PAYING TENANT)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34839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Rolled into parent tenant's bill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846319"/>
            <a:ext cx="5212080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Engineering team building custom apps inside an existing tenant. Install @projexlight/sdk-* with tenant token · register in Workspace.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6172200"/>
            <a:ext cx="11192256" cy="45720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54864" cy="457200"/>
          </a:xfrm>
          <a:prstGeom prst="rect">
            <a:avLst/>
          </a:prstGeom>
          <a:solidFill>
            <a:srgbClr val="C9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6281928"/>
            <a:ext cx="10917936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6ECF5"/>
                </a:solidFill>
                <a:latin typeface="Segoe UI"/>
              </a:rPr>
              <a:t>Secondary ICP · Reseller / MSP / Consultant — 15–30% revenue share for white-label distribution.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7 · GO-TO-MARKET &amp;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Vertical-led, partner-multiplied · 8 pricing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" y="1691640"/>
            <a:ext cx="11192256" cy="82296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" cy="822960"/>
          </a:xfrm>
          <a:prstGeom prst="rect">
            <a:avLst/>
          </a:prstGeom>
          <a:solidFill>
            <a:srgbClr val="6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801368"/>
            <a:ext cx="10917936" cy="6035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6ECF5"/>
                </a:solidFill>
                <a:latin typeface="Segoe UI"/>
              </a:rPr>
              <a:t>GTM principle: We don't lead with "buy our platform." We lead with "buy our Healthcare (or Realty, or Seva) app" + platform gets adopted as side effect.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743200"/>
          <a:ext cx="11247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AUDIENCE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PRICING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Sandbox (free)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Developers / evaluators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Free up to 10k calls/mo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No SLA · drives PLG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Starter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SMB · first paid tenants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$499/mo + overage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100k calls · Tier-S pool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Growth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Mid-market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$4,999/mo + overage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1M calls · SLA 99.9%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Enterprise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Mid-large enterprise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Custom $50k–500k ACV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Tier-P pool · SAML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Tier-G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Regulated isolation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Custom $500k–5M ACV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Dedicated pool · per-region compliance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Tier-G+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Active-active life-critical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Custom $2M–10M ACV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RPO≤5s · RTO≤60s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Sovereign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FedRAMP · PIPL · EU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Per-region negotiated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Partner-operated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On-prem / Air-gapped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Banks · government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Flat $500k–5M/year + support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Signed-bundle quarterly updates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8 ·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Unit economics · Year 3 steady-state · blended gross margin 75–80%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STARTER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GROWTH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ENTERPRISE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TIER-G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ACV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$6k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$60k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$200k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$1.5M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CAC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$2k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$15k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$60k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$300k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Payback period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4 mo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4 mo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4 mo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3 mo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NRR (net revenue retention)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115%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130%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140%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150%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LTV (5-year)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$40k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$500k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$2M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$20M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LTV : CAC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20×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33×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33×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67×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Gross margin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80%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80%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78%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70%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12064" y="5120640"/>
            <a:ext cx="11192256" cy="109728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5120640"/>
            <a:ext cx="54864" cy="1097280"/>
          </a:xfrm>
          <a:prstGeom prst="rect">
            <a:avLst/>
          </a:prstGeom>
          <a:solidFill>
            <a:srgbClr val="5D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5230368"/>
            <a:ext cx="10917936" cy="877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6ECF5"/>
                </a:solidFill>
                <a:latin typeface="Segoe UI"/>
              </a:rPr>
              <a:t>Why the math works: Pay-as-you-use drives NRR &gt; 100% (cf. Snowflake 170%). Multi-vertical adoption — 2nd/3rd vertical app at a tenant is 60% cheaper sell. Reseller channel scales acquisition. Tenant developer ecosystem drives usage without us building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11 · 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5-year illustrative · break-even mid-Year 3 · FCF+ Year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6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YEAR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TENANTS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VERTICALS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ARR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YOY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NRR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EBITDA %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$1M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−1100% (build phase)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2–3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$8M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700%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130%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−250%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1,000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5+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$50M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525%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135%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−46%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10,000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7+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$150M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200%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130%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−3% (near breakeven)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100,000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9+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$500M–1B+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233%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125%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ECF5"/>
                          </a:solidFill>
                          <a:latin typeface="Segoe UI"/>
                        </a:rPr>
                        <a:t>+36% (profitable)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C9A86A"/>
                </a:solidFill>
                <a:latin typeface="Segoe UI"/>
              </a:rPr>
              <a:t>Funding plan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534924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ROUND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AMOUNT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TIMING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USE OF FUNDS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8A98B3"/>
                          </a:solidFill>
                          <a:latin typeface="Segoe UI"/>
                        </a:rPr>
                        <a:t>VALUATION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Seed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$5–10M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Pre-Y1 / Y1 Q1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P1–P2 + first hires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$20–40M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Series A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$15–25M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Y1 Q3 / Y2 Q1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P3–P5 + 100 tenants + first vertical live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$80–200M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Series 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$50–80M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Y2 Q4 / Y3 Q1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P6–P7 + 1,000 tenants + sovereign + on-prem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$400M–1B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IPO / exit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Y5–Y6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Liquidity event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ECF5"/>
                          </a:solidFill>
                          <a:latin typeface="Segoe UI"/>
                        </a:rPr>
                        <a:t>$5–15B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9 ·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Compliance certifications roadmap · structural from day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CERTIFICATION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REQUIRED FOR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SOC2 Type I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Year 1 Q4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All enterprise sales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SOC2 Type II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Year 2 Q2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Healthcare · Finance customers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HIPAA-eligible (BAA)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Year 1 Q4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Healthcare vertical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GDPR + DPDP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Year 1 Q3 (built-in)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EU + India customers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PCI DSS Level 1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Year 2 Q1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Payment processing tenants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ISO 27001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Year 2 Q3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EU regulated customers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FedRAMP Moderate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Year 3 (w/ partner)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US Federal contractors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FedRAMP High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Year 4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DoD-adjacent contractors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PIPL (China)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Year 3 (w/ partner)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China sovereign region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10 · MARKETING &amp;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Content-led inbound · vertical-led sales · channel-multiplied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577840" cy="41148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CONTENT MARKETING PLAYBOOK (4 PHASES)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Technical leadership content as the brand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212080" cy="3063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Phase 1 (Y1): Publish architecture series · the v3.1 docs become a 10-part blog series targeting platform architects + CTOs.
Phase 2 (Y1–2): Vertical case studies — one per vertical that goes live.
Phase 3 (Y2+): "Agent containment" thought leadership.
Phase 4 (Y2+): Developer advocacy — hackathons · sample apps · npm download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577840" cy="41148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87452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SALES MOTION (BY TIER)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Right motion for right ACV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5212080" cy="3063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SDR-led for Starter/Growth: outbound to mid-market CIO; book demo of relevant vertical app + Tenant Workspace.
AE-led for Enterprise: field sales; technical pre-sales walks architecture + compliance + deployment variant choice.
Solutions Engineering for Tier-G/G+: ProjexCloud engineering teams co-architect customer's deployment.
Channel for Tier 1/2 partners: co-sell on $250k+ deals.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12 ·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Top 4 risks · structural mitigations in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6B6B"/>
                </a:solidFill>
                <a:latin typeface="Segoe UI"/>
              </a:rPr>
              <a:t>RISK ·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Execution risk on 50-week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21208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Phase exit gates are CI-enforced. Doctrines (§3A · §3B · §8B) reduce drift. Per-phase PRD acceptance criteria provide measurable progress. Weekly Working Group 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87452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6B6B"/>
                </a:solidFill>
                <a:latin typeface="Segoe UI"/>
              </a:rPr>
              <a:t>RISK · VERY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Compliance event (data breach, regulator)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521208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Architecture is structurally defensive (§10, §10A, §18A). SOC2 Type II Y2 Q2. External security review per major release. Per-pool blast-radius limits impact. Cyber-liability insurance.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6052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6B6B"/>
                </a:solidFill>
                <a:latin typeface="Segoe UI"/>
              </a:rPr>
              <a:t>RISK ·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Competitive · Salesforce / Microsoft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521208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Ship faster on AI containment story (unique wedge). Emphasize "no Salesforce lock-in" / "no Microsoft tax". Partner with their ecosystem (connectors), don't fight directly.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16052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34340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6B6B"/>
                </a:solidFill>
                <a:latin typeface="Segoe UI"/>
              </a:rPr>
              <a:t>RISK · MEDIUM-HIGH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61772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Talent · deep expertise in 5 disciplines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029200"/>
            <a:ext cx="521208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Distributed hiring (India + US + EU). Strong technical writing as hiring magnet. Equity-heavy comp for senior platform roles. University partnership for AI safety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13 · MILESTONES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Build milestones (technical) · Business milestones (commercial)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86A"/>
                </a:solidFill>
                <a:latin typeface="Segoe UI"/>
              </a:rPr>
              <a:t>Build milestones (50 weeks)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69164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C9A86A"/>
                </a:solidFill>
                <a:latin typeface="Segoe UI"/>
              </a:rPr>
              <a:t>Business milestones (by quarter)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Week 9   P1 closed · Foundation Spine + Doctrines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32887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Week 15  P2 closed · Identity &amp; Access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16935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Week 22  P3 closed · Canonical entities + HDK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00984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Week 29  P4 closed · First invoice 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85031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Week 35  P5 closed · First vertical app shippable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Week 40  P6A closed · Agents safely deployable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53128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Week 44  P6B closed · Semantic + Lineage +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37176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Week 50  P7 closed · Full v3.1 estate at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14884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Y1 Q1   Seed raised · team in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532887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Y1 Q3   SOC2 Type I · first paying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916935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Y1 Q4   First vertical app GA · 5–10 tenants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300984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Y2 Q1   Series A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685031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Y2 Q2   SOC2 II + HIPAA + PCI · 25 tenants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06908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Y2 Q4   100 tenants · 3 verticals · AI in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453128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Y3 Q1   Series B 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837176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Y3 Q4   1,000 tenants · $30M ARR run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221224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•  Y5      Hyperscale · IPO-ready or strategic exit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14 · TEAM &amp; HIRING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Engineering ramp · 8 → 65 across 8 phases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WEEK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TEAM SIZE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8B3"/>
                          </a:solidFill>
                          <a:latin typeface="Segoe UI"/>
                        </a:rPr>
                        <a:t>KEY SKILLS ADDED</a:t>
                      </a:r>
                    </a:p>
                  </a:txBody>
                  <a:tcPr marL="73152" marR="73152" marT="36576" marB="36576">
                    <a:solidFill>
                      <a:srgbClr val="121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Identity · security · platform infra · contracts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+ identity working group + ABAC/ReBAC specialists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P3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+ mobile (HDK) · data privacy · geo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P4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+ operational SDKs · integrations · billing engineering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P5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42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+ vertical product teams · connector engineers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P6A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+ AI platform team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P6B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44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56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+ data platform (analytics · lineage · semantic)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P7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65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ECF5"/>
                          </a:solidFill>
                          <a:latin typeface="Segoe UI"/>
                        </a:rPr>
                        <a:t>+ field/evidence team · hyperscale SRE</a:t>
                      </a:r>
                    </a:p>
                  </a:txBody>
                  <a:tcPr marL="73152" marR="73152" marT="36576" marB="36576">
                    <a:solidFill>
                      <a:srgbClr val="0B0F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12064" y="5806440"/>
            <a:ext cx="11192256" cy="45720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5806440"/>
            <a:ext cx="54864" cy="457200"/>
          </a:xfrm>
          <a:prstGeom prst="rect">
            <a:avLst/>
          </a:prstGeom>
          <a:solidFill>
            <a:srgbClr val="6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5916168"/>
            <a:ext cx="10917936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6ECF5"/>
                </a:solidFill>
                <a:latin typeface="Segoe UI"/>
              </a:rPr>
              <a:t>Founding archetypes (Day 1 to Y2 Q3): CEO · CTO · Head of AI · Head of Security · Head of Product · Head of Mobile · Head of Sales · VP Engineering · VP Marketing · CFO · Head of Channel.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15 · EXIT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Two paths · IPO at $1B+ ARR or strategic acquisition at $2.4–15B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577840" cy="246888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PATH A · 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At $1B+ ARR · Year 5–6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2120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Comparable IPOs:
Snowflake — $33B at IPO ($13B ARR)
Datadog — $8B at IPO ($200M ARR)
Veeva — $4B at IPO (vertical SaaS life sciences)
Procore — $9B at IPO (vertical SaaS construction)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577840" cy="2468880"/>
          </a:xfrm>
          <a:prstGeom prst="roundRect">
            <a:avLst>
              <a:gd name="adj" fmla="val 5000"/>
            </a:avLst>
          </a:prstGeom>
          <a:solidFill>
            <a:srgbClr val="121826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874520"/>
            <a:ext cx="52120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9A86A"/>
                </a:solidFill>
                <a:latin typeface="Segoe UI"/>
              </a:rPr>
              <a:t>PATH B · STRATEGIC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8–15× ARR multiple · Year 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52120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98B3"/>
                </a:solidFill>
                <a:latin typeface="Segoe UI"/>
              </a:rPr>
              <a:t>Likely acquirers (incumbents looking to leapfrog AI-native multi-tenant):
Salesforce (fills platform gap)
Microsoft (challenges SF on AI-native)
Oracle (vertical apps portfolio)
SAP (modernize ECC successor)
ServiceNow · Snowflake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4343400"/>
            <a:ext cx="11192256" cy="1783080"/>
          </a:xfrm>
          <a:prstGeom prst="roundRect">
            <a:avLst>
              <a:gd name="adj" fmla="val 5000"/>
            </a:avLst>
          </a:prstGeom>
          <a:solidFill>
            <a:srgbClr val="1A2234"/>
          </a:solidFill>
          <a:ln w="9525">
            <a:solidFill>
              <a:srgbClr val="24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343400"/>
            <a:ext cx="54864" cy="1783080"/>
          </a:xfrm>
          <a:prstGeom prst="rect">
            <a:avLst/>
          </a:prstGeom>
          <a:solidFill>
            <a:srgbClr val="C9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4453128"/>
            <a:ext cx="10917936" cy="15636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6ECF5"/>
                </a:solidFill>
                <a:latin typeface="Segoe UI"/>
              </a:rPr>
              <a:t>The operating-system thesis: long-term ProjexCloud aims to be THE OS for enterprise applications — not just a platform. The analogy is the shift from each application running on its own bare metal to all applications running on Linux/Windows. Every enterprise application built between 2026–2035 should be able to run on ProjexCloud, regardless of vertical, customer, or deployment topology.
10–20 year vision. The 5-year business plan is the first chapter.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ProjexCloud  ·  Business Plan v1.0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A98B3"/>
                </a:solidFill>
                <a:latin typeface="Segoe U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C9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C9A86A"/>
                </a:solidFill>
                <a:latin typeface="Segoe UI"/>
              </a:rPr>
              <a:t>16 ·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Build the operating system for enterprise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C9A86A"/>
                </a:solidFill>
                <a:latin typeface="Segoe UI"/>
              </a:rPr>
              <a:t>The window is open now. We have the design. We need to execute.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86A"/>
                </a:solidFill>
                <a:latin typeface="Segoe UI"/>
              </a:rPr>
              <a:t>WHAT WE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9A86A"/>
                </a:solidFill>
                <a:latin typeface="Segoe UI"/>
              </a:rPr>
              <a:t>•  Capital · </a:t>
            </a:r>
            <a:r>
              <a:rPr sz="1300" b="0" i="0">
                <a:solidFill>
                  <a:srgbClr val="E6ECF5"/>
                </a:solidFill>
                <a:latin typeface="Segoe UI"/>
              </a:rPr>
              <a:t>Series A $15–25M to execute 50-week build + 100 tenants + first 3 verticals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9A86A"/>
                </a:solidFill>
                <a:latin typeface="Segoe UI"/>
              </a:rPr>
              <a:t>•  Talent · </a:t>
            </a:r>
            <a:r>
              <a:rPr sz="1300" b="0" i="0">
                <a:solidFill>
                  <a:srgbClr val="E6ECF5"/>
                </a:solidFill>
                <a:latin typeface="Segoe UI"/>
              </a:rPr>
              <a:t>deep expertise in identity, encryption, AI safety, mobile native, data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9A86A"/>
                </a:solidFill>
                <a:latin typeface="Segoe UI"/>
              </a:rPr>
              <a:t>•  Design partners · </a:t>
            </a:r>
            <a:r>
              <a:rPr sz="1300" b="0" i="0">
                <a:solidFill>
                  <a:srgbClr val="E6ECF5"/>
                </a:solidFill>
                <a:latin typeface="Segoe UI"/>
              </a:rPr>
              <a:t>3 verticals (Healthcare + Realty + Seva) by Y1 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9A86A"/>
                </a:solidFill>
                <a:latin typeface="Segoe UI"/>
              </a:rPr>
              <a:t>•  Reseller / MSP partners · </a:t>
            </a:r>
            <a:r>
              <a:rPr sz="1300" b="0" i="0">
                <a:solidFill>
                  <a:srgbClr val="E6ECF5"/>
                </a:solidFill>
                <a:latin typeface="Segoe UI"/>
              </a:rPr>
              <a:t>by Y2 Q3 to multiply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8A98B3"/>
                </a:solidFill>
                <a:latin typeface="Segoe UI"/>
              </a:rPr>
              <a:t>Companion documentation maintained in /docs/v3.1/ (architecture) and /prd/ (per-phase PRDs).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3547</Words>
  <Application>Microsoft Office PowerPoint</Application>
  <PresentationFormat>Widescreen</PresentationFormat>
  <Paragraphs>521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Srimanta Jana</cp:lastModifiedBy>
  <cp:revision>3</cp:revision>
  <dcterms:created xsi:type="dcterms:W3CDTF">2013-01-27T09:14:16Z</dcterms:created>
  <dcterms:modified xsi:type="dcterms:W3CDTF">2026-05-22T00:44:47Z</dcterms:modified>
  <cp:category/>
</cp:coreProperties>
</file>