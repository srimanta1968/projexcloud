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7315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9FB7F0"/>
                </a:solidFill>
                <a:latin typeface="Calibri"/>
              </a:rPr>
              <a:t>ProjexCloud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Onboarding on ProjexCloud — Explained Simply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C7D0E0"/>
                </a:solidFill>
                <a:latin typeface="Calibri"/>
              </a:rPr>
              <a:t>From a brand-new customer to thousands of users — told as a story, with a robot-maker example.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8A99B3"/>
                </a:solidFill>
                <a:latin typeface="Calibri"/>
              </a:rPr>
              <a:t>For: </a:t>
            </a:r>
            <a:r>
              <a:rPr sz="1400" b="0">
                <a:solidFill>
                  <a:srgbClr val="C7D0E0"/>
                </a:solidFill>
                <a:latin typeface="Calibri"/>
              </a:rPr>
              <a:t>ProjexCloud Marketing &amp; Support  ·  Customer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51C7"/>
                </a:solidFill>
                <a:latin typeface="Calibri"/>
              </a:rPr>
              <a:t>THE 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220"/>
                </a:solidFill>
                <a:latin typeface="Calibri"/>
              </a:rPr>
              <a:t>What is ProjexCloud?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9494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Two engines in one platform. </a:t>
            </a:r>
            <a:r>
              <a:rPr sz="1600" b="0">
                <a:solidFill>
                  <a:srgbClr val="5A6573"/>
                </a:solidFill>
                <a:latin typeface="Calibri"/>
              </a:rPr>
              <a:t>a place to KEEP your data safely, and a place to BUILD &amp; RUN apps with rules.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Multi-tenant. </a:t>
            </a:r>
            <a:r>
              <a:rPr sz="1600" b="0">
                <a:solidFill>
                  <a:srgbClr val="5A6573"/>
                </a:solidFill>
                <a:latin typeface="Calibri"/>
              </a:rPr>
              <a:t>many companies live on it at once, each in their own locked room.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Multi-app. </a:t>
            </a:r>
            <a:r>
              <a:rPr sz="1600" b="0">
                <a:solidFill>
                  <a:srgbClr val="5A6573"/>
                </a:solidFill>
                <a:latin typeface="Calibri"/>
              </a:rPr>
              <a:t>one company can build many different apps.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Built to grow. </a:t>
            </a:r>
            <a:r>
              <a:rPr sz="1600" b="0">
                <a:solidFill>
                  <a:srgbClr val="5A6573"/>
                </a:solidFill>
                <a:latin typeface="Calibri"/>
              </a:rPr>
              <a:t>a handful of users today, millions of robots and people tomorrow.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737360"/>
            <a:ext cx="3749039" cy="420624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96596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542A6"/>
                </a:solidFill>
                <a:latin typeface="Calibri"/>
              </a:rPr>
              <a:t>🧒  Think of it like…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606040"/>
            <a:ext cx="32461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B1220"/>
                </a:solidFill>
                <a:latin typeface="Calibri"/>
              </a:rPr>
              <a:t>ProjexCloud is like a giant LEGO city.
We give you the bricks (SDKs) and the safe streets (identity, billing, audit). You snap together the building you want — fast — instead of making every brick yourself.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ProjexCloud + Projexlight  ·  Onboarding &amp;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51C7"/>
                </a:solidFill>
                <a:latin typeface="Calibri"/>
              </a:rPr>
              <a:t>THE 3 DOORS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220"/>
                </a:solidFill>
                <a:latin typeface="Calibri"/>
              </a:rPr>
              <a:t>Three portals — three doors into the 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9494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Workspace </a:t>
            </a:r>
            <a:r>
              <a:rPr sz="1600" b="0">
                <a:solidFill>
                  <a:srgbClr val="5A6573"/>
                </a:solidFill>
                <a:latin typeface="Calibri"/>
              </a:rPr>
              <a:t>→ the builder's workshop. Developers pick bricks and build the app.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Tenant Admin </a:t>
            </a:r>
            <a:r>
              <a:rPr sz="1600" b="0">
                <a:solidFill>
                  <a:srgbClr val="5A6573"/>
                </a:solidFill>
                <a:latin typeface="Calibri"/>
              </a:rPr>
              <a:t>→ the company office. The boss adds people, sets billing, makes rules.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Platform Admin (ProjexCloud) </a:t>
            </a:r>
            <a:r>
              <a:rPr sz="1600" b="0">
                <a:solidFill>
                  <a:srgbClr val="5A6573"/>
                </a:solidFill>
                <a:latin typeface="Calibri"/>
              </a:rPr>
              <a:t>→ the city hall. Our team sets up customers and keeps the city running.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737360"/>
            <a:ext cx="3749039" cy="420624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96596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542A6"/>
                </a:solidFill>
                <a:latin typeface="Calibri"/>
              </a:rPr>
              <a:t>🧒  Think of it like…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606040"/>
            <a:ext cx="32461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B1220"/>
                </a:solidFill>
                <a:latin typeface="Calibri"/>
              </a:rPr>
              <a:t>Same building, three doors:
• Builders use the workshop door.
• The office manager uses the office door.
• City hall is only for ProjexCloud staff — customers can't walk in there.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ProjexCloud + Projexlight  ·  Onboarding &amp;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51C7"/>
                </a:solidFill>
                <a:latin typeface="Calibri"/>
              </a:rPr>
              <a:t>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220"/>
                </a:solidFill>
                <a:latin typeface="Calibri"/>
              </a:rPr>
              <a:t>How everything is organized — like a family tree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867" y="2377440"/>
            <a:ext cx="1965960" cy="155448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867" y="260604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542A6"/>
                </a:solidFill>
                <a:latin typeface="Calibri"/>
              </a:rPr>
              <a:t>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595" y="31546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573"/>
                </a:solidFill>
                <a:latin typeface="Calibri"/>
              </a:rPr>
              <a:t>The whole company
(e.g. a robot maker)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5115" y="2880360"/>
            <a:ext cx="292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1A51C7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26867" y="2377440"/>
            <a:ext cx="1965960" cy="155448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26867" y="260604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542A6"/>
                </a:solidFill>
                <a:latin typeface="Calibri"/>
              </a:rPr>
              <a:t>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6595" y="31546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573"/>
                </a:solidFill>
                <a:latin typeface="Calibri"/>
              </a:rPr>
              <a:t>One product
(a company can have many)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1115" y="2880360"/>
            <a:ext cx="292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1A51C7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2867" y="2377440"/>
            <a:ext cx="1965960" cy="155448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2867" y="260604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542A6"/>
                </a:solidFill>
                <a:latin typeface="Calibri"/>
              </a:rPr>
              <a:t>Tenant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2595" y="31546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573"/>
                </a:solidFill>
                <a:latin typeface="Calibri"/>
              </a:rPr>
              <a:t>One customer
of that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7115" y="2880360"/>
            <a:ext cx="292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1A51C7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8867" y="2377440"/>
            <a:ext cx="1965960" cy="155448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8867" y="260604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542A6"/>
                </a:solidFill>
                <a:latin typeface="Calibri"/>
              </a:rPr>
              <a:t>Business Unit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8595" y="31546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573"/>
                </a:solidFill>
                <a:latin typeface="Calibri"/>
              </a:rPr>
              <a:t>One site or region
inside a customer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3115" y="2880360"/>
            <a:ext cx="292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1A51C7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84867" y="2377440"/>
            <a:ext cx="1965960" cy="155448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84867" y="260604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542A6"/>
                </a:solidFill>
                <a:latin typeface="Calibri"/>
              </a:rPr>
              <a:t>Members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4595" y="31546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573"/>
                </a:solidFill>
                <a:latin typeface="Calibri"/>
              </a:rPr>
              <a:t>The people
(your users)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7200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0B1220"/>
                </a:solidFill>
                <a:latin typeface="Calibri"/>
              </a:rPr>
              <a:t>Read it left to right: a company (Org) makes products (Apps); each app has customers (Tenants); each customer has sites (BUs); each site has people (Members). Robots plug in here too, as 'devices'.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ProjexCloud + Projexlight  ·  Onboarding &amp;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51C7"/>
                </a:solidFill>
                <a:latin typeface="Calibri"/>
              </a:rPr>
              <a:t>ONE 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220"/>
                </a:solidFill>
                <a:latin typeface="Calibri"/>
              </a:rPr>
              <a:t>One login, many hats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9494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You sign up once. </a:t>
            </a:r>
            <a:r>
              <a:rPr sz="1600" b="0">
                <a:solidFill>
                  <a:srgbClr val="5A6573"/>
                </a:solidFill>
                <a:latin typeface="Calibri"/>
              </a:rPr>
              <a:t>one person = one identity = one password. Forever.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Your roles decide your doors. </a:t>
            </a:r>
            <a:r>
              <a:rPr sz="1600" b="0">
                <a:solidFill>
                  <a:srgbClr val="5A6573"/>
                </a:solidFill>
                <a:latin typeface="Calibri"/>
              </a:rPr>
              <a:t>the SAME login opens Workspace if you're a builder, and Tenant Admin if you're a boss.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Different app, different hat. </a:t>
            </a:r>
            <a:r>
              <a:rPr sz="1600" b="0">
                <a:solidFill>
                  <a:srgbClr val="5A6573"/>
                </a:solidFill>
                <a:latin typeface="Calibri"/>
              </a:rPr>
              <a:t>you can be a builder on App A and a viewer on App B — still one login.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Robots get an identity too. </a:t>
            </a:r>
            <a:r>
              <a:rPr sz="1600" b="0">
                <a:solidFill>
                  <a:srgbClr val="5A6573"/>
                </a:solidFill>
                <a:latin typeface="Calibri"/>
              </a:rPr>
              <a:t>each robot is a 'service identity' with its own ID badge.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737360"/>
            <a:ext cx="3749039" cy="420624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96596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542A6"/>
                </a:solidFill>
                <a:latin typeface="Calibri"/>
              </a:rPr>
              <a:t>🧒  Think of it like…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606040"/>
            <a:ext cx="32461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B1220"/>
                </a:solidFill>
                <a:latin typeface="Calibri"/>
              </a:rPr>
              <a:t>It's like one house key with smart permissions.
The same key lets you into the rooms you're allowed in — and politely stops you at the doors you're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ProjexCloud + Projexlight  ·  Onboarding &amp;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51C7"/>
                </a:solidFill>
                <a:latin typeface="Calibri"/>
              </a:rPr>
              <a:t>WHERE TO LOG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220"/>
                </a:solidFill>
                <a:latin typeface="Calibri"/>
              </a:rPr>
              <a:t>Every door has one web address — cloud.projexlight.com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09167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931920"/>
                <a:gridCol w="441655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Who you are</a:t>
                      </a:r>
                    </a:p>
                  </a:txBody>
                  <a:tcPr>
                    <a:solidFill>
                      <a:srgbClr val="1A51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What you do</a:t>
                      </a:r>
                    </a:p>
                  </a:txBody>
                  <a:tcPr>
                    <a:solidFill>
                      <a:srgbClr val="1A51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Where you go</a:t>
                      </a:r>
                    </a:p>
                  </a:txBody>
                  <a:tcPr>
                    <a:solidFill>
                      <a:srgbClr val="1A51C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New customer / sign 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Register &amp; create your account/tenant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cloud.projexlight.com/workspace  →  Sign 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Developer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Build &amp; deploy apps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cloud.projexlight.com/workspace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App user (end user)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Use the live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cloud.projexlight.com/workspace  (your app)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Tenant Admin / App Admin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Run the org &amp; each app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cloud.projexlight.com/tenant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Platform / ProjexCloud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Operate the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cloud.projexlight.com/console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Programmatic (API)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Register/login by API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cloud.projexlight.com/api/auth/register · /login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ProjexCloud + Projexlight  ·  Onboarding &amp;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2194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600" b="1">
                <a:solidFill>
                  <a:srgbClr val="9FB7F0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2377440"/>
            <a:ext cx="8412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How to onboard a new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3657600"/>
            <a:ext cx="8229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DDE6FF"/>
                </a:solidFill>
                <a:latin typeface="Calibri"/>
              </a:rPr>
              <a:t>The six simple steps — works for any customer, any number of apps.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51C7"/>
                </a:solidFill>
                <a:latin typeface="Calibri"/>
              </a:rPr>
              <a:t>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220"/>
                </a:solidFill>
                <a:latin typeface="Calibri"/>
              </a:rPr>
              <a:t>Six steps from zero to a live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749808" cy="749808"/>
          </a:xfrm>
          <a:prstGeom prst="round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81328" y="1783080"/>
            <a:ext cx="10058400" cy="749808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B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856232"/>
            <a:ext cx="9692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B1220"/>
                </a:solidFill>
                <a:latin typeface="Calibri"/>
              </a:rPr>
              <a:t>ProjexCloud sets you up.  </a:t>
            </a:r>
            <a:r>
              <a:rPr sz="1500" b="0">
                <a:solidFill>
                  <a:srgbClr val="5A6573"/>
                </a:solidFill>
                <a:latin typeface="Calibri"/>
              </a:rPr>
              <a:t>We create your company account (Org) and register your App(s).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97480"/>
            <a:ext cx="749808" cy="749808"/>
          </a:xfrm>
          <a:prstGeom prst="round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81328" y="2697480"/>
            <a:ext cx="10058400" cy="749808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B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2770632"/>
            <a:ext cx="9692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B1220"/>
                </a:solidFill>
                <a:latin typeface="Calibri"/>
              </a:rPr>
              <a:t>You provision a tenant.  </a:t>
            </a:r>
            <a:r>
              <a:rPr sz="1500" b="0">
                <a:solidFill>
                  <a:srgbClr val="5A6573"/>
                </a:solidFill>
                <a:latin typeface="Calibri"/>
              </a:rPr>
              <a:t>Each customer/company gets its own locked space, region and plan.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11880"/>
            <a:ext cx="749808" cy="749808"/>
          </a:xfrm>
          <a:prstGeom prst="round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81328" y="3611880"/>
            <a:ext cx="10058400" cy="749808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B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3685032"/>
            <a:ext cx="9692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B1220"/>
                </a:solidFill>
                <a:latin typeface="Calibri"/>
              </a:rPr>
              <a:t>The boss sets up the office.  </a:t>
            </a:r>
            <a:r>
              <a:rPr sz="1500" b="0">
                <a:solidFill>
                  <a:srgbClr val="5A6573"/>
                </a:solidFill>
                <a:latin typeface="Calibri"/>
              </a:rPr>
              <a:t>Tenant Admin: billing, invite people, give roles, make Business Units.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26280"/>
            <a:ext cx="749808" cy="749808"/>
          </a:xfrm>
          <a:prstGeom prst="round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81328" y="4526280"/>
            <a:ext cx="10058400" cy="749808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B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4599432"/>
            <a:ext cx="9692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B1220"/>
                </a:solidFill>
                <a:latin typeface="Calibri"/>
              </a:rPr>
              <a:t>Add developers to an app.  </a:t>
            </a:r>
            <a:r>
              <a:rPr sz="1500" b="0">
                <a:solidFill>
                  <a:srgbClr val="5A6573"/>
                </a:solidFill>
                <a:latin typeface="Calibri"/>
              </a:rPr>
              <a:t>Builders join the Workspace for that specific app — and only that app.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440680"/>
            <a:ext cx="749808" cy="749808"/>
          </a:xfrm>
          <a:prstGeom prst="round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4068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81328" y="5440680"/>
            <a:ext cx="10058400" cy="749808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B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0" y="5513832"/>
            <a:ext cx="9692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B1220"/>
                </a:solidFill>
                <a:latin typeface="Calibri"/>
              </a:rPr>
              <a:t>Build &amp; launch.  </a:t>
            </a:r>
            <a:r>
              <a:rPr sz="1500" b="0">
                <a:solidFill>
                  <a:srgbClr val="5A6573"/>
                </a:solidFill>
                <a:latin typeface="Calibri"/>
              </a:rPr>
              <a:t>Developers snap together SDKs and press deploy.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6355080"/>
            <a:ext cx="749808" cy="749808"/>
          </a:xfrm>
          <a:prstGeom prst="round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35508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81328" y="6355080"/>
            <a:ext cx="10058400" cy="749808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B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6428232"/>
            <a:ext cx="9692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B1220"/>
                </a:solidFill>
                <a:latin typeface="Calibri"/>
              </a:rPr>
              <a:t>Users arrive.  </a:t>
            </a:r>
            <a:r>
              <a:rPr sz="1500" b="0">
                <a:solidFill>
                  <a:srgbClr val="5A6573"/>
                </a:solidFill>
                <a:latin typeface="Calibri"/>
              </a:rPr>
              <a:t>The live app captures data and serves thousands of people, safely.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ProjexCloud + Projexlight  ·  Onboarding &amp; Training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51C7"/>
                </a:solidFill>
                <a:latin typeface="Calibri"/>
              </a:rPr>
              <a:t>MANY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220"/>
                </a:solidFill>
                <a:latin typeface="Calibri"/>
              </a:rPr>
              <a:t>A customer who builds MANY 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9494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One company, many products. </a:t>
            </a:r>
            <a:r>
              <a:rPr sz="1600" b="0">
                <a:solidFill>
                  <a:srgbClr val="5A6573"/>
                </a:solidFill>
                <a:latin typeface="Calibri"/>
              </a:rPr>
              <a:t>register one App per product — they don't mix.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Each app is its own world. </a:t>
            </a:r>
            <a:r>
              <a:rPr sz="1600" b="0">
                <a:solidFill>
                  <a:srgbClr val="5A6573"/>
                </a:solidFill>
                <a:latin typeface="Calibri"/>
              </a:rPr>
              <a:t>its own data, its own customers, its own developers.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People can be shared. </a:t>
            </a:r>
            <a:r>
              <a:rPr sz="1600" b="0">
                <a:solidFill>
                  <a:srgbClr val="5A6573"/>
                </a:solidFill>
                <a:latin typeface="Calibri"/>
              </a:rPr>
              <a:t>the same person can work on several apps, with different roles.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Walls stay up. </a:t>
            </a:r>
            <a:r>
              <a:rPr sz="1600" b="0">
                <a:solidFill>
                  <a:srgbClr val="5A6573"/>
                </a:solidFill>
                <a:latin typeface="Calibri"/>
              </a:rPr>
              <a:t>a developer on App A cannot see App B's data unless allowed.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737360"/>
            <a:ext cx="3749039" cy="420624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96596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542A6"/>
                </a:solidFill>
                <a:latin typeface="Calibri"/>
              </a:rPr>
              <a:t>🧒  Think of it like…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606040"/>
            <a:ext cx="32461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B1220"/>
                </a:solidFill>
                <a:latin typeface="Calibri"/>
              </a:rPr>
              <a:t>Like a toy company that makes cars, dolls AND drones.
Three separate product lines, three separate workshops — but the same employees can help on more than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ProjexCloud + Projexlight  ·  Onboarding &amp;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51C7"/>
                </a:solidFill>
                <a:latin typeface="Calibri"/>
              </a:rPr>
              <a:t>TWO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220"/>
                </a:solidFill>
                <a:latin typeface="Calibri"/>
              </a:rPr>
              <a:t>Admin each app  ·  Add developers to a specific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212080" cy="548640"/>
          </a:xfrm>
          <a:prstGeom prst="round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The Admin's job (Tenant Admin door)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49377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51C7"/>
                </a:solidFill>
                <a:latin typeface="Calibri"/>
              </a:rPr>
              <a:t>•  </a:t>
            </a:r>
            <a:r>
              <a:rPr sz="1450" b="0">
                <a:solidFill>
                  <a:srgbClr val="0B1220"/>
                </a:solidFill>
                <a:latin typeface="Calibri"/>
              </a:rPr>
              <a:t>Invite people by email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51C7"/>
                </a:solidFill>
                <a:latin typeface="Calibri"/>
              </a:rPr>
              <a:t>•  </a:t>
            </a:r>
            <a:r>
              <a:rPr sz="1450" b="0">
                <a:solidFill>
                  <a:srgbClr val="0B1220"/>
                </a:solidFill>
                <a:latin typeface="Calibri"/>
              </a:rPr>
              <a:t>Give each person a role (Builder, Operator, Viewer)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51C7"/>
                </a:solidFill>
                <a:latin typeface="Calibri"/>
              </a:rPr>
              <a:t>•  </a:t>
            </a:r>
            <a:r>
              <a:rPr sz="1450" b="0">
                <a:solidFill>
                  <a:srgbClr val="0B1220"/>
                </a:solidFill>
                <a:latin typeface="Calibri"/>
              </a:rPr>
              <a:t>Group people into sites / regions (BUs)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51C7"/>
                </a:solidFill>
                <a:latin typeface="Calibri"/>
              </a:rPr>
              <a:t>•  </a:t>
            </a:r>
            <a:r>
              <a:rPr sz="1450" b="0">
                <a:solidFill>
                  <a:srgbClr val="0B1220"/>
                </a:solidFill>
                <a:latin typeface="Calibri"/>
              </a:rPr>
              <a:t>Set billing &amp; spending limits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51C7"/>
                </a:solidFill>
                <a:latin typeface="Calibri"/>
              </a:rPr>
              <a:t>•  </a:t>
            </a:r>
            <a:r>
              <a:rPr sz="1450" b="0">
                <a:solidFill>
                  <a:srgbClr val="0B1220"/>
                </a:solidFill>
                <a:latin typeface="Calibri"/>
              </a:rPr>
              <a:t>Turn on AI providers &amp; connectors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51C7"/>
                </a:solidFill>
                <a:latin typeface="Calibri"/>
              </a:rPr>
              <a:t>•  </a:t>
            </a:r>
            <a:r>
              <a:rPr sz="1450" b="0">
                <a:solidFill>
                  <a:srgbClr val="0B1220"/>
                </a:solidFill>
                <a:latin typeface="Calibri"/>
              </a:rPr>
              <a:t>Set approval rules for risky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83080"/>
            <a:ext cx="5212080" cy="548640"/>
          </a:xfrm>
          <a:prstGeom prst="round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Adding a developer to ONE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49377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8A5B"/>
                </a:solidFill>
                <a:latin typeface="Calibri"/>
              </a:rPr>
              <a:t>•  </a:t>
            </a:r>
            <a:r>
              <a:rPr sz="1450" b="0">
                <a:solidFill>
                  <a:srgbClr val="0B1220"/>
                </a:solidFill>
                <a:latin typeface="Calibri"/>
              </a:rPr>
              <a:t>Admin invites the developer to that app's tenant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8A5B"/>
                </a:solidFill>
                <a:latin typeface="Calibri"/>
              </a:rPr>
              <a:t>•  </a:t>
            </a:r>
            <a:r>
              <a:rPr sz="1450" b="0">
                <a:solidFill>
                  <a:srgbClr val="0B1220"/>
                </a:solidFill>
                <a:latin typeface="Calibri"/>
              </a:rPr>
              <a:t>Gives them the 'Builder' role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8A5B"/>
                </a:solidFill>
                <a:latin typeface="Calibri"/>
              </a:rPr>
              <a:t>•  </a:t>
            </a:r>
            <a:r>
              <a:rPr sz="1450" b="0">
                <a:solidFill>
                  <a:srgbClr val="0B1220"/>
                </a:solidFill>
                <a:latin typeface="Calibri"/>
              </a:rPr>
              <a:t>Developer signs in to Workspace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8A5B"/>
                </a:solidFill>
                <a:latin typeface="Calibri"/>
              </a:rPr>
              <a:t>•  </a:t>
            </a:r>
            <a:r>
              <a:rPr sz="1450" b="0">
                <a:solidFill>
                  <a:srgbClr val="0B1220"/>
                </a:solidFill>
                <a:latin typeface="Calibri"/>
              </a:rPr>
              <a:t>They see only that app's bricks &amp; data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8A5B"/>
                </a:solidFill>
                <a:latin typeface="Calibri"/>
              </a:rPr>
              <a:t>•  </a:t>
            </a:r>
            <a:r>
              <a:rPr sz="1450" b="0">
                <a:solidFill>
                  <a:srgbClr val="0B1220"/>
                </a:solidFill>
                <a:latin typeface="Calibri"/>
              </a:rPr>
              <a:t>They build, test, and deploy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8A5B"/>
                </a:solidFill>
                <a:latin typeface="Calibri"/>
              </a:rPr>
              <a:t>•  </a:t>
            </a:r>
            <a:r>
              <a:rPr sz="1450" b="0">
                <a:solidFill>
                  <a:srgbClr val="0B1220"/>
                </a:solidFill>
                <a:latin typeface="Calibri"/>
              </a:rPr>
              <a:t>Their reach is fenced by automatic rules (ReBAC)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ProjexCloud + Projexlight  ·  Onboarding &amp;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51C7"/>
                </a:solidFill>
                <a:latin typeface="Calibri"/>
              </a:rPr>
              <a:t>GO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220"/>
                </a:solidFill>
                <a:latin typeface="Calibri"/>
              </a:rPr>
              <a:t>Launch the app &amp; serve thousands of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9494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Capture data. </a:t>
            </a:r>
            <a:r>
              <a:rPr sz="1600" b="0">
                <a:solidFill>
                  <a:srgbClr val="5A6573"/>
                </a:solidFill>
                <a:latin typeface="Calibri"/>
              </a:rPr>
              <a:t>every action and sensor reading flows into the safe data backbone.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Show it to users. </a:t>
            </a:r>
            <a:r>
              <a:rPr sz="1600" b="0">
                <a:solidFill>
                  <a:srgbClr val="5A6573"/>
                </a:solidFill>
                <a:latin typeface="Calibri"/>
              </a:rPr>
              <a:t>dashboards and screens for thousands of people at once.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Meter it. </a:t>
            </a:r>
            <a:r>
              <a:rPr sz="1600" b="0">
                <a:solidFill>
                  <a:srgbClr val="5A6573"/>
                </a:solidFill>
                <a:latin typeface="Calibri"/>
              </a:rPr>
              <a:t>usage is counted so billing is fair and predictable.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Stay safe. </a:t>
            </a:r>
            <a:r>
              <a:rPr sz="1600" b="0">
                <a:solidFill>
                  <a:srgbClr val="5A6573"/>
                </a:solidFill>
                <a:latin typeface="Calibri"/>
              </a:rPr>
              <a:t>every read of personal data is consent-checked and written to a tamper-proof log.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737360"/>
            <a:ext cx="3749039" cy="420624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96596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542A6"/>
                </a:solidFill>
                <a:latin typeface="Calibri"/>
              </a:rPr>
              <a:t>🧒  Think of it like…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606040"/>
            <a:ext cx="32461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B1220"/>
                </a:solidFill>
                <a:latin typeface="Calibri"/>
              </a:rPr>
              <a:t>Like opening a theme park.
The rides (your app) run all day, the cameras record what matters, the turnstiles count visitors — and security quietly watches everything.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ProjexCloud + Projexlight  ·  Onboarding &amp;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2194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600" b="1">
                <a:solidFill>
                  <a:srgbClr val="9FB7F0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2377440"/>
            <a:ext cx="8412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Example: a Robot Maker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3657600"/>
            <a:ext cx="8229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DDE6FF"/>
                </a:solidFill>
                <a:latin typeface="Calibri"/>
              </a:rPr>
              <a:t>Meet AcmeBots — they build robots, sell through distributors, and customers operate them.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51C7"/>
                </a:solidFill>
                <a:latin typeface="Calibri"/>
              </a:rPr>
              <a:t>THE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220"/>
                </a:solidFill>
                <a:latin typeface="Calibri"/>
              </a:rPr>
              <a:t>Meet AcmeBots 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9494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AcmeBots makes humanoid robots. </a:t>
            </a:r>
            <a:r>
              <a:rPr sz="1600" b="0">
                <a:solidFill>
                  <a:srgbClr val="5A6573"/>
                </a:solidFill>
                <a:latin typeface="Calibri"/>
              </a:rPr>
              <a:t>thousands of them, in many factories.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They build TWO apps. </a:t>
            </a:r>
            <a:r>
              <a:rPr sz="1600" b="0">
                <a:solidFill>
                  <a:srgbClr val="5A6573"/>
                </a:solidFill>
                <a:latin typeface="Calibri"/>
              </a:rPr>
              <a:t>'Robot Ops' (run the robots) and 'Distributor Portal' (sell them).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They sell through distributors. </a:t>
            </a:r>
            <a:r>
              <a:rPr sz="1600" b="0">
                <a:solidFill>
                  <a:srgbClr val="5A6573"/>
                </a:solidFill>
                <a:latin typeface="Calibri"/>
              </a:rPr>
              <a:t>shops/partners in different regions resell the robots.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Customers operate the robots. </a:t>
            </a:r>
            <a:r>
              <a:rPr sz="1600" b="0">
                <a:solidFill>
                  <a:srgbClr val="5A6573"/>
                </a:solidFill>
                <a:latin typeface="Calibri"/>
              </a:rPr>
              <a:t>each buyer runs their robots with many people — onsite and remote.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737360"/>
            <a:ext cx="3749039" cy="420624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96596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542A6"/>
                </a:solidFill>
                <a:latin typeface="Calibri"/>
              </a:rPr>
              <a:t>🧒  Think of it like…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606040"/>
            <a:ext cx="32461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B1220"/>
                </a:solidFill>
                <a:latin typeface="Calibri"/>
              </a:rPr>
              <a:t>AcmeBots is the toy maker.
Distributors are the toy shops.
Customers are the families who buy the toy.
Users are everyone in the family who plays with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ProjexCloud + Projexlight  ·  Onboarding &amp;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51C7"/>
                </a:solidFill>
                <a:latin typeface="Calibri"/>
              </a:rPr>
              <a:t>ROBOT MAKER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220"/>
                </a:solidFill>
                <a:latin typeface="Calibri"/>
              </a:rPr>
              <a:t>AcmeBots onboarding — step by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749808" cy="749808"/>
          </a:xfrm>
          <a:prstGeom prst="round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81328" y="1783080"/>
            <a:ext cx="10058400" cy="749808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B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856232"/>
            <a:ext cx="9692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B1220"/>
                </a:solidFill>
                <a:latin typeface="Calibri"/>
              </a:rPr>
              <a:t>AcmeBots joins ProjexCloud.  </a:t>
            </a:r>
            <a:r>
              <a:rPr sz="1500" b="0">
                <a:solidFill>
                  <a:srgbClr val="5A6573"/>
                </a:solidFill>
                <a:latin typeface="Calibri"/>
              </a:rPr>
              <a:t>We create their Org and register 'Robot Ops' + 'Distributor Portal' apps.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97480"/>
            <a:ext cx="749808" cy="749808"/>
          </a:xfrm>
          <a:prstGeom prst="round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81328" y="2697480"/>
            <a:ext cx="10058400" cy="749808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B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2770632"/>
            <a:ext cx="9692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B1220"/>
                </a:solidFill>
                <a:latin typeface="Calibri"/>
              </a:rPr>
              <a:t>Developers build the apps.  </a:t>
            </a:r>
            <a:r>
              <a:rPr sz="1500" b="0">
                <a:solidFill>
                  <a:srgbClr val="5A6573"/>
                </a:solidFill>
                <a:latin typeface="Calibri"/>
              </a:rPr>
              <a:t>AcmeBots builders log into Workspace and compose the robotics SDKs.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11880"/>
            <a:ext cx="749808" cy="749808"/>
          </a:xfrm>
          <a:prstGeom prst="round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81328" y="3611880"/>
            <a:ext cx="10058400" cy="749808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B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3685032"/>
            <a:ext cx="9692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B1220"/>
                </a:solidFill>
                <a:latin typeface="Calibri"/>
              </a:rPr>
              <a:t>Make the robots real.  </a:t>
            </a:r>
            <a:r>
              <a:rPr sz="1500" b="0">
                <a:solidFill>
                  <a:srgbClr val="5A6573"/>
                </a:solidFill>
                <a:latin typeface="Calibri"/>
              </a:rPr>
              <a:t>Each robot is 'enrolled' on first boot → gets an ID badge (device_uuid).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26280"/>
            <a:ext cx="749808" cy="749808"/>
          </a:xfrm>
          <a:prstGeom prst="round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81328" y="4526280"/>
            <a:ext cx="10058400" cy="749808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B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4599432"/>
            <a:ext cx="9692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B1220"/>
                </a:solidFill>
                <a:latin typeface="Calibri"/>
              </a:rPr>
              <a:t>Sell through distributors.  </a:t>
            </a:r>
            <a:r>
              <a:rPr sz="1500" b="0">
                <a:solidFill>
                  <a:srgbClr val="5A6573"/>
                </a:solidFill>
                <a:latin typeface="Calibri"/>
              </a:rPr>
              <a:t>Distributors are set up as resellers; they sign up the buying customers.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440680"/>
            <a:ext cx="749808" cy="749808"/>
          </a:xfrm>
          <a:prstGeom prst="round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4068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81328" y="5440680"/>
            <a:ext cx="10058400" cy="749808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B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0" y="5513832"/>
            <a:ext cx="9692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B1220"/>
                </a:solidFill>
                <a:latin typeface="Calibri"/>
              </a:rPr>
              <a:t>Customers get their space.  </a:t>
            </a:r>
            <a:r>
              <a:rPr sz="1500" b="0">
                <a:solidFill>
                  <a:srgbClr val="5A6573"/>
                </a:solidFill>
                <a:latin typeface="Calibri"/>
              </a:rPr>
              <a:t>Each buyer becomes a tenant, with a site (BU) per factory or warehouse.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6355080"/>
            <a:ext cx="749808" cy="749808"/>
          </a:xfrm>
          <a:prstGeom prst="round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355080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81328" y="6355080"/>
            <a:ext cx="10058400" cy="749808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DB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6428232"/>
            <a:ext cx="969264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B1220"/>
                </a:solidFill>
                <a:latin typeface="Calibri"/>
              </a:rPr>
              <a:t>People operate robots.  </a:t>
            </a:r>
            <a:r>
              <a:rPr sz="1500" b="0">
                <a:solidFill>
                  <a:srgbClr val="5A6573"/>
                </a:solidFill>
                <a:latin typeface="Calibri"/>
              </a:rPr>
              <a:t>Onsite &amp; remote users get roles; they watch and control the fleet.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ProjexCloud + Projexlight  ·  Onboarding &amp; Training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51C7"/>
                </a:solidFill>
                <a:latin typeface="Calibri"/>
              </a:rPr>
              <a:t>WHO'S WHO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220"/>
                </a:solidFill>
                <a:latin typeface="Calibri"/>
              </a:rPr>
              <a:t>The robot world as a family tree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867" y="2377440"/>
            <a:ext cx="1965960" cy="155448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867" y="260604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542A6"/>
                </a:solidFill>
                <a:latin typeface="Calibri"/>
              </a:rPr>
              <a:t>AcmeBots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595" y="31546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573"/>
                </a:solidFill>
                <a:latin typeface="Calibri"/>
              </a:rPr>
              <a:t>The maker
(Org)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5115" y="2880360"/>
            <a:ext cx="292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1A51C7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26867" y="2377440"/>
            <a:ext cx="1965960" cy="155448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26867" y="260604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542A6"/>
                </a:solidFill>
                <a:latin typeface="Calibri"/>
              </a:rPr>
              <a:t>Distributor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6595" y="31546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573"/>
                </a:solidFill>
                <a:latin typeface="Calibri"/>
              </a:rPr>
              <a:t>The reseller
(region/partner)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1115" y="2880360"/>
            <a:ext cx="292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1A51C7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2867" y="2377440"/>
            <a:ext cx="1965960" cy="155448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2867" y="260604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542A6"/>
                </a:solidFill>
                <a:latin typeface="Calibri"/>
              </a:rPr>
              <a:t>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2595" y="31546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573"/>
                </a:solidFill>
                <a:latin typeface="Calibri"/>
              </a:rPr>
              <a:t>The buyer
(Tenant)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7115" y="2880360"/>
            <a:ext cx="292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1A51C7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8867" y="2377440"/>
            <a:ext cx="1965960" cy="155448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8867" y="260604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542A6"/>
                </a:solidFill>
                <a:latin typeface="Calibri"/>
              </a:rPr>
              <a:t>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8595" y="31546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573"/>
                </a:solidFill>
                <a:latin typeface="Calibri"/>
              </a:rPr>
              <a:t>A factory
(Business Unit)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3115" y="2880360"/>
            <a:ext cx="292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1A51C7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84867" y="2377440"/>
            <a:ext cx="1965960" cy="155448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84867" y="260604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542A6"/>
                </a:solidFill>
                <a:latin typeface="Calibri"/>
              </a:rPr>
              <a:t>Users + Robots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4595" y="31546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573"/>
                </a:solidFill>
                <a:latin typeface="Calibri"/>
              </a:rPr>
              <a:t>Operators (people)
+ robots (devices)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7200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0B1220"/>
                </a:solidFill>
                <a:latin typeface="Calibri"/>
              </a:rPr>
              <a:t>AcmeBots → sells via Distributors → to Customers → who run robots at their Sites → operated by Users (onsite &amp; remote), with each Robot enrolled as a device.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ProjexCloud + Projexlight  ·  Onboarding &amp;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51C7"/>
                </a:solidFill>
                <a:latin typeface="Calibri"/>
              </a:rPr>
              <a:t>THE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220"/>
                </a:solidFill>
                <a:latin typeface="Calibri"/>
              </a:rPr>
              <a:t>Many users — onsite and remote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  <a:gridCol w="4206240"/>
                <a:gridCol w="28346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Who</a:t>
                      </a:r>
                    </a:p>
                  </a:txBody>
                  <a:tcPr>
                    <a:solidFill>
                      <a:srgbClr val="1A51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>
                    <a:solidFill>
                      <a:srgbClr val="1A51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What they do</a:t>
                      </a:r>
                    </a:p>
                  </a:txBody>
                  <a:tcPr>
                    <a:solidFill>
                      <a:srgbClr val="1A51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Their 'hat' (persona/role)</a:t>
                      </a:r>
                    </a:p>
                  </a:txBody>
                  <a:tcPr>
                    <a:solidFill>
                      <a:srgbClr val="1A51C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Plant operator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Onsite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Start/stop &amp; watch robots on the floor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Operator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Remote supervisor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Remote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Monitor many sites, step in if needed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Remote Operator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Maintenance tech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Onsite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Fix &amp; service robots, capture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Technician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Customer admin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Anywhere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Add users, set permissions, see billing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Tenant Admin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AI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Automatic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Suggest actions within strict limits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Service persona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ProjexCloud + Projexlight  ·  Onboarding &amp;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51C7"/>
                </a:solidFill>
                <a:latin typeface="Calibri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220"/>
                </a:solidFill>
                <a:latin typeface="Calibri"/>
              </a:rPr>
              <a:t>What each robot sends — in plain words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5669280"/>
                <a:gridCol w="29260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Data</a:t>
                      </a:r>
                    </a:p>
                  </a:txBody>
                  <a:tcPr>
                    <a:solidFill>
                      <a:srgbClr val="1A51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What it is</a:t>
                      </a:r>
                    </a:p>
                  </a:txBody>
                  <a:tcPr>
                    <a:solidFill>
                      <a:srgbClr val="1A51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Which SDK catches it</a:t>
                      </a:r>
                    </a:p>
                  </a:txBody>
                  <a:tcPr>
                    <a:solidFill>
                      <a:srgbClr val="1A51C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Telemetry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Battery, temperature, position, faults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sdk-ingest + sdk-meter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Camera evidence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Tamper-proof photos/video of a job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sdk-evidence + sdk-media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Usage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How much each robot did (for billing)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sdk-meter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Where the robot is, on a map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sdk-geo + hdk-map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Health &amp; crashes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Is the robot OK? early warnings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sdk-diagnostic-telemetry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Every command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Who told the robot to do what (audit)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sdk-audit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ProjexCloud + Projexlight  ·  Onboarding &amp;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2194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600" b="1">
                <a:solidFill>
                  <a:srgbClr val="9FB7F0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2377440"/>
            <a:ext cx="8412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Inside a robot — parts, sensors &amp; smarts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3657600"/>
            <a:ext cx="8229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DDE6FF"/>
                </a:solidFill>
                <a:latin typeface="Calibri"/>
              </a:rPr>
              <a:t>How one robot becomes data we can store, control, and learn from.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51C7"/>
                </a:solidFill>
                <a:latin typeface="Calibri"/>
              </a:rPr>
              <a:t>THE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220"/>
                </a:solidFill>
                <a:latin typeface="Calibri"/>
              </a:rPr>
              <a:t>From a robot to a smarter robot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867" y="2377440"/>
            <a:ext cx="1965960" cy="155448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867" y="260604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542A6"/>
                </a:solidFill>
                <a:latin typeface="Calibri"/>
              </a:rPr>
              <a:t>Robot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595" y="31546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573"/>
                </a:solidFill>
                <a:latin typeface="Calibri"/>
              </a:rPr>
              <a:t>one asset
(= the whole robot)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5115" y="2880360"/>
            <a:ext cx="292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1A51C7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26867" y="2377440"/>
            <a:ext cx="1965960" cy="155448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26867" y="260604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542A6"/>
                </a:solidFill>
                <a:latin typeface="Calibri"/>
              </a:rPr>
              <a:t>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6595" y="31546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573"/>
                </a:solidFill>
                <a:latin typeface="Calibri"/>
              </a:rPr>
              <a:t>components
head · arm · hand · finger · leg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1115" y="2880360"/>
            <a:ext cx="292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1A51C7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2867" y="2377440"/>
            <a:ext cx="1965960" cy="155448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2867" y="260604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542A6"/>
                </a:solidFill>
                <a:latin typeface="Calibri"/>
              </a:rPr>
              <a:t>Sensors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2595" y="31546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573"/>
                </a:solidFill>
                <a:latin typeface="Calibri"/>
              </a:rPr>
              <a:t>each part has
many sensors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7115" y="2880360"/>
            <a:ext cx="292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1A51C7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8867" y="2377440"/>
            <a:ext cx="1965960" cy="155448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8867" y="260604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542A6"/>
                </a:solidFill>
                <a:latin typeface="Calibri"/>
              </a:rPr>
              <a:t>Readings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8595" y="31546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573"/>
                </a:solidFill>
                <a:latin typeface="Calibri"/>
              </a:rPr>
              <a:t>numbers over time
(time-series)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3115" y="2880360"/>
            <a:ext cx="29260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1A51C7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84867" y="2377440"/>
            <a:ext cx="1965960" cy="155448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84867" y="260604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542A6"/>
                </a:solidFill>
                <a:latin typeface="Calibri"/>
              </a:rPr>
              <a:t>Control + Learn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4595" y="31546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573"/>
                </a:solidFill>
                <a:latin typeface="Calibri"/>
              </a:rPr>
              <a:t>command it &amp;
train better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7200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0B1220"/>
                </a:solidFill>
                <a:latin typeface="Calibri"/>
              </a:rPr>
              <a:t>A robot is a tree of parts; each part has sensors; each sensor writes numbers over time; we use those numbers to control the robot and to train smarter models.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ProjexCloud + Projexlight  ·  Onboarding &amp;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51C7"/>
                </a:solidFill>
                <a:latin typeface="Calibri"/>
              </a:rPr>
              <a:t>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220"/>
                </a:solidFill>
                <a:latin typeface="Calibri"/>
              </a:rPr>
              <a:t>A robot is a “digital twin”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9494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The robot = an asset. </a:t>
            </a:r>
            <a:r>
              <a:rPr sz="1600" b="0">
                <a:solidFill>
                  <a:srgbClr val="5A6573"/>
                </a:solidFill>
                <a:latin typeface="Calibri"/>
              </a:rPr>
              <a:t>one record for the whole robot.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Parts = components. </a:t>
            </a:r>
            <a:r>
              <a:rPr sz="1600" b="0">
                <a:solidFill>
                  <a:srgbClr val="5A6573"/>
                </a:solidFill>
                <a:latin typeface="Calibri"/>
              </a:rPr>
              <a:t>head, arm, hand, finger, leg — arranged like a tree (a hand has fingers).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Each part has sensors. </a:t>
            </a:r>
            <a:r>
              <a:rPr sz="1600" b="0">
                <a:solidFill>
                  <a:srgbClr val="5A6573"/>
                </a:solidFill>
                <a:latin typeface="Calibri"/>
              </a:rPr>
              <a:t>force, temperature, joint-angle, camera… each with a name and unit.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We keep the full map. </a:t>
            </a:r>
            <a:r>
              <a:rPr sz="1600" b="0">
                <a:solidFill>
                  <a:srgbClr val="5A6573"/>
                </a:solidFill>
                <a:latin typeface="Calibri"/>
              </a:rPr>
              <a:t>so we always know which sensor belongs to which finger on which robot.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737360"/>
            <a:ext cx="3749039" cy="420624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96596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542A6"/>
                </a:solidFill>
                <a:latin typeface="Calibri"/>
              </a:rPr>
              <a:t>🧒  Think of it like…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606040"/>
            <a:ext cx="32461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B1220"/>
                </a:solidFill>
                <a:latin typeface="Calibri"/>
              </a:rPr>
              <a:t>Like a body.
A body has limbs, limbs have hands, hands have fingers, and each fingertip can feel. The “twin” is that whole map of parts and feelings, copied into the computer.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ProjexCloud + Projexlight  ·  Onboarding &amp;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51C7"/>
                </a:solidFill>
                <a:latin typeface="Calibri"/>
              </a:rPr>
              <a:t>TIME-SERIES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220"/>
                </a:solidFill>
                <a:latin typeface="Calibri"/>
              </a:rPr>
              <a:t>Every sensor keeps a diary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9494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Numbers, many times a second. </a:t>
            </a:r>
            <a:r>
              <a:rPr sz="1600" b="0">
                <a:solidFill>
                  <a:srgbClr val="5A6573"/>
                </a:solidFill>
                <a:latin typeface="Calibri"/>
              </a:rPr>
              <a:t>a fingertip’s force sensor writes a value over and over.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We keep the whole history. </a:t>
            </a:r>
            <a:r>
              <a:rPr sz="1600" b="0">
                <a:solidFill>
                  <a:srgbClr val="5A6573"/>
                </a:solidFill>
                <a:latin typeface="Calibri"/>
              </a:rPr>
              <a:t>stored in a fast time-series database (ClickHouse).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We also keep summaries. </a:t>
            </a:r>
            <a:r>
              <a:rPr sz="1600" b="0">
                <a:solidFill>
                  <a:srgbClr val="5A6573"/>
                </a:solidFill>
                <a:latin typeface="Calibri"/>
              </a:rPr>
              <a:t>per-minute and per-hour, so charts load instantly.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We count it. </a:t>
            </a:r>
            <a:r>
              <a:rPr sz="1600" b="0">
                <a:solidFill>
                  <a:srgbClr val="5A6573"/>
                </a:solidFill>
                <a:latin typeface="Calibri"/>
              </a:rPr>
              <a:t>usage is metered per robot, so billing stays fair.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737360"/>
            <a:ext cx="3749039" cy="420624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96596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542A6"/>
                </a:solidFill>
                <a:latin typeface="Calibri"/>
              </a:rPr>
              <a:t>🧒  Think of it like…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606040"/>
            <a:ext cx="32461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B1220"/>
                </a:solidFill>
                <a:latin typeface="Calibri"/>
              </a:rPr>
              <a:t>Like a fitness watch.
It records your heartbeat all day long, then shows you a tidy daily summary — without making you scroll through every single beat.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ProjexCloud + Projexlight  ·  Onboarding &amp;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51C7"/>
                </a:solidFill>
                <a:latin typeface="Calibri"/>
              </a:rPr>
              <a:t>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220"/>
                </a:solidFill>
                <a:latin typeface="Calibri"/>
              </a:rPr>
              <a:t>Telling robots what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9494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Command the whole robot or one part. </a:t>
            </a:r>
            <a:r>
              <a:rPr sz="1600" b="0">
                <a:solidFill>
                  <a:srgbClr val="5A6573"/>
                </a:solidFill>
                <a:latin typeface="Calibri"/>
              </a:rPr>
              <a:t>“dock” the robot, or “move the left arm.”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Only if you’re allowed. </a:t>
            </a:r>
            <a:r>
              <a:rPr sz="1600" b="0">
                <a:solidFill>
                  <a:srgbClr val="5A6573"/>
                </a:solidFill>
                <a:latin typeface="Calibri"/>
              </a:rPr>
              <a:t>permissions check every command (who, where, when).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Risky moves need a yes. </a:t>
            </a:r>
            <a:r>
              <a:rPr sz="1600" b="0">
                <a:solidFill>
                  <a:srgbClr val="5A6573"/>
                </a:solidFill>
                <a:latin typeface="Calibri"/>
              </a:rPr>
              <a:t>a human approves dangerous actions before they run.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Everything is written down. </a:t>
            </a:r>
            <a:r>
              <a:rPr sz="1600" b="0">
                <a:solidFill>
                  <a:srgbClr val="5A6573"/>
                </a:solidFill>
                <a:latin typeface="Calibri"/>
              </a:rPr>
              <a:t>each command is logged and the robot sends back an “ack.”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737360"/>
            <a:ext cx="3749039" cy="420624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96596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542A6"/>
                </a:solidFill>
                <a:latin typeface="Calibri"/>
              </a:rPr>
              <a:t>🧒  Think of it like…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606040"/>
            <a:ext cx="32461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B1220"/>
                </a:solidFill>
                <a:latin typeface="Calibri"/>
              </a:rPr>
              <a:t>Like a remote control with a safety lock.
Most buttons just work — but the powerful ones need a grown-up to unlock them first, and a logbook records every press.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ProjexCloud + Projexlight  ·  Onboarding &amp;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51C7"/>
                </a:solidFill>
                <a:latin typeface="Calibri"/>
              </a:rPr>
              <a:t>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220"/>
                </a:solidFill>
                <a:latin typeface="Calibri"/>
              </a:rPr>
              <a:t>Teaching robots to be smarter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9494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Collect the diaries. </a:t>
            </a:r>
            <a:r>
              <a:rPr sz="1600" b="0">
                <a:solidFill>
                  <a:srgbClr val="5A6573"/>
                </a:solidFill>
                <a:latin typeface="Calibri"/>
              </a:rPr>
              <a:t>lots of sensor history from the whole fleet.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Add labels. </a:t>
            </a:r>
            <a:r>
              <a:rPr sz="1600" b="0">
                <a:solidFill>
                  <a:srgbClr val="5A6573"/>
                </a:solidFill>
                <a:latin typeface="Calibri"/>
              </a:rPr>
              <a:t>mark what happened (e.g. “this was a fault”).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Send to a training kitchen. </a:t>
            </a:r>
            <a:r>
              <a:rPr sz="1600" b="0">
                <a:solidFill>
                  <a:srgbClr val="5A6573"/>
                </a:solidFill>
                <a:latin typeface="Calibri"/>
              </a:rPr>
              <a:t>export to a data warehouse to ‘bake’ a smarter model.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Always reproducible. </a:t>
            </a:r>
            <a:r>
              <a:rPr sz="1600" b="0">
                <a:solidFill>
                  <a:srgbClr val="5A6573"/>
                </a:solidFill>
                <a:latin typeface="Calibri"/>
              </a:rPr>
              <a:t>we remember exactly which data made each model (lineage).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737360"/>
            <a:ext cx="3749039" cy="420624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96596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542A6"/>
                </a:solidFill>
                <a:latin typeface="Calibri"/>
              </a:rPr>
              <a:t>🧒  Think of it like…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606040"/>
            <a:ext cx="32461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B1220"/>
                </a:solidFill>
                <a:latin typeface="Calibri"/>
              </a:rPr>
              <a:t>Like studying flashcards.
You gather examples, mark the right answers, practice — and get better. Robots learn the same way, from their own sensor history.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ProjexCloud + Projexlight  ·  Onboarding &amp;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51C7"/>
                </a:solidFill>
                <a:latin typeface="Calibri"/>
              </a:rPr>
              <a:t>BUILD VS REUSE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220"/>
                </a:solidFill>
                <a:latin typeface="Calibri"/>
              </a:rPr>
              <a:t>Are we building new SDKs or reusing existing ones?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0916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108960"/>
                <a:gridCol w="377647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Capability</a:t>
                      </a:r>
                    </a:p>
                  </a:txBody>
                  <a:tcPr>
                    <a:solidFill>
                      <a:srgbClr val="1A51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SDK</a:t>
                      </a:r>
                    </a:p>
                  </a:txBody>
                  <a:tcPr>
                    <a:solidFill>
                      <a:srgbClr val="1A51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New or reuse?</a:t>
                      </a:r>
                    </a:p>
                  </a:txBody>
                  <a:tcPr>
                    <a:solidFill>
                      <a:srgbClr val="1A51C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Robot parts &amp; sensors (digital twin)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sdk-asset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NEW SDK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Send &amp; govern commands (control)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sdk-command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NEW SDK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Sensor data intake (time-series)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sdk-ingest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Extend existing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Per-robot metering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sdk-meter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Extend existing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ML dataset build &amp; export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sdk-analytics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Extend existing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Robot identity &amp; attestation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sdk-device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Extend (link)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Permissions · approvals · audit · lineage · warehouse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rebac · policy · approval · audit · lineage · snowflake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Reuse as-is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ProjexCloud + Projexlight  ·  Onboarding &amp;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51C7"/>
                </a:solidFill>
                <a:latin typeface="Calibri"/>
              </a:rPr>
              <a:t>HOW IT SCALES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220"/>
                </a:solidFill>
                <a:latin typeface="Calibri"/>
              </a:rPr>
              <a:t>From 1 robot to thousands — and 1000s of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9494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Add lanes, don't widen one road. </a:t>
            </a:r>
            <a:r>
              <a:rPr sz="1600" b="0">
                <a:solidFill>
                  <a:srgbClr val="5A6573"/>
                </a:solidFill>
                <a:latin typeface="Calibri"/>
              </a:rPr>
              <a:t>we add database 'pools' instead of one giant table (no sharding).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Each customer lives in one pool. </a:t>
            </a:r>
            <a:r>
              <a:rPr sz="1600" b="0">
                <a:solidFill>
                  <a:srgbClr val="5A6573"/>
                </a:solidFill>
                <a:latin typeface="Calibri"/>
              </a:rPr>
              <a:t>fast, isolated, and safe — a problem in one can't spill into others.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Robots ride the metering highway. </a:t>
            </a:r>
            <a:r>
              <a:rPr sz="1600" b="0">
                <a:solidFill>
                  <a:srgbClr val="5A6573"/>
                </a:solidFill>
                <a:latin typeface="Calibri"/>
              </a:rPr>
              <a:t>millions of readings flow to fast analytics storage.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People scale the same way. </a:t>
            </a:r>
            <a:r>
              <a:rPr sz="1600" b="0">
                <a:solidFill>
                  <a:srgbClr val="5A6573"/>
                </a:solidFill>
                <a:latin typeface="Calibri"/>
              </a:rPr>
              <a:t>thousands of operators, each only seeing what their role allows.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737360"/>
            <a:ext cx="3749039" cy="420624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96596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542A6"/>
                </a:solidFill>
                <a:latin typeface="Calibri"/>
              </a:rPr>
              <a:t>🧒  Think of it like…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606040"/>
            <a:ext cx="32461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B1220"/>
                </a:solidFill>
                <a:latin typeface="Calibri"/>
              </a:rPr>
              <a:t>Like a parking lot that never gets full.
When one lot fills up, we open another lot next door — instead of cramming more cars into the same spaces.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ProjexCloud + Projexlight  ·  Onboarding &amp;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51C7"/>
                </a:solidFill>
                <a:latin typeface="Calibri"/>
              </a:rP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220"/>
                </a:solidFill>
                <a:latin typeface="Calibri"/>
              </a:rPr>
              <a:t>Why it's safe (the grown-up part, simply)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69494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Locked rooms. </a:t>
            </a:r>
            <a:r>
              <a:rPr sz="1600" b="0">
                <a:solidFill>
                  <a:srgbClr val="5A6573"/>
                </a:solidFill>
                <a:latin typeface="Calibri"/>
              </a:rPr>
              <a:t>every customer's data is isolated and encrypted.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Permission slips. </a:t>
            </a:r>
            <a:r>
              <a:rPr sz="1600" b="0">
                <a:solidFill>
                  <a:srgbClr val="5A6573"/>
                </a:solidFill>
                <a:latin typeface="Calibri"/>
              </a:rPr>
              <a:t>personal data is only read with consent, for a stated purpose.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A diary that can't be erased. </a:t>
            </a:r>
            <a:r>
              <a:rPr sz="1600" b="0">
                <a:solidFill>
                  <a:srgbClr val="5A6573"/>
                </a:solidFill>
                <a:latin typeface="Calibri"/>
              </a:rPr>
              <a:t>every important action is written to a tamper-proof log.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51C7"/>
                </a:solidFill>
                <a:latin typeface="Calibri"/>
              </a:rPr>
              <a:t>•  </a:t>
            </a:r>
            <a:r>
              <a:rPr sz="1600" b="1">
                <a:solidFill>
                  <a:srgbClr val="0B1220"/>
                </a:solidFill>
                <a:latin typeface="Calibri"/>
              </a:rPr>
              <a:t>Ask-first for risky actions. </a:t>
            </a:r>
            <a:r>
              <a:rPr sz="1600" b="0">
                <a:solidFill>
                  <a:srgbClr val="5A6573"/>
                </a:solidFill>
                <a:latin typeface="Calibri"/>
              </a:rPr>
              <a:t>approvals &amp; human sign-off before a robot does something big.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737360"/>
            <a:ext cx="3749039" cy="4206240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1A5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96596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542A6"/>
                </a:solidFill>
                <a:latin typeface="Calibri"/>
              </a:rPr>
              <a:t>🧒  Think of it like…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606040"/>
            <a:ext cx="32461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0B1220"/>
                </a:solidFill>
                <a:latin typeface="Calibri"/>
              </a:rPr>
              <a:t>Like a school field trip.
Everyone needs a signed permission slip, a teacher watches the group, and there's a logbook of who went where — nobody wanders off.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ProjexCloud + Projexlight  ·  Onboarding &amp;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51C7"/>
                </a:solidFill>
                <a:latin typeface="Calibri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220"/>
                </a:solidFill>
                <a:latin typeface="Calibri"/>
              </a:rPr>
              <a:t>The onboarding checklist (one page)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9786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937760"/>
                <a:gridCol w="365760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A51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1A51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Door / Portal</a:t>
                      </a:r>
                    </a:p>
                  </a:txBody>
                  <a:tcPr>
                    <a:solidFill>
                      <a:srgbClr val="1A51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Who</a:t>
                      </a:r>
                    </a:p>
                  </a:txBody>
                  <a:tcPr>
                    <a:solidFill>
                      <a:srgbClr val="1A51C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Register the company &amp; its apps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Platform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ProjexCloud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Create each customer's space (tenant)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Platform Admin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ProjexCloud / self-serve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Set billing, people, roles, sites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Tenant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Customer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Add developers to a specific app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Tenant Admin → Workspace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Customer admin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Build &amp; deploy the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Workspace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Developers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0B122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Enroll robots &amp; onboard users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App + Tenant Admin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5A6573"/>
                          </a:solidFill>
                        </a:rPr>
                        <a:t>Customer teams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ProjexCloud + Projexlight  ·  Onboarding &amp;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A51C7"/>
                </a:solidFill>
                <a:latin typeface="Calibri"/>
              </a:rPr>
              <a:t>FOR EACH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B1220"/>
                </a:solidFill>
                <a:latin typeface="Calibri"/>
              </a:rPr>
              <a:t>What to do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212080" cy="548640"/>
          </a:xfrm>
          <a:prstGeom prst="round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Marketing &amp; Support (ProjexCloud)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49377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51C7"/>
                </a:solidFill>
                <a:latin typeface="Calibri"/>
              </a:rPr>
              <a:t>•  </a:t>
            </a:r>
            <a:r>
              <a:rPr sz="1450" b="0">
                <a:solidFill>
                  <a:srgbClr val="0B1220"/>
                </a:solidFill>
                <a:latin typeface="Calibri"/>
              </a:rPr>
              <a:t>Use the LEGO / theme-park analogies in demos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51C7"/>
                </a:solidFill>
                <a:latin typeface="Calibri"/>
              </a:rPr>
              <a:t>•  </a:t>
            </a:r>
            <a:r>
              <a:rPr sz="1450" b="0">
                <a:solidFill>
                  <a:srgbClr val="0B1220"/>
                </a:solidFill>
                <a:latin typeface="Calibri"/>
              </a:rPr>
              <a:t>Lead with 'one login, many hats'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51C7"/>
                </a:solidFill>
                <a:latin typeface="Calibri"/>
              </a:rPr>
              <a:t>•  </a:t>
            </a:r>
            <a:r>
              <a:rPr sz="1450" b="0">
                <a:solidFill>
                  <a:srgbClr val="0B1220"/>
                </a:solidFill>
                <a:latin typeface="Calibri"/>
              </a:rPr>
              <a:t>Show the robot family tree to explain tenancy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51C7"/>
                </a:solidFill>
                <a:latin typeface="Calibri"/>
              </a:rPr>
              <a:t>•  </a:t>
            </a:r>
            <a:r>
              <a:rPr sz="1450" b="0">
                <a:solidFill>
                  <a:srgbClr val="0B1220"/>
                </a:solidFill>
                <a:latin typeface="Calibri"/>
              </a:rPr>
              <a:t>Point customers to the onboarding guides in docs/user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A51C7"/>
                </a:solidFill>
                <a:latin typeface="Calibri"/>
              </a:rPr>
              <a:t>•  </a:t>
            </a:r>
            <a:r>
              <a:rPr sz="1450" b="0">
                <a:solidFill>
                  <a:srgbClr val="0B1220"/>
                </a:solidFill>
                <a:latin typeface="Calibri"/>
              </a:rPr>
              <a:t>Escalate auth/security questions to the portal-auth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83080"/>
            <a:ext cx="5212080" cy="548640"/>
          </a:xfrm>
          <a:prstGeom prst="roundRect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Customer (training)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49377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8A5B"/>
                </a:solidFill>
                <a:latin typeface="Calibri"/>
              </a:rPr>
              <a:t>•  </a:t>
            </a:r>
            <a:r>
              <a:rPr sz="1450" b="0">
                <a:solidFill>
                  <a:srgbClr val="0B1220"/>
                </a:solidFill>
                <a:latin typeface="Calibri"/>
              </a:rPr>
              <a:t>Decide your apps (one per product)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8A5B"/>
                </a:solidFill>
                <a:latin typeface="Calibri"/>
              </a:rPr>
              <a:t>•  </a:t>
            </a:r>
            <a:r>
              <a:rPr sz="1450" b="0">
                <a:solidFill>
                  <a:srgbClr val="0B1220"/>
                </a:solidFill>
                <a:latin typeface="Calibri"/>
              </a:rPr>
              <a:t>Name your admins per app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8A5B"/>
                </a:solidFill>
                <a:latin typeface="Calibri"/>
              </a:rPr>
              <a:t>•  </a:t>
            </a:r>
            <a:r>
              <a:rPr sz="1450" b="0">
                <a:solidFill>
                  <a:srgbClr val="0B1220"/>
                </a:solidFill>
                <a:latin typeface="Calibri"/>
              </a:rPr>
              <a:t>List your sites (Business Units)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8A5B"/>
                </a:solidFill>
                <a:latin typeface="Calibri"/>
              </a:rPr>
              <a:t>•  </a:t>
            </a:r>
            <a:r>
              <a:rPr sz="1450" b="0">
                <a:solidFill>
                  <a:srgbClr val="0B1220"/>
                </a:solidFill>
                <a:latin typeface="Calibri"/>
              </a:rPr>
              <a:t>Plan user roles: onsite vs remote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8A5B"/>
                </a:solidFill>
                <a:latin typeface="Calibri"/>
              </a:rPr>
              <a:t>•  </a:t>
            </a:r>
            <a:r>
              <a:rPr sz="1450" b="0">
                <a:solidFill>
                  <a:srgbClr val="0B1220"/>
                </a:solidFill>
                <a:latin typeface="Calibri"/>
              </a:rPr>
              <a:t>Book a guided onboarding session with 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ProjexCloud + Projexlight  ·  Onboarding &amp;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573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1A5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That's it — you're ready to onboard.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104241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C7D0E0"/>
                </a:solidFill>
                <a:latin typeface="Calibri"/>
              </a:rPr>
              <a:t>Big idea: keep your data safe + build apps fast, with rules.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C7D0E0"/>
                </a:solidFill>
                <a:latin typeface="Calibri"/>
              </a:rPr>
              <a:t>Three doors: Workspace (build) · Tenant Admin (run) · Platform Admin (ProjexCloud).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C7D0E0"/>
                </a:solidFill>
                <a:latin typeface="Calibri"/>
              </a:rPr>
              <a:t>Six steps: register → tenant → set up → add devs → launch → users arrive.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C7D0E0"/>
                </a:solidFill>
                <a:latin typeface="Calibri"/>
              </a:rPr>
              <a:t>Robot maker: AcmeBots → distributors → customers → sites → users + robots.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>
                <a:solidFill>
                  <a:srgbClr val="C7D0E0"/>
                </a:solidFill>
                <a:latin typeface="Calibri"/>
              </a:rPr>
              <a:t>Questions? Talk to your ProjexCloud onboarding team.  ·  cloud.projexlight.com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