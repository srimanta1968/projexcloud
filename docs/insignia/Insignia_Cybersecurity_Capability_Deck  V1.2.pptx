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7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1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74320"/>
            <a:ext cx="54864" cy="246888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74320"/>
            <a:ext cx="32004" cy="246888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914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 DECK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02920" y="1234440"/>
            <a:ext cx="67665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Cybersecurity Capability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30352" y="233172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engineering, advisory, and delivery pods for high-consequence enterprise systems.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 · /capabilities/security · /capabilities/engineering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1225296"/>
            <a:ext cx="4297680" cy="1051560"/>
          </a:xfrm>
          <a:prstGeom prst="rect">
            <a:avLst/>
          </a:prstGeom>
          <a:solidFill>
            <a:srgbClr val="0B121B"/>
          </a:solidFill>
          <a:ln w="13970">
            <a:solidFill>
              <a:srgbClr val="2CE8D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“We engineer where the cost of failure is real.”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06640" y="2514600"/>
            <a:ext cx="123444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2CE8D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CAPABILITY-LED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8796528" y="2514600"/>
            <a:ext cx="1572768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66A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66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STAFF-AUG COMPATIBLE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0561320" y="2514600"/>
            <a:ext cx="96012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82F29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2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AUDIT-READY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48640" y="5413248"/>
            <a:ext cx="5212080" cy="457200"/>
          </a:xfrm>
          <a:prstGeom prst="rect">
            <a:avLst/>
          </a:prstGeom>
          <a:solidFill>
            <a:srgbClr val="071017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enterprise cybersecurity, risk, and delivery leaders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5413248"/>
            <a:ext cx="2103120" cy="457200"/>
          </a:xfrm>
          <a:prstGeom prst="rect">
            <a:avLst/>
          </a:prstGeom>
          <a:solidFill>
            <a:srgbClr val="071017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deck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02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first, capacity second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us help your need of urgent cyber delivery without turning the work into commodity staffing.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insignia.tech/; insignia.tech/capabilities/security; insignia.tech/services/consulting-and-delivery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2011680"/>
            <a:ext cx="5303520" cy="1554480"/>
          </a:xfrm>
          <a:prstGeom prst="rect">
            <a:avLst/>
          </a:prstGeom>
          <a:solidFill>
            <a:srgbClr val="0B121B"/>
          </a:solidFill>
          <a:ln w="13970">
            <a:solidFill>
              <a:srgbClr val="2CE8D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“Insignia gives clients senior cybersecurity capability on demand - staff-augmentation compatible, but built around real security architecture and audit-ready delivery.”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1828800"/>
            <a:ext cx="23317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use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2212848"/>
            <a:ext cx="2331720" cy="14447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Specialized cyber profiles for urgent requirements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assessment pods for breach, exposure, AppSec, DLP, or GRC work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SME support for scoping and solution shaping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098280" y="1828800"/>
            <a:ext cx="23317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Mature state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98280" y="2212848"/>
            <a:ext cx="2331720" cy="14447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Outcome-led consulting engagements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Capability pods with technical lead + engineers + evidence outputs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Managed advisory / retainer for ongoing cyber portfolio support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1325880" y="4892040"/>
            <a:ext cx="9418320" cy="566928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motto is to be your trusted cyber delivery partner.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03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asks we cater to in the cybersecurity portfolio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posture for continuous and deepening engagement.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insignia.tech/services/consulting-and-delivery; insignia.tech/work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965960"/>
            <a:ext cx="3102559" cy="704088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834079" y="1965960"/>
            <a:ext cx="7595921" cy="704088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Insignia answer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731520" y="2670048"/>
            <a:ext cx="3102559" cy="704088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you help this month?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834079" y="2670048"/>
            <a:ext cx="7595921" cy="704088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Yes: 6 U.S.-available / U.S.-aligned staff plus 8 offshore delivery members for triage, engineering, documentation, and automation.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1520" y="3374136"/>
            <a:ext cx="3102559" cy="704088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you more than a staffing vendor?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3834079" y="3374136"/>
            <a:ext cx="7595921" cy="704088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Yes: engagement starts with staffing compatibility, then matures into assessment, advisory, and capability pods.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1520" y="4078224"/>
            <a:ext cx="3102559" cy="704088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you strongest?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3834079" y="4078224"/>
            <a:ext cx="7595921" cy="704088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meets engineering: vulnerability, AppSec, DLP/Purview, GRC, zero-trust, IAM/ABAC, PAM/vault, and AI security.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31520" y="4782312"/>
            <a:ext cx="3102559" cy="704088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get back?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3834079" y="4782312"/>
            <a:ext cx="7595921" cy="704088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Client-ready artifacts: risk register, control map, architecture diagrams, remediation backlog, evidence pack, and executive brief.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1280160" y="5650992"/>
            <a:ext cx="9601200" cy="402336"/>
          </a:xfrm>
          <a:prstGeom prst="rect">
            <a:avLst/>
          </a:prstGeom>
          <a:solidFill>
            <a:srgbClr val="071017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there to help fulfill your expectations, in an ever-deepening, evolving and a long-term partnership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04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call Insignia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cyber portfolios usually need intervention at the intersection of architecture, controls, delivery, and evidence.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insignia.tech/capabilities/engineering; insignia.tech/services/consulting-and-delivery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1874520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Breach / weakness assessment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2258568"/>
            <a:ext cx="352044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client had an incident and needs a rapid review of exposed systems, controls, identity paths, and remediation priorities.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617720" y="1874520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Backlog / vulnerability program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2258568"/>
            <a:ext cx="352044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Scanner output is high-volume, ownership is unclear, and executive reporting does not reflect actual risk.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549640" y="1874520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AppSec / DevSecOps pressure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49640" y="2258568"/>
            <a:ext cx="352044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SAST/SCA/DAST findings need triage, CI/CD gates, developer enablement, and measurable remediation cadence.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85800" y="3035808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protection / DLP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3419856"/>
            <a:ext cx="352044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Purview, classification, DLP tuning, insider risk, and data leakage controls need engineering and governance.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617720" y="3035808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GRC / audit readiness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17720" y="3419856"/>
            <a:ext cx="352044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SOC, ISO, SOX, GDPR, HIPAA/HITRUST-style readiness needs evidence collection and control ownership.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549640" y="3035808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security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49640" y="3419856"/>
            <a:ext cx="352044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Copilot, ChatGPT, RAG, agents, and AI data flows need controls, traceability, and leakage detection.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914400" y="4864608"/>
            <a:ext cx="10332720" cy="594360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common thread: the client does not only need labor; they need risk reduction that can be shown to the business, the auditor, and the delivery sponsor.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05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Insignia for cybersecurity work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practice is built for mission-critical software, production AI, auditability, and systems that cannot quietly fail.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insignia.tech/; insignia.tech/capabilities/security; insignia.tech/capabilities/engineering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874520"/>
            <a:ext cx="2057400" cy="61722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CE8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Senior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31520" y="2491740"/>
            <a:ext cx="2057400" cy="52578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small-team model; leadership-heavy delivery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971800" y="1874520"/>
            <a:ext cx="2057400" cy="61722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82F2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24h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2971800" y="2491740"/>
            <a:ext cx="2057400" cy="52578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 reply posture on engagement paths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212080" y="1874520"/>
            <a:ext cx="2057400" cy="61722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6A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5212080" y="2491740"/>
            <a:ext cx="2057400" cy="52578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jurisdictions in published practice surface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452360" y="1874520"/>
            <a:ext cx="2057400" cy="61722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6C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4+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452360" y="2491740"/>
            <a:ext cx="2057400" cy="52578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capability families: engineering, data/AI, platforms, security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692640" y="1874520"/>
            <a:ext cx="2057400" cy="61722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D8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NDA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9692640" y="2491740"/>
            <a:ext cx="2057400" cy="52578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redacted case files and references available by engagement path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31520" y="3703320"/>
            <a:ext cx="3429000" cy="329184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first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731520" y="4087368"/>
            <a:ext cx="3429000" cy="941832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Cloud-native architecture, observability, continuous delivery, resilience, and SLO-led operations.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4389120" y="3703320"/>
            <a:ext cx="3429000" cy="329184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built in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4389120" y="4087368"/>
            <a:ext cx="3429000" cy="941832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SDLC, threat modeling, cloud hardening, IAM, audit ledger, incident response, and AI/agent security.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8046720" y="3703320"/>
            <a:ext cx="3429000" cy="329184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posture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8046720" y="4087368"/>
            <a:ext cx="3429000" cy="941832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logs, handover packs, OCSF-style events, traceability, consent ledger, and privileged action register.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06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clients receive vs. what generic firms sell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is not only skill labels. It is the delivery artifact and the accountability model.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1874520"/>
            <a:ext cx="4800600" cy="329184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Generic software / staffing vendor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258568"/>
            <a:ext cx="4800600" cy="2862072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t" anchorCtr="0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JD matching and resume forwarding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Tool-specific implementation without control mapping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Tickets closed; evidence assembled later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treated as a phase or QA gate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Architecture diagrams optional or outdated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37960" y="1874520"/>
            <a:ext cx="4800600" cy="329184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 cybersecurity capability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2258568"/>
            <a:ext cx="4800600" cy="2862072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t" anchorCtr="0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 support plus senior technical supervision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 map, risk register, and architecture artifacts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generated as work is performed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Secure SDLC and zero-trust patterns built into delivery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Executive summary, remediation backlog, and audit-ready packet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280160" y="5532120"/>
            <a:ext cx="9601200" cy="438912"/>
          </a:xfrm>
          <a:prstGeom prst="rect">
            <a:avLst/>
          </a:prstGeom>
          <a:solidFill>
            <a:srgbClr val="071017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 do not hire Insignia to “cover headcount.” They hire us to reduce cyber risk with engineering discipline.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07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Cybersecurity capability map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pods that can be engaged independently or composed into an outcome-led engagement.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insignia.tech/capabilities/engineering; insignia.tech/capabilities/data-intelligence;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1874520"/>
            <a:ext cx="10104120" cy="566928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INSIGNIA CYBERSECURITY CAPABILITY CORE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architecture · audit evidence · engineering delivery · AI governance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85216" y="278892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89504" y="278892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AppSec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SDLC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93792" y="278892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Protection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DLP / Purview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0" y="278892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GRC + Audit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02368" y="278892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FF5C7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Post-Breach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" y="406908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Zero-Trust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/ Network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89504" y="406908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 / ABAC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MDM / Consent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93792" y="406908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FF5C7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PAM / Vault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Ops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0" y="406908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Security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/ RAG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802368" y="4069080"/>
            <a:ext cx="2121408" cy="749808"/>
          </a:xfrm>
          <a:prstGeom prst="rect">
            <a:avLst/>
          </a:prstGeom>
          <a:solidFill>
            <a:srgbClr val="071017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Telemetry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8680" y="5285232"/>
            <a:ext cx="1042416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compose pods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868680" y="5669280"/>
            <a:ext cx="10424160" cy="365760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vulnerability + GRC for audit remediation; AppSec + DevSecOps for secure SDLC; DLP + ABAC + consent for data protection; AI security + detection telemetry for GenAI governance.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08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 model: start where procurement is ready, mature where value is proven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deliberately compatible with staff augmentation but designed to evolve into consulting and managed capability.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insignia.tech/services/consulting-and-delivery; insignia.tech/capabilities/engineering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73552" y="3017520"/>
            <a:ext cx="128016" cy="0"/>
          </a:xfrm>
          <a:prstGeom prst="line">
            <a:avLst/>
          </a:prstGeom>
          <a:noFill/>
          <a:ln w="12700">
            <a:solidFill>
              <a:srgbClr val="2CE8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16752" y="3017520"/>
            <a:ext cx="128016" cy="0"/>
          </a:xfrm>
          <a:prstGeom prst="line">
            <a:avLst/>
          </a:prstGeom>
          <a:noFill/>
          <a:ln w="12700">
            <a:solidFill>
              <a:srgbClr val="2CE8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59952" y="3017520"/>
            <a:ext cx="128016" cy="0"/>
          </a:xfrm>
          <a:prstGeom prst="line">
            <a:avLst/>
          </a:prstGeom>
          <a:noFill/>
          <a:ln w="12700">
            <a:solidFill>
              <a:srgbClr val="2CE8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331720"/>
            <a:ext cx="402336" cy="402336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2862072"/>
            <a:ext cx="251460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Specialized staff augmentation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246120"/>
            <a:ext cx="2514600" cy="13075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cyber profiles; rapid shortlist; U.S. client communication; technical screening.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3474720" y="2331720"/>
            <a:ext cx="402336" cy="402336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2862072"/>
            <a:ext cx="251460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Rapid assessment sprint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0" y="3246120"/>
            <a:ext cx="2514600" cy="13075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2–4 week scoped review with findings, risk register, and remediation roadmap.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6217920" y="2331720"/>
            <a:ext cx="402336" cy="402336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2862072"/>
            <a:ext cx="251460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pod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17920" y="3246120"/>
            <a:ext cx="2514600" cy="13075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consultant + engineers + analyst; weekly delivery rhythm; client-ready artifacts.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8961120" y="2331720"/>
            <a:ext cx="402336" cy="402336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61120" y="2862072"/>
            <a:ext cx="251460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Managed cyber engineering retainer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0" y="3246120"/>
            <a:ext cx="2514600" cy="13075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 capability, quarterly maturity reassessment, executive dashboard, and evidence outputs.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1051560" y="5230368"/>
            <a:ext cx="10104120" cy="566928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posture: accept the staffing lane when required; propose a defined pod or sprint whenever the work has risk, scope, and a business outcome.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09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anchors and deployable bench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anchors provide the consultative spine; delivery bench provides the capacity to start quickly.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insignia.tech/roster; uploaded team/resume references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82880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Vivek Prakash Mishra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212848"/>
            <a:ext cx="3246120" cy="15361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Chief Strategy Officer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platforms, AI strategy, cloud/data/security architecture, Snowflake/Apple lineage, portfolio-level solution shaping.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4434840" y="182880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Srimanta Jana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2212848"/>
            <a:ext cx="3246120" cy="15361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Chief Technology Officer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Vulnerability and penetration testing automation, AI-assisted SDLC, enterprise QA, automation frameworks, reliability discipline, delivery governance, Cloud engineering and se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8138160" y="182880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Vishwadeep Saxena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38160" y="2212848"/>
            <a:ext cx="3246120" cy="15361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Chief AI Officer / AI Evangelist/Cybersecurity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AI, responsible AI, agentic systems, MLOps, diagnostics, and production AI governance.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1280160" y="4434840"/>
            <a:ext cx="2194560" cy="518465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CE8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~6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1280160" y="4953305"/>
            <a:ext cx="2194560" cy="441655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U.S.-available / U.S.-aligned staff for augmentation, client-facing workshops, and delivery oversight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983480" y="4434840"/>
            <a:ext cx="2194560" cy="518465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82F2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~8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4983480" y="4953305"/>
            <a:ext cx="2194560" cy="441655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team for engineering, triage, remediation, documentation, QA, and automation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641080" y="4434840"/>
            <a:ext cx="2194560" cy="518465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6C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641080" y="4953305"/>
            <a:ext cx="2194560" cy="441655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operating unit: senior lead + specialist engineer(s) + analyst/QA/documentation support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371600" y="5715000"/>
            <a:ext cx="9326880" cy="365760"/>
          </a:xfrm>
          <a:prstGeom prst="rect">
            <a:avLst/>
          </a:prstGeom>
          <a:solidFill>
            <a:srgbClr val="071017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biographies and named profiles can be provided under NDA or per procurement request.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10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profiles we can provide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can be staffed individually or combined into pods aligned to the client’s current demand.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1874520"/>
            <a:ext cx="2343607" cy="649224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family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120847" y="1874520"/>
            <a:ext cx="5006797" cy="649224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profiles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8127644" y="1874520"/>
            <a:ext cx="3302356" cy="649224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777240" y="2523744"/>
            <a:ext cx="2343607" cy="649224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Advisory / architecture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3120847" y="2523744"/>
            <a:ext cx="5006797" cy="649224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Architect · Cloud Security Architect · AI Security Consultant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8127644" y="2523744"/>
            <a:ext cx="3302356" cy="649224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Assessments, roadmaps, zero-trust, AI controls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777240" y="3172968"/>
            <a:ext cx="2343607" cy="649224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/ execution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3120847" y="3172968"/>
            <a:ext cx="5006797" cy="649224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AppSec Engineer · DevSecOps Engineer · DLP/Purview Engineer · PAM/Vault Engineer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8127644" y="3172968"/>
            <a:ext cx="3302356" cy="649224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Implementation, remediation, CI/CD gates, secrets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777240" y="3822192"/>
            <a:ext cx="2343607" cy="649224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compliance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3120847" y="3822192"/>
            <a:ext cx="5006797" cy="649224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GRC Consultant · Internal Audit Analyst · Healthcare Compliance Consultant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127644" y="3822192"/>
            <a:ext cx="3302356" cy="649224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SOC/ISO/SOX/GDPR/HIPAA/HITRUST readiness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777240" y="4471416"/>
            <a:ext cx="2343607" cy="649224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/ detection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3120847" y="4471416"/>
            <a:ext cx="5006797" cy="649224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Engineer · SIEM/XDR Consultant · Security Program Manager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8127644" y="4471416"/>
            <a:ext cx="3302356" cy="649224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cases, runbooks, alert tuning, portfolio cadence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1051560" y="5394960"/>
            <a:ext cx="10104120" cy="475488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Screening emphasis: role fit, artifact experience, implementation depth, and ability to communicate risk to technical and executive stakeholders.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6C9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11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01: Vulnerability management &amp; exposure reduction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scanner output to governed remediation and executive risk visibility.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insignia.tech/capabilities/engineering;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187452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support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2258568"/>
            <a:ext cx="3383280" cy="29077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Vulnerability program management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Infrastructure vulnerability management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Risk-based prioritization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Patch/remediation governance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SLA tracking and executive reporting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Breach-triggered weakness assessment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4434840" y="187452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artifacts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34840" y="2258568"/>
            <a:ext cx="3383280" cy="29077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VM maturity scorecard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Asset and exposure inventory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Prioritization model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Remediation operating model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Weekly risk dashboard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30/60/90-day action plan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8183880" y="187452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/ standards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83880" y="2258568"/>
            <a:ext cx="3383280" cy="29077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Tenable / Qualys / Rapid7 patterns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NIST CSF / 800-53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FAIR-style risk quantification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ITIL change and remediation cadence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OpenVAS where OSS scanning is appropriate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1554480" y="5623560"/>
            <a:ext cx="8961120" cy="411480"/>
          </a:xfrm>
          <a:prstGeom prst="rect">
            <a:avLst/>
          </a:prstGeom>
          <a:solidFill>
            <a:srgbClr val="071017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offer: 2–4 week vulnerability program stabilization sprint.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A6FF"/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66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12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02: Application security &amp; secure SDLC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SAST is the starting point; secure engineering discipline is the outcome.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insignia.tech/capabilities/engineering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1828800"/>
            <a:ext cx="34747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surface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2212848"/>
            <a:ext cx="3474720" cy="295351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SAST / DAST / SCA triage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security review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Secrets scanning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OWASP Top 10 remediation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Threat modeling: STRIDE / PASTA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Dependency and container image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1828800"/>
            <a:ext cx="34747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controls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0" y="2212848"/>
            <a:ext cx="3474720" cy="295351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CI/CD security gates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SBOM and signed provenance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Policy-as-code admission checks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Secure code review playbooks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Developer remediation workflow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and risk acceptance process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92440" y="1828800"/>
            <a:ext cx="34747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outcome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92440" y="2212848"/>
            <a:ext cx="3474720" cy="295351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Lower exploitable backlog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Repeatable developer workflow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Executive risk reporting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trail for accepted risk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Release discipline without blocking all delivery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5577840"/>
            <a:ext cx="9784080" cy="475488"/>
          </a:xfrm>
          <a:prstGeom prst="rect">
            <a:avLst/>
          </a:prstGeom>
          <a:solidFill>
            <a:srgbClr val="071017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Insignia.tech security posture explicitly includes secure SDLC, SAST/DAST, dependency audits, signed provenance, and container admission controls.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2F29C"/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82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13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03: Data protection, DLP &amp; Microsoft Purview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DLP succeeds when data classification, consent, identity, and operational tuning work together.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insignia.tech/capabilities/data-intelligence;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1874520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services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2258568"/>
            <a:ext cx="3520440" cy="28620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Purview readiness and implementation support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classification taxonomy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Sensitivity labels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DLP policy design and tuning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Insider risk workflow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Endpoint / email / cloud DLP controls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1874520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architecture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43400" y="2258568"/>
            <a:ext cx="3520440" cy="28620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lineage and flow mapping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Purpose-of-use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ABAC-linked classification tags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Consent-aware access decisions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minimization and retention paths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workflow and policy aging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000" y="1874520"/>
            <a:ext cx="35204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01000" y="2258568"/>
            <a:ext cx="3520440" cy="28620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Purview configuration plan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DLP policy pack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Leakage scenario 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Tuning backlog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 owner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Operational runbook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5577840"/>
            <a:ext cx="9052560" cy="411480"/>
          </a:xfrm>
          <a:prstGeom prst="rect">
            <a:avLst/>
          </a:prstGeom>
          <a:solidFill>
            <a:srgbClr val="071017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first sprint: classify the highest-risk data flows before tuning every policy.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AD8CFF"/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A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14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04: GRC, audit readiness &amp; platform workflows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readiness is not a document dump. It is a system of control ownership, evidence, and review cadence.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1828800"/>
            <a:ext cx="2481682" cy="667512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167482" y="1828800"/>
            <a:ext cx="5179162" cy="667512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Insignia support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8346643" y="1828800"/>
            <a:ext cx="3129077" cy="667512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output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85800" y="2496312"/>
            <a:ext cx="2481682" cy="667512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 / ISO / SOX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3167482" y="2496312"/>
            <a:ext cx="5179162" cy="667512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gap analysis, evidence requests, policy/procedure review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8346643" y="2496312"/>
            <a:ext cx="3129077" cy="667512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readiness pack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685800" y="3163824"/>
            <a:ext cx="2481682" cy="667512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 / privacy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3167482" y="3163824"/>
            <a:ext cx="5179162" cy="667512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record, consent ledger, erasure and retention model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8346643" y="3163824"/>
            <a:ext cx="3129077" cy="667512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control map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685800" y="3831336"/>
            <a:ext cx="2481682" cy="667512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HIPAA / HITRUST readiness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3167482" y="3831336"/>
            <a:ext cx="5179162" cy="667512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safeguards, access logging, risk analysis, healthcare control overlay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8346643" y="3831336"/>
            <a:ext cx="3129077" cy="667512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evidence checklist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685800" y="4498848"/>
            <a:ext cx="2481682" cy="667512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AuditBoard / SAI360 / ServiceNow GRC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3167482" y="4498848"/>
            <a:ext cx="5179162" cy="667512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libraries, evidence workflows, issue/remediation tracking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8346643" y="4498848"/>
            <a:ext cx="3129077" cy="667512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GRC workflow design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868680" y="5440680"/>
            <a:ext cx="10424160" cy="530352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Insignia’s security surface emphasizes handover packs: asset inventory, access matrix, audit log archive, evidence chain, key rotation history, consent ledger, privileged action register, and incident register.</a:t>
            </a:r>
            <a:endParaRPr lang="en-US" sz="10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15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05: Zero-trust cloud, network &amp; platform security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Cross-cloud systems need identity-bound traffic, default-deny posture, policy enforcement, and traceable service behavior.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insignia.tech/capabilities/engineering;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94560" y="2743200"/>
            <a:ext cx="365760" cy="0"/>
          </a:xfrm>
          <a:prstGeom prst="line">
            <a:avLst/>
          </a:prstGeom>
          <a:noFill/>
          <a:ln w="1270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69080" y="2743200"/>
            <a:ext cx="365760" cy="0"/>
          </a:xfrm>
          <a:prstGeom prst="line">
            <a:avLst/>
          </a:prstGeom>
          <a:noFill/>
          <a:ln w="1270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2743200"/>
            <a:ext cx="365760" cy="0"/>
          </a:xfrm>
          <a:prstGeom prst="line">
            <a:avLst/>
          </a:prstGeom>
          <a:noFill/>
          <a:ln w="1270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63840" y="2743200"/>
            <a:ext cx="365760" cy="0"/>
          </a:xfrm>
          <a:prstGeom prst="line">
            <a:avLst/>
          </a:prstGeom>
          <a:noFill/>
          <a:ln w="1270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784080" y="2743200"/>
            <a:ext cx="274320" cy="0"/>
          </a:xfrm>
          <a:prstGeom prst="line">
            <a:avLst/>
          </a:prstGeom>
          <a:noFill/>
          <a:ln w="1270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2423160"/>
            <a:ext cx="14630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 / rate limit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2606040" y="2423160"/>
            <a:ext cx="14630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Envoy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/ PEP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4480560" y="2423160"/>
            <a:ext cx="155448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SPIFFE/SPIRE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ID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6446520" y="2423160"/>
            <a:ext cx="141732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mTLS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mesh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8275320" y="2423160"/>
            <a:ext cx="150876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 / ABAC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10104120" y="2423160"/>
            <a:ext cx="141732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Cilium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+ egress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777240" y="388620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areas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77240" y="4270248"/>
            <a:ext cx="3246120" cy="11704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Ingress/WAF and rate limits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Service-to-service auth and mTLS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Workload identity and cert rotation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Egress policy and exposed interface inventory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Kubernetes policy-as-code and runtime hardening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4434840" y="388620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434840" y="4270248"/>
            <a:ext cx="3246120" cy="11704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Zero-trust reference architecture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Mesh/mTLS assessment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OPA/Rego policy pack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Cilium/east-west policy review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hardening backlog</a:t>
            </a:r>
            <a:endParaRPr lang="en-US" sz="890" dirty="0"/>
          </a:p>
        </p:txBody>
      </p:sp>
      <p:sp>
        <p:nvSpPr>
          <p:cNvPr id="36" name="Text 34"/>
          <p:cNvSpPr/>
          <p:nvPr/>
        </p:nvSpPr>
        <p:spPr>
          <a:xfrm>
            <a:off x="8092440" y="388620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 value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092440" y="4270248"/>
            <a:ext cx="3246120" cy="11704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Reduced lateral movement risk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Better auditability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Clean cloud exposure inventory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Repeatable control model across AWS/Azure/GCP/DO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Architecture artifact for client review</a:t>
            </a:r>
            <a:endParaRPr lang="en-US" sz="8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2F29C"/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82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16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06: IAM, ABAC, MDM &amp; consent management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Zero is the gate before data, AI, and workflow access: identity, policy, and consent must all resolve.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2011680"/>
            <a:ext cx="2926080" cy="1097280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MDM · SSO · SCIM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the principal?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2011680"/>
            <a:ext cx="2926080" cy="1097280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ABAC · OPA · Cedar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allowed?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2011680"/>
            <a:ext cx="2926080" cy="1097280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CMP · purpose-of-use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it allowed?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560320"/>
            <a:ext cx="804672" cy="0"/>
          </a:xfrm>
          <a:prstGeom prst="line">
            <a:avLst/>
          </a:prstGeom>
          <a:noFill/>
          <a:ln w="1397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62088" y="2560320"/>
            <a:ext cx="804672" cy="0"/>
          </a:xfrm>
          <a:prstGeom prst="line">
            <a:avLst/>
          </a:prstGeom>
          <a:noFill/>
          <a:ln w="1397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46120" y="3931920"/>
            <a:ext cx="5669280" cy="777240"/>
          </a:xfrm>
          <a:prstGeom prst="rect">
            <a:avLst/>
          </a:prstGeom>
          <a:solidFill>
            <a:srgbClr val="071017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/ DENY + AUDIT EVENT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 · policy_bundle_hash · consent_grant_id · business_reason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212080"/>
            <a:ext cx="502920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provide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822960" y="5596128"/>
            <a:ext cx="5029200" cy="43891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IAM maturity review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SSO/SAML/OIDC/SCIM integration planning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RBAC-to-ABAC modernization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Consent lifecycle design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Purpose-of-use matrix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MDM golden-record model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6355080" y="5212080"/>
            <a:ext cx="502920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6355080" y="5596128"/>
            <a:ext cx="5029200" cy="43891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Prevents over-broad access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Enables privacy-by-design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Ties every action to business reason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Supports audit, DLP, AI governance, and data sharing</a:t>
            </a:r>
            <a:endParaRPr lang="en-US" sz="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5C72"/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F5C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17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07: PAM, POM, vault &amp; privileged operations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operations should be time-bound, justified, audited, and recoverable - not hidden behind shared admin accounts.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2551176"/>
            <a:ext cx="310896" cy="0"/>
          </a:xfrm>
          <a:prstGeom prst="line">
            <a:avLst/>
          </a:prstGeom>
          <a:noFill/>
          <a:ln w="12700">
            <a:solidFill>
              <a:srgbClr val="FF5C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0" y="2551176"/>
            <a:ext cx="310896" cy="0"/>
          </a:xfrm>
          <a:prstGeom prst="line">
            <a:avLst/>
          </a:prstGeom>
          <a:noFill/>
          <a:ln w="12700">
            <a:solidFill>
              <a:srgbClr val="F6C94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92240" y="2551176"/>
            <a:ext cx="310896" cy="0"/>
          </a:xfrm>
          <a:prstGeom prst="line">
            <a:avLst/>
          </a:prstGeom>
          <a:noFill/>
          <a:ln w="12700">
            <a:solidFill>
              <a:srgbClr val="2CE8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503920" y="2551176"/>
            <a:ext cx="310896" cy="0"/>
          </a:xfrm>
          <a:prstGeom prst="line">
            <a:avLst/>
          </a:prstGeom>
          <a:noFill/>
          <a:ln w="12700">
            <a:solidFill>
              <a:srgbClr val="66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2240280"/>
            <a:ext cx="1645920" cy="621792"/>
          </a:xfrm>
          <a:prstGeom prst="rect">
            <a:avLst/>
          </a:prstGeom>
          <a:solidFill>
            <a:srgbClr val="101C26"/>
          </a:solidFill>
          <a:ln w="12700">
            <a:solidFill>
              <a:srgbClr val="FF5C7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34640" y="2240280"/>
            <a:ext cx="1645920" cy="621792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+ reviewer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240280"/>
            <a:ext cx="1645920" cy="621792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JIT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/ token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2240280"/>
            <a:ext cx="1645920" cy="621792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session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69680" y="2240280"/>
            <a:ext cx="1645920" cy="621792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+ audit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370332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CyberArk-like feature areas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8680" y="4087368"/>
            <a:ext cx="3246120" cy="14904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Credential vaulting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Password/key rotation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JIT/JEA access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Break-glass workflows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Service-account inventory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SSH/RDP/DB/K8s session audit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SIEM/GRC exports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4480560" y="370332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families supported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480560" y="4087368"/>
            <a:ext cx="3246120" cy="14904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CyberArk / BeyondTrust / Delinea patterns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HashiCorp Vault-class secrets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KMS and Secrets Manager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SOPS / Sealed Secrets / External Secrets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Entra PIM / cloud IAM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8092440" y="370332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092440" y="4087368"/>
            <a:ext cx="3246120" cy="14904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PAM maturity assessment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Privileged account register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Vault/secrets architecture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Break-glass workflow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rotation policy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Privileged action register</a:t>
            </a:r>
            <a:endParaRPr lang="en-US" sz="9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18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08: Enterprise AI security &amp; agentic governance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wedge: control Copilot/ChatGPT/RAG/agents before data leakage and tool misuse become normal.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insignia.tech/capabilities/data-intelligence; insignia.tech/roster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828800"/>
            <a:ext cx="32918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questions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2212848"/>
            <a:ext cx="3291840" cy="25877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has opened Copilot / ChatGPT / external tools?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data can prompts and agents access?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Are RAG stores exposing restricted documents?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agents can call tools or APIs?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are prompts, outputs, and data flows logged?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434840" y="1828800"/>
            <a:ext cx="32918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model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34840" y="2212848"/>
            <a:ext cx="3291840" cy="25877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Acceptable-use and risk tiers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 and tool-permission threat model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DLP and data egress review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RAG lineage and retrieval boundary review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inventory and permission matrix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 gates, drift, calibration, human review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138160" y="1828800"/>
            <a:ext cx="32918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38160" y="2212848"/>
            <a:ext cx="3291840" cy="25877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Enterprise GenAI security assessment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Copilot / ChatGPT controls checklist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Agentic workflow lineage map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governance evidence pack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 injection and data-exfiltration findings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30/60/90 control roadmap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1051560" y="5321808"/>
            <a:ext cx="10104120" cy="548640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to use: “AI security” rather than only “AI red teaming.” Red teaming is a tactic; governance, lineage, tool scope, and DLP are the program.</a:t>
            </a:r>
            <a:endParaRPr lang="en-US" sz="11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19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Rapid-start offers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first engagement should be scoped tightly enough to approve, but substantial enough to show capability.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82880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A. Post-breach weakness assessment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212848"/>
            <a:ext cx="3383280" cy="1627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2–4 weeks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weakness review · infrastructure exposure · identity/access review · cloud/app misconfiguration · executive risk summary · remediation plan.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389120" y="182880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B. Vulnerability program stabilization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2212848"/>
            <a:ext cx="3383280" cy="1627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2–6 weeks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Scanner output normalization · ownership mapping · risk prioritization · SLA model · patch governance · dashboard + backlog.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046720" y="182880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C. AppSec / DevSecOps pod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2212848"/>
            <a:ext cx="3383280" cy="1627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4–8 weeks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SAST/SCA/DAST triage · OWASP remediation · CI/CD gates · secrets/SBOM · developer enablement · secure SDLC controls.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D. DLP / Purview sprint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636008"/>
            <a:ext cx="3383280" cy="9875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2–6 weeks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classification · sensitivity labels · DLP tuning · leakage scenarios · insider risk workflow · operational runbook.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389120" y="425196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E. GRC evidence automation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89120" y="4636008"/>
            <a:ext cx="3383280" cy="9875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2–6 weeks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map · evidence register · audit workflow · AuditBoard/SAI360/ServiceNow GRC patterns · readiness pack.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046720" y="425196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F. AI security controls assessment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0" y="4636008"/>
            <a:ext cx="3383280" cy="9875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2–4 weeks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Copilot/ChatGPT readiness · agent inventory · RAG lineage · AI DLP · prompt/tool threat model.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20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/ 60 / 90 day consulting path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concrete path for moving from tactical intervention to consultative capability.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insignia.tech/services/consulting-and-delivery; insignia.tech/capabilities/engineering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1874520"/>
            <a:ext cx="3154680" cy="41971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CE8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0–30 days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77240" y="2294230"/>
            <a:ext cx="3154680" cy="35753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 + scope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7240" y="2880360"/>
            <a:ext cx="31546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264408"/>
            <a:ext cx="3154680" cy="19019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one live requirement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Confirm scope, data/access, and constraints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 profile or pod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Produce first findings and risk register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4480560" y="1874520"/>
            <a:ext cx="3154680" cy="41971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82F2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31–60 days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4480560" y="2294230"/>
            <a:ext cx="3154680" cy="35753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Remediate + evidence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480560" y="2880360"/>
            <a:ext cx="31546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0" y="3264408"/>
            <a:ext cx="3154680" cy="19019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through prioritized backlog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 controls or operating model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executive dashboard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Package evidence and decisions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183880" y="1874520"/>
            <a:ext cx="3154680" cy="41971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6C9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61–90 days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8183880" y="2294230"/>
            <a:ext cx="3154680" cy="357530"/>
          </a:xfrm>
          <a:prstGeom prst="rect">
            <a:avLst/>
          </a:prstGeom>
          <a:solidFill>
            <a:srgbClr val="0B121B"/>
          </a:solidFill>
          <a:ln w="7620">
            <a:solidFill>
              <a:srgbClr val="2A3B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Mature + expand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183880" y="2880360"/>
            <a:ext cx="31546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actions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83880" y="3264408"/>
            <a:ext cx="3154680" cy="19019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Quarterly maturity baseline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Second capability pod or managed retainer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 success review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Repeatable SOW and staffing pattern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143000" y="5632704"/>
            <a:ext cx="9966960" cy="438912"/>
          </a:xfrm>
          <a:prstGeom prst="rect">
            <a:avLst/>
          </a:prstGeom>
          <a:solidFill>
            <a:srgbClr val="071017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measure: by day 30 the client sees qualified capacity; by day 90 they see a measurable capability with artifacts.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21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model for enterprise clients and prime/vendor relationships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responsibilities keep the client/principal relationship safe while giving Insignia enough authority to deliver.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insignia.tech/services/consulting-and-delivery; insignia.tech/capabilities/security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1828800"/>
            <a:ext cx="2600554" cy="515983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3286354" y="1828800"/>
            <a:ext cx="1950415" cy="515983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/ Prime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236769" y="1828800"/>
            <a:ext cx="1950415" cy="515983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Insignia Lead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187184" y="1828800"/>
            <a:ext cx="1733702" cy="515983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Insignia Pod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8920886" y="1828800"/>
            <a:ext cx="2600554" cy="515983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85800" y="2344783"/>
            <a:ext cx="2600554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+ priorities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3286354" y="2344783"/>
            <a:ext cx="1950415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5236769" y="2344783"/>
            <a:ext cx="1950415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C/R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7187184" y="2344783"/>
            <a:ext cx="1733702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8920886" y="2344783"/>
            <a:ext cx="2600554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note + success criteria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685800" y="2860766"/>
            <a:ext cx="2600554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architecture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3286354" y="2860766"/>
            <a:ext cx="1950415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5236769" y="2860766"/>
            <a:ext cx="1950415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7187184" y="2860766"/>
            <a:ext cx="1733702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8920886" y="2860766"/>
            <a:ext cx="2600554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decision pack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685800" y="3376749"/>
            <a:ext cx="2600554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/ remediation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3286354" y="3376749"/>
            <a:ext cx="1950415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I/C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5236769" y="3376749"/>
            <a:ext cx="1950415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A/C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7187184" y="3376749"/>
            <a:ext cx="1733702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920886" y="3376749"/>
            <a:ext cx="2600554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+ artifacts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685800" y="3892731"/>
            <a:ext cx="2600554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+ compliance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3286354" y="3892731"/>
            <a:ext cx="1950415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A/C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5236769" y="3892731"/>
            <a:ext cx="1950415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7187184" y="3892731"/>
            <a:ext cx="1733702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8920886" y="3892731"/>
            <a:ext cx="2600554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register + evidence map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685800" y="4408714"/>
            <a:ext cx="2600554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reporting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3286354" y="4408714"/>
            <a:ext cx="1950415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A/C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5236769" y="4408714"/>
            <a:ext cx="1950415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7187184" y="4408714"/>
            <a:ext cx="1733702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8920886" y="4408714"/>
            <a:ext cx="2600554" cy="515983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brief + dashboard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685800" y="4924697"/>
            <a:ext cx="2600554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/ onboarding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3286354" y="4924697"/>
            <a:ext cx="1950415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A/R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5236769" y="4924697"/>
            <a:ext cx="1950415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7187184" y="4924697"/>
            <a:ext cx="1733702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8920886" y="4924697"/>
            <a:ext cx="2600554" cy="515983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pack + SOW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822960" y="5623560"/>
            <a:ext cx="4754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accountable · R = responsible · C = consulted · I = informed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69280" y="5559552"/>
            <a:ext cx="5577840" cy="438912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idea: the client owns the relationship and business decision; Insignia owns defined security execution and evidence.</a:t>
            </a:r>
            <a:endParaRPr lang="en-US" sz="10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22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Procurement and trust readiness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enterprise or public-sector pathways, the first impression must be operationally clean.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insignia.tech/services/consulting-and-delivery; insignia.tech/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82880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Ready-to-share package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2212848"/>
            <a:ext cx="3383280" cy="2770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Company profile and legal entity details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Cyber capability catalog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Sample SOW structures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Resource profiles / resumes where requested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NDA and subcontracting terms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Insurance and security questionnaire 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182880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/ posture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0" y="2212848"/>
            <a:ext cx="3383280" cy="2770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handling and confidentiality posture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Secure SDLC and secrets management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Incident response escalation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 review and offboarding practices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generated during delivery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References available under NDA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1828800"/>
            <a:ext cx="338328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avoid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46720" y="2212848"/>
            <a:ext cx="3383280" cy="2770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Overclaiming certifications not yet held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Acting like a commodity staffing bench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Sending unredacted client architecture artifacts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Promising 24/7 SOC if not scoped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Mixing old brand/legal surfaces into current pitch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440680"/>
            <a:ext cx="10378440" cy="502920"/>
          </a:xfrm>
          <a:prstGeom prst="rect">
            <a:avLst/>
          </a:prstGeom>
          <a:solidFill>
            <a:srgbClr val="071017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Client-facing rule: Insignia.tech is the canonical web source. Older Insignia Consultancy materials only inform theme or legacy references when needed.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23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start the first cybersecurity engagement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easy for a buyer to try Insignia without making the relationship feel risky.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insignia.tech/services/consulting-and-delivery; insignia.tech/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1828800"/>
            <a:ext cx="411480" cy="411480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1783080"/>
            <a:ext cx="882396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Send one live need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17320" y="2167128"/>
            <a:ext cx="8823960" cy="274320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JD, scope, incident, backlog sample, tool environment, or audit objective.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2743200"/>
            <a:ext cx="882396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24-hour capability response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417320" y="3127248"/>
            <a:ext cx="8823960" cy="274320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Profiles, pod shape, assumptions, initial risks, and suggested engagement model.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3703320"/>
            <a:ext cx="882396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 technical scoping call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417320" y="4087368"/>
            <a:ext cx="8823960" cy="274320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environment, access, evidence, timelines, stakeholders, and procurement path.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22960" y="4709160"/>
            <a:ext cx="411480" cy="411480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7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4663440"/>
            <a:ext cx="882396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SOW or staff-aug start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417320" y="5047488"/>
            <a:ext cx="8823960" cy="274320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a defined sprint or named resources; preserve the path to consulting.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2011680" y="5623560"/>
            <a:ext cx="8183880" cy="475488"/>
          </a:xfrm>
          <a:prstGeom prst="rect">
            <a:avLst/>
          </a:prstGeom>
          <a:solidFill>
            <a:srgbClr val="0B121B"/>
          </a:solidFill>
          <a:ln w="13970">
            <a:solidFill>
              <a:srgbClr val="82F29C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“Start with a narrow success case; expand only when the artifacts prove the operating model.”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AD8CFF"/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74320"/>
            <a:ext cx="54864" cy="246888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74320"/>
            <a:ext cx="32004" cy="246888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914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A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CLIENT-FACING CAPABILITY DECK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02920" y="1234440"/>
            <a:ext cx="67665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Due Diligence Addendum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30352" y="2331720"/>
            <a:ext cx="6217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Deep-tech reference patterns for buyers who want to inspect how Insignia thinks about architecture, identity, telemetry, lineage, AI security, and privileged operations.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insignia.tech/capabilities/engineering; insignia.tech/capabilities/data-intelligence;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1874520"/>
            <a:ext cx="100584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2CE8D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TRUST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458200" y="1874520"/>
            <a:ext cx="123444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82F29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2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ABAC / CONSENT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9829800" y="1874520"/>
            <a:ext cx="109728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F6C94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6C9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SECURITY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7315200" y="2331720"/>
            <a:ext cx="137160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66A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66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EVIDENCE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823960" y="2331720"/>
            <a:ext cx="109728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FF5C7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5C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PAM / VAULT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0058400" y="2331720"/>
            <a:ext cx="822960" cy="274320"/>
          </a:xfrm>
          <a:prstGeom prst="rect">
            <a:avLst/>
          </a:prstGeom>
          <a:solidFill>
            <a:srgbClr val="101C26"/>
          </a:solidFill>
          <a:ln w="10160">
            <a:solidFill>
              <a:srgbClr val="AD8C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LINEAGE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7269480" y="5394960"/>
            <a:ext cx="4206240" cy="502920"/>
          </a:xfrm>
          <a:prstGeom prst="rect">
            <a:avLst/>
          </a:prstGeom>
          <a:solidFill>
            <a:srgbClr val="101C26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Sanitized reference patterns only. Client-specific implementation details remain under NDA and engagement scope.</a:t>
            </a:r>
            <a:endParaRPr lang="en-US" sz="10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25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architecture: zero-trust evidence fabric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composable pattern for cross-cloud messaging, identity, policy, telemetry, lineage, and audit evidence.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2221992"/>
            <a:ext cx="27432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0" y="2221992"/>
            <a:ext cx="22860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92040" y="2221992"/>
            <a:ext cx="41148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83680" y="2221992"/>
            <a:ext cx="9144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0" y="2221992"/>
            <a:ext cx="27432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0" y="2221992"/>
            <a:ext cx="45720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1874520"/>
            <a:ext cx="1234440" cy="694944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workload</a:t>
            </a:r>
            <a:endParaRPr lang="en-US" sz="890" dirty="0"/>
          </a:p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2148840" y="1874520"/>
            <a:ext cx="1234440" cy="694944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Envoy</a:t>
            </a:r>
            <a:endParaRPr lang="en-US" sz="890" dirty="0"/>
          </a:p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</a:t>
            </a:r>
            <a:endParaRPr lang="en-US" sz="890" dirty="0"/>
          </a:p>
        </p:txBody>
      </p:sp>
      <p:sp>
        <p:nvSpPr>
          <p:cNvPr id="29" name="Text 27"/>
          <p:cNvSpPr/>
          <p:nvPr/>
        </p:nvSpPr>
        <p:spPr>
          <a:xfrm>
            <a:off x="3657600" y="1874520"/>
            <a:ext cx="1234440" cy="694944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SPIFFE/SPIRE</a:t>
            </a:r>
            <a:endParaRPr lang="en-US" sz="890" dirty="0"/>
          </a:p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SVID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5349240" y="1874520"/>
            <a:ext cx="1234440" cy="694944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mTLS</a:t>
            </a:r>
            <a:endParaRPr lang="en-US" sz="890" dirty="0"/>
          </a:p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</a:t>
            </a: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6720840" y="1874520"/>
            <a:ext cx="1234440" cy="694944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 / ABAC</a:t>
            </a:r>
            <a:endParaRPr lang="en-US" sz="890" dirty="0"/>
          </a:p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PDP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8275320" y="1874520"/>
            <a:ext cx="1234440" cy="694944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/ Redpanda</a:t>
            </a:r>
            <a:endParaRPr lang="en-US" sz="890" dirty="0"/>
          </a:p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10012680" y="1874520"/>
            <a:ext cx="1234440" cy="694944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90" dirty="0"/>
          </a:p>
          <a:p>
            <a:pPr marL="0" indent="0" algn="ctr">
              <a:buNone/>
            </a:pPr>
            <a:r>
              <a:rPr lang="en-US" sz="89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2743200" y="2624328"/>
            <a:ext cx="0" cy="576072"/>
          </a:xfrm>
          <a:prstGeom prst="line">
            <a:avLst/>
          </a:prstGeom>
          <a:noFill/>
          <a:ln w="10160">
            <a:solidFill>
              <a:srgbClr val="66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212080" y="2624328"/>
            <a:ext cx="0" cy="576072"/>
          </a:xfrm>
          <a:prstGeom prst="line">
            <a:avLst/>
          </a:prstGeom>
          <a:noFill/>
          <a:ln w="10160">
            <a:solidFill>
              <a:srgbClr val="2CE8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680960" y="2624328"/>
            <a:ext cx="0" cy="576072"/>
          </a:xfrm>
          <a:prstGeom prst="line">
            <a:avLst/>
          </a:prstGeom>
          <a:noFill/>
          <a:ln w="10160">
            <a:solidFill>
              <a:srgbClr val="82F29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48840" y="3246120"/>
            <a:ext cx="1737360" cy="640080"/>
          </a:xfrm>
          <a:prstGeom prst="rect">
            <a:avLst/>
          </a:prstGeom>
          <a:solidFill>
            <a:srgbClr val="071017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OpenTelemetry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context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17720" y="3246120"/>
            <a:ext cx="1737360" cy="640080"/>
          </a:xfrm>
          <a:prstGeom prst="rect">
            <a:avLst/>
          </a:prstGeom>
          <a:solidFill>
            <a:srgbClr val="071017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OpenLineage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lineage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86600" y="3246120"/>
            <a:ext cx="1737360" cy="640080"/>
          </a:xfrm>
          <a:prstGeom prst="rect">
            <a:avLst/>
          </a:prstGeom>
          <a:solidFill>
            <a:srgbClr val="071017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/ eval logs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decisions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" y="4617720"/>
            <a:ext cx="105613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Due diligence notes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5001768"/>
            <a:ext cx="10561320" cy="75895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SPIFFE/SPIRE provides workload identity; mTLS protects service-to-service traffic.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OpenTelemetry and OpenLineage correlate operational traces with data transformations.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OPA/ABAC and consent gates decide access before data or AI workflows execute.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evidence links policy, identity, lineage, and privileged action records.</a:t>
            </a:r>
            <a:endParaRPr lang="en-US" sz="10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A6FF"/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66A6FF">
              <a:alpha val="65000"/>
            </a:srgbClr>
          </a:solidFill>
          <a:ln w="12700">
            <a:solidFill>
              <a:srgbClr val="66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66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26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Telemetry, lineage, and audit evidence model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aim is to answer: who did what, when, through which system, against what data, and with what business reason.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insignia.tech/capabilities/data-intelligence;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0" y="2331720"/>
            <a:ext cx="484632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43400" y="2331720"/>
            <a:ext cx="484632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2331720"/>
            <a:ext cx="484632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58200" y="2331720"/>
            <a:ext cx="484632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2011680"/>
            <a:ext cx="150876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data / admin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2834640" y="2011680"/>
            <a:ext cx="150876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OTel W3C context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150876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OpenLineage event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949440" y="2011680"/>
            <a:ext cx="150876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+ consent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9006840" y="2011680"/>
            <a:ext cx="150876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OCSF / Merkle root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1097280" y="3337560"/>
            <a:ext cx="3588106" cy="327660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field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4685386" y="3337560"/>
            <a:ext cx="6378854" cy="327660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1097280" y="3665220"/>
            <a:ext cx="3588106" cy="32766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actor.user.uid / service identity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685386" y="3665220"/>
            <a:ext cx="6378854" cy="32766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 for human or workload action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1097280" y="3992880"/>
            <a:ext cx="3588106" cy="32766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business_reason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685386" y="3992880"/>
            <a:ext cx="6378854" cy="32766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action was allowed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097280" y="4320540"/>
            <a:ext cx="3588106" cy="32766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parent_event_id / trace_id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685386" y="4320540"/>
            <a:ext cx="6378854" cy="32766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chain across services and data transformations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1097280" y="4648200"/>
            <a:ext cx="3588106" cy="32766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policy_bundle_hash / consent_grant_id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685386" y="4648200"/>
            <a:ext cx="6378854" cy="32766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policy and consent decision governed the action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097280" y="4975860"/>
            <a:ext cx="3588106" cy="32766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evidence_hash / signed root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685386" y="4975860"/>
            <a:ext cx="6378854" cy="32766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Tamper evidence for audit handover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920240" y="5650992"/>
            <a:ext cx="8366760" cy="384048"/>
          </a:xfrm>
          <a:prstGeom prst="rect">
            <a:avLst/>
          </a:prstGeom>
          <a:solidFill>
            <a:srgbClr val="071017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value: audit becomes a generated artifact, not a scramble after the fact.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2F29C"/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82F29C">
              <a:alpha val="65000"/>
            </a:srgbClr>
          </a:solidFill>
          <a:ln w="12700">
            <a:solidFill>
              <a:srgbClr val="82F2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82F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27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security architecture: from prompt to proof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for enterprise AI must cover model access, tools, RAG, data lineage, guardrails, telemetry, and human review.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insignia.tech/capabilities/data-intelligence; insignia.tech/roster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11680" y="2377440"/>
            <a:ext cx="27432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6160" y="2377440"/>
            <a:ext cx="36576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0" y="2377440"/>
            <a:ext cx="27432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0" y="2377440"/>
            <a:ext cx="54864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95360" y="2377440"/>
            <a:ext cx="54864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2029968"/>
            <a:ext cx="1234440" cy="676656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app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2331720" y="2029968"/>
            <a:ext cx="1234440" cy="676656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gate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ABAC + consent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3977640" y="2029968"/>
            <a:ext cx="1234440" cy="676656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5532120" y="2029968"/>
            <a:ext cx="1234440" cy="676656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retrieval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aware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360920" y="2029968"/>
            <a:ext cx="1234440" cy="676656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use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scope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9189720" y="2029968"/>
            <a:ext cx="1234440" cy="676656"/>
          </a:xfrm>
          <a:prstGeom prst="rect">
            <a:avLst/>
          </a:prstGeom>
          <a:solidFill>
            <a:srgbClr val="101C26"/>
          </a:solidFill>
          <a:ln w="12700">
            <a:solidFill>
              <a:srgbClr val="FF5C7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 / guardrail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+ canary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822960" y="374904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Threats covered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" y="4133088"/>
            <a:ext cx="3246120" cy="12618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 injection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exfiltration through RAG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Over-permissive agent tools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Unlogged model calls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drift or unsafe outputs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Confused-deputy agent behavior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374904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480560" y="4133088"/>
            <a:ext cx="3246120" cy="12618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 isolation and versioning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 allowlists and purpose gates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RAG corpus classification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 harness and drift monitors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Human-in-the-loop where decisions are material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DLP and lineage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0" y="3749040"/>
            <a:ext cx="324612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138160" y="4133088"/>
            <a:ext cx="3246120" cy="126187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control checklist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inventory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RAG lineage map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Prompt/tool threat model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 report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Governance evidence pack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F6C945">
              <a:alpha val="65000"/>
            </a:srgbClr>
          </a:solidFill>
          <a:ln w="12700">
            <a:solidFill>
              <a:srgbClr val="F6C9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6C9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28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governance gate: MDM + ABAC + consent + DLP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pattern for high-consequence systems where access is not only identity-based but purpose-based.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68680" y="2011680"/>
            <a:ext cx="1920240" cy="685800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entity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MDM golden record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2880360"/>
            <a:ext cx="1920240" cy="685800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classification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· PHI · restricted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3749040"/>
            <a:ext cx="1920240" cy="685800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record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+ revocation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2788920"/>
            <a:ext cx="2057400" cy="822960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 / Cedar / ABAC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2788920" y="2350008"/>
            <a:ext cx="2148840" cy="667512"/>
          </a:xfrm>
          <a:prstGeom prst="line">
            <a:avLst/>
          </a:prstGeom>
          <a:noFill/>
          <a:ln w="11430">
            <a:solidFill>
              <a:srgbClr val="82F29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88920" y="3218688"/>
            <a:ext cx="2148840" cy="0"/>
          </a:xfrm>
          <a:prstGeom prst="line">
            <a:avLst/>
          </a:prstGeom>
          <a:noFill/>
          <a:ln w="11430">
            <a:solidFill>
              <a:srgbClr val="66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88920" y="4087368"/>
            <a:ext cx="2148840" cy="0"/>
          </a:xfrm>
          <a:prstGeom prst="line">
            <a:avLst/>
          </a:prstGeom>
          <a:noFill/>
          <a:ln w="11430">
            <a:solidFill>
              <a:srgbClr val="F6C94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32520" y="2788920"/>
            <a:ext cx="2057400" cy="822960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result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· deny · mask · step-up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040880" y="3200400"/>
            <a:ext cx="1645920" cy="0"/>
          </a:xfrm>
          <a:prstGeom prst="line">
            <a:avLst/>
          </a:prstGeom>
          <a:noFill/>
          <a:ln w="12700">
            <a:solidFill>
              <a:srgbClr val="2CE8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5074920"/>
            <a:ext cx="493776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outputs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68680" y="5458968"/>
            <a:ext cx="493776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Actor/resource/context attribute model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Purpose-of-use matrix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classification taxonomy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Masking and tokenization rules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Consent revocation and retention behavior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events with consent_grant_id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355080" y="5074920"/>
            <a:ext cx="493776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outputs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6355080" y="5458968"/>
            <a:ext cx="4937760" cy="48463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 review matrix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workflow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simulation and test suite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DLP rule tuning backlog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Regulatory evidence export</a:t>
            </a:r>
            <a:endParaRPr lang="en-US" sz="8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5C72"/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FF5C72">
              <a:alpha val="65000"/>
            </a:srgbClr>
          </a:solidFill>
          <a:ln w="12700">
            <a:solidFill>
              <a:srgbClr val="FF5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F5C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29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Privileged operations architecture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pattern for CyberArk-like PAM/POM, vault, secrets, break-glass, and audit-linked privileged activity.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sanitized internal DFR / architecture artifacts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65960" y="2331720"/>
            <a:ext cx="45720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03320" y="2331720"/>
            <a:ext cx="45720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40680" y="2331720"/>
            <a:ext cx="45720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78040" y="2331720"/>
            <a:ext cx="45720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15400" y="2331720"/>
            <a:ext cx="457200" cy="0"/>
          </a:xfrm>
          <a:prstGeom prst="line">
            <a:avLst/>
          </a:prstGeom>
          <a:noFill/>
          <a:ln w="11430">
            <a:solidFill>
              <a:srgbClr val="4157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2011680"/>
            <a:ext cx="12344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 · MFA · PIM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468880" y="2011680"/>
            <a:ext cx="12344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· scope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206240" y="2011680"/>
            <a:ext cx="12344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FF5C7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Vault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broker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5943600" y="2011680"/>
            <a:ext cx="12344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SSH/RDP/DB/K8s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7680960" y="2011680"/>
            <a:ext cx="12344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OTel · SIEM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418320" y="2011680"/>
            <a:ext cx="1234440" cy="640080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GRC export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60120" y="3291840"/>
            <a:ext cx="3160624" cy="342900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4120744" y="3291840"/>
            <a:ext cx="7034936" cy="342900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inspect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960120" y="3634740"/>
            <a:ext cx="3160624" cy="34290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vaulting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4120744" y="3634740"/>
            <a:ext cx="7034936" cy="34290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Shared/admin accounts, service accounts, rotation cadence, ownership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960120" y="3977640"/>
            <a:ext cx="3160624" cy="34290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JIT access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4120744" y="3977640"/>
            <a:ext cx="7034936" cy="34290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workflow, duration, scope, revocation behavior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960120" y="4320540"/>
            <a:ext cx="3160624" cy="34290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glass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4120744" y="4320540"/>
            <a:ext cx="7034936" cy="34290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workflow, business reason, reviewer attestation, post-action report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960120" y="4663440"/>
            <a:ext cx="3160624" cy="34290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in CI/CD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4120744" y="4663440"/>
            <a:ext cx="7034936" cy="34290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SOPS/Vault/External Secrets, cloud KMS, no long-lived tokens in repos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960120" y="5006340"/>
            <a:ext cx="3160624" cy="34290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audit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4120744" y="5006340"/>
            <a:ext cx="7034936" cy="34290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Command/session capture, SIEM link, privileged action register</a:t>
            </a:r>
            <a:endParaRPr lang="en-US" sz="8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AD8CFF"/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AD8CFF">
              <a:alpha val="65000"/>
            </a:srgbClr>
          </a:solidFill>
          <a:ln w="12700">
            <a:solidFill>
              <a:srgbClr val="AD8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A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30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and regulatory overlays we design against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Frameworks vary by industry; the engagement maps controls to the client’s real obligation, not a generic checklist.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1828800"/>
            <a:ext cx="2203704" cy="655320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798064" y="1828800"/>
            <a:ext cx="4958334" cy="655320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frameworks / regimes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56398" y="1828800"/>
            <a:ext cx="3856482" cy="655320"/>
          </a:xfrm>
          <a:prstGeom prst="rect">
            <a:avLst/>
          </a:prstGeom>
          <a:solidFill>
            <a:srgbClr val="101C26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Insignia output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94360" y="2484120"/>
            <a:ext cx="2203704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security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98064" y="2484120"/>
            <a:ext cx="4958334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 2 · ISO 27001 · NIST CSF · NIST 800-53 · NIST 800-207 · SLSA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56398" y="2484120"/>
            <a:ext cx="3856482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map · secure SDLC · evidence pack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" y="3139440"/>
            <a:ext cx="2203704" cy="65532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/ data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98064" y="3139440"/>
            <a:ext cx="4958334" cy="65532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 · CCPA/CPRA · ISO/IEC 29184 · records of processing · erasure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6398" y="3139440"/>
            <a:ext cx="3856482" cy="65532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ledger · DLP / classification · retention model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" y="3794760"/>
            <a:ext cx="2203704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98064" y="3794760"/>
            <a:ext cx="4958334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HIPAA · HITECH · HITRUST readiness · HL7/FHIR where relevant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56398" y="3794760"/>
            <a:ext cx="3856482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safeguards · audit logs · risk analysis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" y="4450080"/>
            <a:ext cx="2203704" cy="65532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/ regulated ops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98064" y="4450080"/>
            <a:ext cx="4958334" cy="65532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PCI-DSS v4.0 · SOX · audit evidence · change control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56398" y="4450080"/>
            <a:ext cx="3856482" cy="655320"/>
          </a:xfrm>
          <a:prstGeom prst="rect">
            <a:avLst/>
          </a:prstGeom>
          <a:solidFill>
            <a:srgbClr val="0B121B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matrix · privileged action register · change evidence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" y="5105400"/>
            <a:ext cx="2203704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98064" y="5105400"/>
            <a:ext cx="4958334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· EU AI Act readiness · model cards · eval and drift governance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756398" y="5105400"/>
            <a:ext cx="3856482" cy="655320"/>
          </a:xfrm>
          <a:prstGeom prst="rect">
            <a:avLst/>
          </a:prstGeom>
          <a:solidFill>
            <a:srgbClr val="0D1620"/>
          </a:solidFill>
          <a:ln w="6350">
            <a:solidFill>
              <a:srgbClr val="2A3B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control pack · eval report · lineage and monitoring plan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80160" y="5897880"/>
            <a:ext cx="9646920" cy="292608"/>
          </a:xfrm>
          <a:prstGeom prst="rect">
            <a:avLst/>
          </a:prstGeom>
          <a:solidFill>
            <a:srgbClr val="071017"/>
          </a:solidFill>
          <a:ln w="12700">
            <a:solidFill>
              <a:srgbClr val="41576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readiness support is not a certification claim. Audit authority remains with the client’s auditor or certification body.</a:t>
            </a:r>
            <a:endParaRPr lang="en-US" sz="8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31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deliverable and evidence pack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consulting engagements leave behind reusable control assets, not only a list of tickets.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insignia.tech/capabilities/security; insignia.tech/services/consulting-and-delivery; insignia.tech/work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1874520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risk summary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566160" y="1874520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Current-state architecture diagram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355080" y="1874520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FF5C7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model / attack paths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44000" y="1874520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gap matrix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77240" y="2999232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Remediation backlog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566160" y="2999232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register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355080" y="2999232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matrix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9144000" y="2999232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 / telemetry map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777240" y="4123944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AD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register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566160" y="4123944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66A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Runbooks and escalation paths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355080" y="4123944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82F29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Policy-as-code pack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144000" y="4123944"/>
            <a:ext cx="2423160" cy="749808"/>
          </a:xfrm>
          <a:prstGeom prst="rect">
            <a:avLst/>
          </a:prstGeom>
          <a:solidFill>
            <a:srgbClr val="101C26"/>
          </a:solidFill>
          <a:ln w="12700">
            <a:solidFill>
              <a:srgbClr val="F6C9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30/60/90 roadmap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960120" y="5577840"/>
            <a:ext cx="10332720" cy="475488"/>
          </a:xfrm>
          <a:prstGeom prst="rect">
            <a:avLst/>
          </a:prstGeom>
          <a:solidFill>
            <a:srgbClr val="0B121B"/>
          </a:solidFill>
          <a:ln w="12700">
            <a:solidFill>
              <a:srgbClr val="2CE8D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delivery lets buyers show progress to engineering, security, procurement, and audit stakeholders without translating every technical detail themselves.</a:t>
            </a:r>
            <a:endParaRPr lang="en-US" sz="11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2A3B45"/>
          </a:solidFill>
          <a:ln w="12700">
            <a:solidFill>
              <a:srgbClr val="2A3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0140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1112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30584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40312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50040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59768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969496" y="228600"/>
            <a:ext cx="32004" cy="32004"/>
          </a:xfrm>
          <a:prstGeom prst="rect">
            <a:avLst/>
          </a:prstGeom>
          <a:solidFill>
            <a:srgbClr val="2CE8D5">
              <a:alpha val="65000"/>
            </a:srgbClr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9456"/>
            <a:ext cx="1770278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4305" y="235549"/>
            <a:ext cx="48280" cy="217261"/>
          </a:xfrm>
          <a:prstGeom prst="rect">
            <a:avLst/>
          </a:prstGeom>
          <a:solidFill>
            <a:srgbClr val="2CE8D5"/>
          </a:solidFill>
          <a:ln w="12700">
            <a:solidFill>
              <a:srgbClr val="2CE8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585" y="235549"/>
            <a:ext cx="28164" cy="217261"/>
          </a:xfrm>
          <a:prstGeom prst="rect">
            <a:avLst/>
          </a:prstGeom>
          <a:solidFill>
            <a:srgbClr val="59A83B"/>
          </a:solidFill>
          <a:ln w="12700">
            <a:solidFill>
              <a:srgbClr val="59A8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713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2C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32 · CYBERSECURITY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next step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discovery and capability mapping phase converts interest into a safe first engagement.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6547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INSIGNIA · CYBERSECURITY CAPABILITY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33756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insignia.tech/; insignia.tech/capabilities/security; insignia.tech/roster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1828800"/>
            <a:ext cx="32918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sends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2212848"/>
            <a:ext cx="3291840" cy="15361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live cybersecurity requirement or target workstream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 timeline and procurement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Tool/environment context if available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Any client-specific compliance constraints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1828800"/>
            <a:ext cx="32918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Insignia returns in 24–48 hours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34840" y="2212848"/>
            <a:ext cx="3291840" cy="15361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Capability fit assessment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Suggested engagement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Profiles or pod 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Initial assumptions and risks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SOW outline and artifact list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1828800"/>
            <a:ext cx="3291840" cy="329184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first move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38160" y="2212848"/>
            <a:ext cx="3291840" cy="1536192"/>
          </a:xfrm>
          <a:prstGeom prst="rect">
            <a:avLst/>
          </a:prstGeom>
          <a:solidFill>
            <a:srgbClr val="0D1620"/>
          </a:solidFill>
          <a:ln w="7620">
            <a:solidFill>
              <a:srgbClr val="2A3B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2–3 week cybersecurity discovery + blueprint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Parallel shortlist for urgent profiles if needed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pod/sprint selected by business urgency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path to consulting or retainer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160520"/>
            <a:ext cx="10744200" cy="0"/>
          </a:xfrm>
          <a:prstGeom prst="line">
            <a:avLst/>
          </a:prstGeom>
          <a:noFill/>
          <a:ln w="10160">
            <a:solidFill>
              <a:srgbClr val="4157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4434840"/>
            <a:ext cx="10607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web sources: insignia.tech · /capabilities/security · /capabilities/engineering · /capabilities/data-intelligence · /services/consulting-and-delivery · /roster · /work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22960" y="4864608"/>
            <a:ext cx="10607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artifacts used internally: DFR Platform v1.9, DFR Android v20, DFR Go ingestion/presign, MayaVerse technical package, and sanitized platform/backend architecture synthesis.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1828800" y="5532120"/>
            <a:ext cx="8458200" cy="502920"/>
          </a:xfrm>
          <a:prstGeom prst="rect">
            <a:avLst/>
          </a:prstGeom>
          <a:solidFill>
            <a:srgbClr val="0B121B"/>
          </a:solidFill>
          <a:ln w="13970">
            <a:solidFill>
              <a:srgbClr val="2CE8D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“Staff augmentation is the doorway. Cybersecurity capability is the value.”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5425</Words>
  <Application>Microsoft Macintosh PowerPoint</Application>
  <PresentationFormat>Widescreen</PresentationFormat>
  <Paragraphs>888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Insignia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Insignia Cybersecurity Capability Deck</dc:title>
  <dc:subject>Cybersecurity Capability Deck</dc:subject>
  <dc:creator>Insignia</dc:creator>
  <cp:lastModifiedBy>Vivek Prakash Mishra</cp:lastModifiedBy>
  <cp:revision>5</cp:revision>
  <dcterms:created xsi:type="dcterms:W3CDTF">2026-06-08T23:21:22Z</dcterms:created>
  <dcterms:modified xsi:type="dcterms:W3CDTF">2026-06-09T00:20:34Z</dcterms:modified>
</cp:coreProperties>
</file>