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2926080"/>
            <a:ext cx="4572000" cy="4572000"/>
          </a:xfrm>
          <a:prstGeom prst="ellipse">
            <a:avLst/>
          </a:prstGeom>
          <a:solidFill>
            <a:srgbClr val="0E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7D3C4"/>
                </a:solidFill>
                <a:latin typeface="Segoe UI Semibold"/>
              </a:rPr>
              <a:t>INVESTOR &amp; CUSTOMER PITCH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ProjexCloud </a:t>
            </a:r>
            <a:r>
              <a:rPr sz="5400" b="1" i="0">
                <a:solidFill>
                  <a:srgbClr val="27D3C4"/>
                </a:solidFill>
                <a:latin typeface="Segoe UI"/>
              </a:rPr>
              <a:t>+ </a:t>
            </a:r>
            <a:r>
              <a:rPr sz="5400" b="1" i="0">
                <a:solidFill>
                  <a:srgbClr val="FFFFFF"/>
                </a:solidFill>
                <a:latin typeface="Segoe UI"/>
              </a:rPr>
              <a:t>Projexlight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788920"/>
            <a:ext cx="1280160" cy="64008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C9D4E6"/>
                </a:solidFill>
                <a:latin typeface="Segoe UI"/>
              </a:rPr>
              <a:t>The AI data backbone for robots &amp; smart factories 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C9D4E6"/>
                </a:solidFill>
                <a:latin typeface="Segoe UI"/>
              </a:rPr>
              <a:t>and the control plane for AI-generated software.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72000"/>
            <a:ext cx="7680960" cy="68580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7D3C4"/>
                </a:solidFill>
                <a:latin typeface="Segoe UI"/>
              </a:rPr>
              <a:t>Data backbone for robots.  Control plane for AI-generated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8A98B0"/>
                </a:solidFill>
                <a:latin typeface="Segoe UI"/>
              </a:rPr>
              <a:t>Not another coding agent — the layer that governs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7D3C4"/>
                </a:solidFill>
                <a:latin typeface="Segoe UI Semibold"/>
              </a:rPr>
              <a:t>THE PROBLEM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Robots and factories are AI-first — but the stack is broken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349240" cy="278892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9728" cy="2788920"/>
          </a:xfrm>
          <a:prstGeom prst="rect">
            <a:avLst/>
          </a:prstGeom>
          <a:solidFill>
            <a:srgbClr val="FF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B33E"/>
                </a:solidFill>
                <a:latin typeface="Segoe UI"/>
              </a:rPr>
              <a:t>Data chaos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C9D4E6"/>
                </a:solidFill>
                <a:latin typeface="Segoe UI"/>
              </a:rPr>
              <a:t>•  Robots, humanoids &amp; smart factories generate TB–PB of sensor and operational data.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C9D4E6"/>
                </a:solidFill>
                <a:latin typeface="Segoe UI"/>
              </a:rPr>
              <a:t>•  Most teams still rely on ad-hoc storage, scripts, and custom dashboards.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C9D4E6"/>
                </a:solidFill>
                <a:latin typeface="Segoe UI"/>
              </a:rPr>
              <a:t>•  No industrial-grade, multi-tenant backbone to land and govern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57400"/>
            <a:ext cx="5349240" cy="278892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2057400"/>
            <a:ext cx="109728" cy="2788920"/>
          </a:xfrm>
          <a:prstGeom prst="rect">
            <a:avLst/>
          </a:prstGeom>
          <a:solidFill>
            <a:srgbClr val="2E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E6BF0"/>
                </a:solidFill>
                <a:latin typeface="Segoe UI"/>
              </a:rPr>
              <a:t>Agent chaos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88036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C9D4E6"/>
                </a:solidFill>
                <a:latin typeface="Segoe UI"/>
              </a:rPr>
              <a:t>•  AI coding agents (Factory AI, Cursor, Claude CLI, Antigravity) write &amp; refactor code fast.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C9D4E6"/>
                </a:solidFill>
                <a:latin typeface="Segoe UI"/>
              </a:rPr>
              <a:t>•  Teams struggle to control their plans, validate output, and keep token costs predictable.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C9D4E6"/>
                </a:solidFill>
                <a:latin typeface="Segoe UI"/>
              </a:rPr>
              <a:t>•  Result: “AI spaghetti” — hidden duplication, logic drift, runaway spend.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20640"/>
            <a:ext cx="11018520" cy="1051560"/>
          </a:xfrm>
          <a:prstGeom prst="roundRect">
            <a:avLst/>
          </a:prstGeom>
          <a:solidFill>
            <a:srgbClr val="102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23036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Enterprises now need TWO things together:  </a:t>
            </a:r>
            <a:r>
              <a:rPr sz="1600" b="0" i="0">
                <a:solidFill>
                  <a:srgbClr val="27D3C4"/>
                </a:solidFill>
                <a:latin typeface="Segoe UI"/>
              </a:rPr>
              <a:t>an industrial-grade data backbone for robots &amp; factories  +  a control plane over AI-generated software — not just more agents.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8B0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8B0"/>
                </a:solidFill>
                <a:latin typeface="Segoe UI"/>
              </a:rPr>
              <a:t>ProjexCloud + Projexlight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7D3C4"/>
                </a:solidFill>
                <a:latin typeface="Segoe UI Semibold"/>
              </a:rPr>
              <a:t>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One governed path: from sensor stream to production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349240" cy="402336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49240" cy="109728"/>
          </a:xfrm>
          <a:prstGeom prst="rect">
            <a:avLst/>
          </a:prstGeom>
          <a:solidFill>
            <a:srgbClr val="2E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6BF0"/>
                </a:solidFill>
                <a:latin typeface="Segoe UI"/>
              </a:rPr>
              <a:t>DATA BACKBONE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ProjexCloud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83280"/>
            <a:ext cx="466344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C9D4E6"/>
                </a:solidFill>
                <a:latin typeface="Segoe UI"/>
              </a:rPr>
              <a:t>•  Multi-tenant, petabyte-ready data platform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C9D4E6"/>
                </a:solidFill>
                <a:latin typeface="Segoe UI"/>
              </a:rPr>
              <a:t>•  Tenants · projects · workspaces for fleets, plants &amp; OEMs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C9D4E6"/>
                </a:solidFill>
                <a:latin typeface="Segoe UI"/>
              </a:rPr>
              <a:t>•  ClickHouse analytics + pgvector embeddings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C9D4E6"/>
                </a:solidFill>
                <a:latin typeface="Segoe UI"/>
              </a:rPr>
              <a:t>•  Identity · metering · billing · tamper-evident audit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C9D4E6"/>
                </a:solidFill>
                <a:latin typeface="Segoe UI"/>
              </a:rPr>
              <a:t>•  AI Gateway with per-tenant keys &amp; guardrails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011680"/>
            <a:ext cx="5349240" cy="402336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2011680"/>
            <a:ext cx="5349240" cy="109728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22860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7D3C4"/>
                </a:solidFill>
                <a:latin typeface="Segoe UI"/>
              </a:rPr>
              <a:t>CONTROL PLANE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60604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Projexlight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383280"/>
            <a:ext cx="466344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C9D4E6"/>
                </a:solidFill>
                <a:latin typeface="Segoe UI"/>
              </a:rPr>
              <a:t>•  Sits on top of coding agents — drives &amp; governs them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C9D4E6"/>
                </a:solidFill>
                <a:latin typeface="Segoe UI"/>
              </a:rPr>
              <a:t>•  Blueprint-driven SDLC: features, APIs, BDD, acceptance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C9D4E6"/>
                </a:solidFill>
                <a:latin typeface="Segoe UI"/>
              </a:rPr>
              <a:t>•  Control at task · scenario · feature level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C9D4E6"/>
                </a:solidFill>
                <a:latin typeface="Segoe UI"/>
              </a:rPr>
              <a:t>•  Validates &amp; auto-fixes every change early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C9D4E6"/>
                </a:solidFill>
                <a:latin typeface="Segoe UI"/>
              </a:rPr>
              <a:t>•  Certification gates before customer 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56616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8B0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8B0"/>
                </a:solidFill>
                <a:latin typeface="Segoe UI"/>
              </a:rPr>
              <a:t>ProjexCloud + Projexlight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6BF0"/>
                </a:solidFill>
                <a:latin typeface="Segoe UI Semibold"/>
              </a:rPr>
              <a:t>ENGINE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ProjexCloud — AI data backbone for robots &amp; smart factories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394960" cy="182880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9728" cy="1828800"/>
          </a:xfrm>
          <a:prstGeom prst="rect">
            <a:avLst/>
          </a:prstGeom>
          <a:solidFill>
            <a:srgbClr val="2E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Multi-tenant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C9D4E6"/>
                </a:solidFill>
                <a:latin typeface="Segoe UI"/>
              </a:rPr>
              <a:t>Tenants, projects &amp; workspaces for robot fleets, plants and OEM customers — with strong isolation.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57400"/>
            <a:ext cx="5394960" cy="182880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2057400"/>
            <a:ext cx="109728" cy="1828800"/>
          </a:xfrm>
          <a:prstGeom prst="rect">
            <a:avLst/>
          </a:prstGeom>
          <a:solidFill>
            <a:srgbClr val="2E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2860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Petabyte-ready data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83464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C9D4E6"/>
                </a:solidFill>
                <a:latin typeface="Segoe UI"/>
              </a:rPr>
              <a:t>TB–PB multimodal storage: telemetry, video, logs &amp; events, with ClickHouse + pgvector for AI workloads.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5394960" cy="182880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109728" cy="1828800"/>
          </a:xfrm>
          <a:prstGeom prst="rect">
            <a:avLst/>
          </a:prstGeom>
          <a:solidFill>
            <a:srgbClr val="2E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Identity, metering, billing &amp;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C9D4E6"/>
                </a:solidFill>
                <a:latin typeface="Segoe UI"/>
              </a:rPr>
              <a:t>Per-robot / line / site / customer metering for Robot-as-a-Service; tamper-evident trails for safety &amp; recall.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114800"/>
            <a:ext cx="5394960" cy="182880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4114800"/>
            <a:ext cx="109728" cy="1828800"/>
          </a:xfrm>
          <a:prstGeom prst="rect">
            <a:avLst/>
          </a:prstGeom>
          <a:solidFill>
            <a:srgbClr val="2E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43434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AI Gateway with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89204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C9D4E6"/>
                </a:solidFill>
                <a:latin typeface="Segoe UI"/>
              </a:rPr>
              <a:t>One governed interface to Anthropic, OpenAI, Bedrock &amp; Gemini — per-tenant keys, logging and controls.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8B0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00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8B0"/>
                </a:solidFill>
                <a:latin typeface="Segoe UI"/>
              </a:rPr>
              <a:t>ProjexCloud + Projexlight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7D3C4"/>
                </a:solidFill>
                <a:latin typeface="Segoe UI Semibold"/>
              </a:rPr>
              <a:t>ENGINE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Projexlight — control plane for AI-generated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394960" cy="182880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9728" cy="1828800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Control plane on coding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C9D4E6"/>
                </a:solidFill>
                <a:latin typeface="Segoe UI"/>
              </a:rPr>
              <a:t>Integrates Cursor, Claude Code/CLI, Factory AI &amp; Antigravity as engines — Projexlight is the driver &amp; governor.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57400"/>
            <a:ext cx="5394960" cy="182880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2057400"/>
            <a:ext cx="109728" cy="1828800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2860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Blueprint-driven SDLC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83464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C9D4E6"/>
                </a:solidFill>
                <a:latin typeface="Segoe UI"/>
              </a:rPr>
              <a:t>Captures domain context as blueprints: features, APIs, services, BDD scenarios &amp; acceptance criteria.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5394960" cy="182880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109728" cy="1828800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Multi-level control, not prompt chaos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C9D4E6"/>
                </a:solidFill>
                <a:latin typeface="Segoe UI"/>
              </a:rPr>
              <a:t>Keeps a visible plan at task / scenario / feature level — runs tests &amp; BDD, auto-fixes issues early.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114800"/>
            <a:ext cx="5394960" cy="182880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4114800"/>
            <a:ext cx="109728" cy="1828800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43434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Certification gates for safe 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89204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C9D4E6"/>
                </a:solidFill>
                <a:latin typeface="Segoe UI"/>
              </a:rPr>
              <a:t>Architecture checks, test suites, BDD &amp; functional acceptance — before “certified customer release.”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8B0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00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8B0"/>
                </a:solidFill>
                <a:latin typeface="Segoe UI"/>
              </a:rPr>
              <a:t>ProjexCloud + Projexlight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7D3C4"/>
                </a:solidFill>
                <a:latin typeface="Segoe UI Semibold"/>
              </a:rPr>
              <a:t>WHY WE'RE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155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Not another coding agent — a control plane and a data backbone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874519" cy="603504"/>
          </a:xfrm>
          <a:prstGeom prst="rect">
            <a:avLst/>
          </a:prstGeom>
          <a:solidFill>
            <a:srgbClr val="0E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60019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Dimension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599" y="1828800"/>
            <a:ext cx="4572000" cy="603504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79191" y="1828800"/>
            <a:ext cx="4297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Factory AI · Cursor · Claude CLI · Antigravity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599" y="1828800"/>
            <a:ext cx="4572000" cy="603504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51191" y="1828800"/>
            <a:ext cx="4297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1F3A"/>
                </a:solidFill>
                <a:latin typeface="Segoe UI"/>
              </a:rPr>
              <a:t>ProjexCloud + Projexlight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32304"/>
            <a:ext cx="1874519" cy="60350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432304"/>
            <a:ext cx="160019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What it 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599" y="2432304"/>
            <a:ext cx="4572000" cy="603504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79191" y="2432304"/>
            <a:ext cx="4297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9D4E6"/>
                </a:solidFill>
                <a:latin typeface="Segoe UI"/>
              </a:rPr>
              <a:t>Coding agents that plan tasks &amp; generate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599" y="2432304"/>
            <a:ext cx="4572000" cy="603504"/>
          </a:xfrm>
          <a:prstGeom prst="rect">
            <a:avLst/>
          </a:prstGeom>
          <a:solidFill>
            <a:srgbClr val="10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86599" y="2432304"/>
            <a:ext cx="54864" cy="603504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51191" y="2432304"/>
            <a:ext cx="4297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Control plane that drives &amp; governs those agents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35808"/>
            <a:ext cx="1874519" cy="60350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035808"/>
            <a:ext cx="160019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Planning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599" y="3035808"/>
            <a:ext cx="4572000" cy="603504"/>
          </a:xfrm>
          <a:prstGeom prst="rect">
            <a:avLst/>
          </a:prstGeom>
          <a:solidFill>
            <a:srgbClr val="0D2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79191" y="3035808"/>
            <a:ext cx="4297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9D4E6"/>
                </a:solidFill>
                <a:latin typeface="Segoe UI"/>
              </a:rPr>
              <a:t>Agent invents its own opaque plan from prompts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599" y="3035808"/>
            <a:ext cx="4572000" cy="603504"/>
          </a:xfrm>
          <a:prstGeom prst="rect">
            <a:avLst/>
          </a:prstGeom>
          <a:solidFill>
            <a:srgbClr val="10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599" y="3035808"/>
            <a:ext cx="54864" cy="603504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51191" y="3035808"/>
            <a:ext cx="4297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Visible plan at task / scenario / feature level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639312"/>
            <a:ext cx="1874519" cy="60350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3639312"/>
            <a:ext cx="160019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Driving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599" y="3639312"/>
            <a:ext cx="4572000" cy="603504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79191" y="3639312"/>
            <a:ext cx="4297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9D4E6"/>
                </a:solidFill>
                <a:latin typeface="Segoe UI"/>
              </a:rPr>
              <a:t>Prompt-heavy — repeated manual prompting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599" y="3639312"/>
            <a:ext cx="4572000" cy="603504"/>
          </a:xfrm>
          <a:prstGeom prst="rect">
            <a:avLst/>
          </a:prstGeom>
          <a:solidFill>
            <a:srgbClr val="10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86599" y="3639312"/>
            <a:ext cx="54864" cy="603504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51191" y="3639312"/>
            <a:ext cx="4297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Prompt-light — structured blueprint instructions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242816"/>
            <a:ext cx="1874519" cy="60350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" y="4242816"/>
            <a:ext cx="160019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Validation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4599" y="4242816"/>
            <a:ext cx="4572000" cy="603504"/>
          </a:xfrm>
          <a:prstGeom prst="rect">
            <a:avLst/>
          </a:prstGeom>
          <a:solidFill>
            <a:srgbClr val="0D2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79191" y="4242816"/>
            <a:ext cx="4297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9D4E6"/>
                </a:solidFill>
                <a:latin typeface="Segoe UI"/>
              </a:rPr>
              <a:t>Issues surface later in QA or production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86599" y="4242816"/>
            <a:ext cx="4572000" cy="603504"/>
          </a:xfrm>
          <a:prstGeom prst="rect">
            <a:avLst/>
          </a:prstGeom>
          <a:solidFill>
            <a:srgbClr val="10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086599" y="4242816"/>
            <a:ext cx="54864" cy="603504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51191" y="4242816"/>
            <a:ext cx="4297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Tests + BDD + auto-fix on each unit before merge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846320"/>
            <a:ext cx="1874519" cy="60350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4672" y="4846320"/>
            <a:ext cx="160019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Token cost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599" y="4846320"/>
            <a:ext cx="4572000" cy="603504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79191" y="4846320"/>
            <a:ext cx="4297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9D4E6"/>
                </a:solidFill>
                <a:latin typeface="Segoe UI"/>
              </a:rPr>
              <a:t>Agent swarms → six-figure monthly bills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86599" y="4846320"/>
            <a:ext cx="4572000" cy="603504"/>
          </a:xfrm>
          <a:prstGeom prst="rect">
            <a:avLst/>
          </a:prstGeom>
          <a:solidFill>
            <a:srgbClr val="10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086599" y="4846320"/>
            <a:ext cx="54864" cy="603504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51191" y="4846320"/>
            <a:ext cx="4297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Controlled pipeline → far lower effective cost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449824"/>
            <a:ext cx="1874519" cy="60350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4672" y="5449824"/>
            <a:ext cx="160019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Focus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14599" y="5449824"/>
            <a:ext cx="4572000" cy="603504"/>
          </a:xfrm>
          <a:prstGeom prst="rect">
            <a:avLst/>
          </a:prstGeom>
          <a:solidFill>
            <a:srgbClr val="0D2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79191" y="5449824"/>
            <a:ext cx="4297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9D4E6"/>
                </a:solidFill>
                <a:latin typeface="Segoe UI"/>
              </a:rPr>
              <a:t>Generic software-dev productivity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86599" y="5449824"/>
            <a:ext cx="4572000" cy="603504"/>
          </a:xfrm>
          <a:prstGeom prst="rect">
            <a:avLst/>
          </a:prstGeom>
          <a:solidFill>
            <a:srgbClr val="10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086599" y="5449824"/>
            <a:ext cx="54864" cy="603504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51191" y="5449824"/>
            <a:ext cx="4297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Robotics, factories &amp; industrial multi-tenant SaaS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7D3C4"/>
                </a:solidFill>
                <a:latin typeface="Segoe UI"/>
              </a:rPr>
              <a:t>They are the engines. </a:t>
            </a:r>
            <a:r>
              <a:rPr sz="1500" b="0" i="0">
                <a:solidFill>
                  <a:srgbClr val="C9D4E6"/>
                </a:solidFill>
                <a:latin typeface="Segoe UI"/>
              </a:rPr>
              <a:t>Projexlight is the driver and governor — and ProjexCloud is the industrial data layer agents don't provide.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8B0"/>
                </a:solidFill>
                <a:latin typeface="Segoe U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00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8B0"/>
                </a:solidFill>
                <a:latin typeface="Segoe UI"/>
              </a:rPr>
              <a:t>ProjexCloud + Projexlight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B33E"/>
                </a:solidFill>
                <a:latin typeface="Segoe UI Semibold"/>
              </a:rPr>
              <a:t>THE HIDDEN COST OF AGENT SWARMS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Ungoverned agents don't just create risk — they burn cash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120640" cy="3200400"/>
          </a:xfrm>
          <a:prstGeom prst="roundRect">
            <a:avLst/>
          </a:prstGeom>
          <a:solidFill>
            <a:srgbClr val="2A1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5120640" cy="109728"/>
          </a:xfrm>
          <a:prstGeom prst="rect">
            <a:avLst/>
          </a:prstGeom>
          <a:solidFill>
            <a:srgbClr val="FF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B33E"/>
                </a:solidFill>
                <a:latin typeface="Segoe UI"/>
              </a:rPr>
              <a:t>REAL-WORLD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200" b="1" i="0">
                <a:solidFill>
                  <a:srgbClr val="FFFFFF"/>
                </a:solidFill>
                <a:latin typeface="Segoe UI"/>
              </a:rPr>
              <a:t>$200K</a:t>
            </a:r>
            <a:r>
              <a:rPr sz="2800" b="1" i="0">
                <a:solidFill>
                  <a:srgbClr val="FFB33E"/>
                </a:solidFill>
                <a:latin typeface="Segoe U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C9D4E6"/>
                </a:solidFill>
                <a:latin typeface="Segoe UI"/>
              </a:rPr>
              <a:t>≈ $2M per year in token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8A98B0"/>
                </a:solidFill>
                <a:latin typeface="Segoe UI"/>
              </a:rPr>
              <a:t>Reported by a Facebook AI developer — driven by 15–20 parallel agents, agent swarms and constant rework.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057400"/>
            <a:ext cx="5669280" cy="320040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89320" y="2057400"/>
            <a:ext cx="5669280" cy="109728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22860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7D3C4"/>
                </a:solidFill>
                <a:latin typeface="Segoe UI"/>
              </a:rPr>
              <a:t>How Projexlight keeps cost under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80360"/>
            <a:ext cx="51206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0">
                <a:solidFill>
                  <a:srgbClr val="C9D4E6"/>
                </a:solidFill>
                <a:latin typeface="Segoe UI"/>
              </a:rPr>
              <a:t>•  Orchestrates a controlled pipeline — not an agent swarm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0">
                <a:solidFill>
                  <a:srgbClr val="C9D4E6"/>
                </a:solidFill>
                <a:latin typeface="Segoe UI"/>
              </a:rPr>
              <a:t>•  Cuts rework with early validation &amp; auto-fix at task level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0">
                <a:solidFill>
                  <a:srgbClr val="C9D4E6"/>
                </a:solidFill>
                <a:latin typeface="Segoe UI"/>
              </a:rPr>
              <a:t>•  Encodes design into blueprints — not repeated prompts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0">
                <a:solidFill>
                  <a:srgbClr val="C9D4E6"/>
                </a:solidFill>
                <a:latin typeface="Segoe UI"/>
              </a:rPr>
              <a:t>•  Minimizes prompt churn and variance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0">
                <a:solidFill>
                  <a:srgbClr val="C9D4E6"/>
                </a:solidFill>
                <a:latin typeface="Segoe UI"/>
              </a:rPr>
              <a:t>•  Up to ~3× productivity by eliminating wasted cycles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Far lower effective token cost per developer</a:t>
            </a:r>
            <a:r>
              <a:rPr sz="1700" b="0" i="0">
                <a:solidFill>
                  <a:srgbClr val="C9D4E6"/>
                </a:solidFill>
                <a:latin typeface="Segoe UI"/>
              </a:rPr>
              <a:t>  vs. unmanaged multi-agent setups.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8B0"/>
                </a:solidFill>
                <a:latin typeface="Segoe U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8B0"/>
                </a:solidFill>
                <a:latin typeface="Segoe UI"/>
              </a:rPr>
              <a:t>ProjexCloud + Projexlight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7D3C4"/>
                </a:solidFill>
                <a:latin typeface="Segoe UI Semibold"/>
              </a:rPr>
              <a:t>COMBINED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From sensor data to production apps — one governed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697480" cy="274320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2697480" cy="109728"/>
          </a:xfrm>
          <a:prstGeom prst="rect">
            <a:avLst/>
          </a:prstGeom>
          <a:solidFill>
            <a:srgbClr val="2E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423160"/>
            <a:ext cx="640080" cy="640080"/>
          </a:xfrm>
          <a:prstGeom prst="ellipse">
            <a:avLst/>
          </a:prstGeom>
          <a:solidFill>
            <a:srgbClr val="2E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B1F3A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0332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9D4E6"/>
                </a:solidFill>
                <a:latin typeface="Segoe UI"/>
              </a:rPr>
              <a:t>Robot &amp; factory sensor streams land in ProjexCloud's petabyte-ready, multi-tenant backbone.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29184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B0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2148840"/>
            <a:ext cx="2697480" cy="274320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02152" y="2148840"/>
            <a:ext cx="2697480" cy="109728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822192" y="2423160"/>
            <a:ext cx="640080" cy="640080"/>
          </a:xfrm>
          <a:prstGeom prst="ellipse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22192" y="2432304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B1F3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2" y="32461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2" y="370332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9D4E6"/>
                </a:solidFill>
                <a:latin typeface="Segoe UI"/>
              </a:rPr>
              <a:t>AI models &amp; copilots run via the AI Gateway with guardrails, audit and per-tenant control.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329184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B0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2148840"/>
            <a:ext cx="2697480" cy="274320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64224" y="2148840"/>
            <a:ext cx="2697480" cy="109728"/>
          </a:xfrm>
          <a:prstGeom prst="rect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84264" y="2423160"/>
            <a:ext cx="640080" cy="640080"/>
          </a:xfrm>
          <a:prstGeom prst="ellipse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84264" y="2432304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B1F3A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4264" y="32461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4264" y="370332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9D4E6"/>
                </a:solidFill>
                <a:latin typeface="Segoe UI"/>
              </a:rPr>
              <a:t>Projexlight orchestrates agents to build ops consoles, quality portals &amp; maintenance apps.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329184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B0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26296" y="2148840"/>
            <a:ext cx="2697480" cy="274320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226296" y="2148840"/>
            <a:ext cx="2697480" cy="109728"/>
          </a:xfrm>
          <a:prstGeom prst="rect">
            <a:avLst/>
          </a:prstGeom>
          <a:solidFill>
            <a:srgbClr val="FF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546336" y="2423160"/>
            <a:ext cx="640080" cy="640080"/>
          </a:xfrm>
          <a:prstGeom prst="ellipse">
            <a:avLst/>
          </a:prstGeom>
          <a:solidFill>
            <a:srgbClr val="FF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46336" y="2432304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B1F3A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46336" y="32461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Certify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70332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9D4E6"/>
                </a:solidFill>
                <a:latin typeface="Segoe UI"/>
              </a:rPr>
              <a:t>Blueprints, tests &amp; certification gates ship governed, production-grade software.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212080"/>
            <a:ext cx="11018520" cy="960120"/>
          </a:xfrm>
          <a:prstGeom prst="roundRect">
            <a:avLst/>
          </a:prstGeom>
          <a:solidFill>
            <a:srgbClr val="102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32180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7D3C4"/>
                </a:solidFill>
                <a:latin typeface="Segoe UI"/>
              </a:rPr>
              <a:t>Ideal customers:  </a:t>
            </a:r>
            <a:r>
              <a:rPr sz="1500" b="0" i="0">
                <a:solidFill>
                  <a:srgbClr val="C9D4E6"/>
                </a:solidFill>
                <a:latin typeface="Segoe UI"/>
              </a:rPr>
              <a:t>Humanoid &amp; robotics OEMs (TB–PB multimodal data)  ·  smart-factory / industrial AI platforms  ·  Industry 4.0 innovation teams in large manufacturers.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8B0"/>
                </a:solidFill>
                <a:latin typeface="Segoe U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00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8B0"/>
                </a:solidFill>
                <a:latin typeface="Segoe UI"/>
              </a:rPr>
              <a:t>ProjexCloud + Projexlight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7D3C4"/>
                </a:solidFill>
                <a:latin typeface="Segoe UI Semibold"/>
              </a:rPr>
              <a:t>EXAMPLE VERTICAL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Where the two engines win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822960" cy="64008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566160" cy="338328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566160" cy="109728"/>
          </a:xfrm>
          <a:prstGeom prst="rect">
            <a:avLst/>
          </a:prstGeom>
          <a:solidFill>
            <a:srgbClr val="2E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Robot fleet backbone &amp;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6BF0"/>
                </a:solidFill>
                <a:latin typeface="Segoe UI"/>
              </a:rPr>
              <a:t>PROJEXCLOUD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033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9D4E6"/>
                </a:solidFill>
                <a:latin typeface="Segoe UI"/>
              </a:rPr>
              <a:t>ProjexCloud: sensor data, telemetry, per-fleet / per-customer metering &amp; audit.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5720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7D3C4"/>
                </a:solidFill>
                <a:latin typeface="Segoe UI"/>
              </a:rPr>
              <a:t>PROJEXLIGHT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9204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9D4E6"/>
                </a:solidFill>
                <a:latin typeface="Segoe UI"/>
              </a:rPr>
              <a:t>Projexlight: operations console, incident timeline &amp; OEM customer portal.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103120"/>
            <a:ext cx="3566160" cy="338328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2103120"/>
            <a:ext cx="3566160" cy="109728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90872" y="237744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Smart-factory quality &amp; traceability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3832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6BF0"/>
                </a:solidFill>
                <a:latin typeface="Segoe UI"/>
              </a:rPr>
              <a:t>PROJEXCLOUD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37033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9D4E6"/>
                </a:solidFill>
                <a:latin typeface="Segoe UI"/>
              </a:rPr>
              <a:t>ProjexCloud: unified production events &amp; sensor streams with tenant isolation &amp; audit.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45720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7D3C4"/>
                </a:solidFill>
                <a:latin typeface="Segoe UI"/>
              </a:rPr>
              <a:t>PROJEXLIGHT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489204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9D4E6"/>
                </a:solidFill>
                <a:latin typeface="Segoe UI"/>
              </a:rPr>
              <a:t>Projexlight: quality dashboards, defect analytics &amp; compliance reports.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4" y="2103120"/>
            <a:ext cx="3566160" cy="3383280"/>
          </a:xfrm>
          <a:prstGeom prst="round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01584" y="2103120"/>
            <a:ext cx="3566160" cy="109728"/>
          </a:xfrm>
          <a:prstGeom prst="rect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21624" y="237744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Predictive maintenance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3832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6BF0"/>
                </a:solidFill>
                <a:latin typeface="Segoe UI"/>
              </a:rPr>
              <a:t>PROJEXCLOUD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37033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9D4E6"/>
                </a:solidFill>
                <a:latin typeface="Segoe UI"/>
              </a:rPr>
              <a:t>ProjexCloud: time-series sensor data, maintenance events &amp; analytics.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45720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7D3C4"/>
                </a:solidFill>
                <a:latin typeface="Segoe UI"/>
              </a:rPr>
              <a:t>PROJEXLIGHT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489204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9D4E6"/>
                </a:solidFill>
                <a:latin typeface="Segoe UI"/>
              </a:rPr>
              <a:t>Projexlight: failure-prediction views, scheduling workflows &amp; alerts.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8B0"/>
                </a:solidFill>
                <a:latin typeface="Segoe UI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00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98B0"/>
                </a:solidFill>
                <a:latin typeface="Segoe UI"/>
              </a:rPr>
              <a:t>ProjexCloud + Projexlight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1828800"/>
            <a:ext cx="5486400" cy="5486400"/>
          </a:xfrm>
          <a:prstGeom prst="ellipse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7D3C4"/>
                </a:solidFill>
                <a:latin typeface="Segoe UI Semibold"/>
              </a:rPr>
              <a:t>CALL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Pilot with one fleet — or one factory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1280160" cy="64008"/>
          </a:xfrm>
          <a:prstGeom prst="rect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79192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Architecture + blueprint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081528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C9D4E6"/>
                </a:solidFill>
                <a:latin typeface="Segoe UI"/>
              </a:rPr>
              <a:t>Map your current stack and pinpoint opportunities in data, AI and application delivery.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639312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Stand up ProjexCloud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041648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C9D4E6"/>
                </a:solidFill>
                <a:latin typeface="Segoe UI"/>
              </a:rPr>
              <a:t>Your governed data backbone for one fleet or one factory line.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27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599432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Deliver with Projexlight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001768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C9D4E6"/>
                </a:solidFill>
                <a:latin typeface="Segoe UI"/>
              </a:rPr>
              <a:t>1–2 governed, production-grade apps on top — ops console, quality portal or maintenance dashboard.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7D3C4"/>
                </a:solidFill>
                <a:latin typeface="Segoe UI"/>
              </a:rPr>
              <a:t>60–90 day pilot.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943600"/>
            <a:ext cx="11018520" cy="685800"/>
          </a:xfrm>
          <a:prstGeom prst="roundRect">
            <a:avLst/>
          </a:prstGeom>
          <a:solidFill>
            <a:srgbClr val="102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9436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Building in robotics, humanoids or smart factories?  </a:t>
            </a:r>
            <a:r>
              <a:rPr sz="1600" b="1" i="0">
                <a:solidFill>
                  <a:srgbClr val="27D3C4"/>
                </a:solidFill>
                <a:latin typeface="Segoe UI"/>
              </a:rPr>
              <a:t>cloud.projexlight.com</a:t>
            </a:r>
            <a:r>
              <a:rPr sz="1600" b="0" i="0">
                <a:solidFill>
                  <a:srgbClr val="C9D4E6"/>
                </a:solidFill>
                <a:latin typeface="Segoe UI"/>
              </a:rPr>
              <a:t>   ·   Let's talk.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1098</Words>
  <Application>Microsoft Office PowerPoint</Application>
  <PresentationFormat>Widescreen</PresentationFormat>
  <Paragraphs>155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Srimanta Jana</cp:lastModifiedBy>
  <cp:revision>2</cp:revision>
  <dcterms:created xsi:type="dcterms:W3CDTF">2013-01-27T09:14:16Z</dcterms:created>
  <dcterms:modified xsi:type="dcterms:W3CDTF">2026-07-07T22:35:00Z</dcterms:modified>
  <cp:category/>
</cp:coreProperties>
</file>