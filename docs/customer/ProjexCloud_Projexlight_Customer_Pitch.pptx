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640080"/>
            <a:ext cx="7315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ProjexCloud  +  Projexlight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AI Infrastructure for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F74E8"/>
                </a:solidFill>
                <a:latin typeface="Segoe UI"/>
              </a:rPr>
              <a:t>Robotics &amp; Smart Factories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97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7D0E0"/>
                </a:solidFill>
                <a:latin typeface="Segoe UI"/>
              </a:rPr>
              <a:t>From terabytes of sensor data to governed, production-grade AI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B0C9"/>
                </a:solidFill>
                <a:latin typeface="Segoe UI"/>
              </a:rPr>
              <a:t>Customer Pitch  ·  cloud.projexlight.com  ·  www.projexlight.com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THE PROBLEM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The gap in robotics &amp; smart factories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Robots and machines generate massive multi-modal sensor data — video, LiDAR, IMU, force, logs — at terabyte-to-petabyte scale.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Most teams patch together ad-hoc storage and logging (S3 + Postgres), with poor lineage and no per-customer isolation.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AI coding tools are everywhere, but enterprises can't trust generated code without validation and governance.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1">
                <a:solidFill>
                  <a:srgbClr val="0B1220"/>
                </a:solidFill>
                <a:latin typeface="Segoe UI"/>
              </a:rPr>
              <a:t>The result: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5A6573"/>
                </a:solidFill>
                <a:latin typeface="Segoe UI"/>
              </a:rPr>
              <a:t>–  </a:t>
            </a:r>
            <a:r>
              <a:rPr sz="1500" b="0">
                <a:solidFill>
                  <a:srgbClr val="5A6573"/>
                </a:solidFill>
                <a:latin typeface="Segoe UI"/>
              </a:rPr>
              <a:t>Slow iteration cycles and fragile internal tools for operators and OEM customers.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5A6573"/>
                </a:solidFill>
                <a:latin typeface="Segoe UI"/>
              </a:rPr>
              <a:t>–  </a:t>
            </a:r>
            <a:r>
              <a:rPr sz="1500" b="0">
                <a:solidFill>
                  <a:srgbClr val="5A6573"/>
                </a:solidFill>
                <a:latin typeface="Segoe UI"/>
              </a:rPr>
              <a:t>Compliance and safety risk with no tamper-evident audit trail.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5A6573"/>
                </a:solidFill>
                <a:latin typeface="Segoe UI"/>
              </a:rPr>
              <a:t>–  </a:t>
            </a:r>
            <a:r>
              <a:rPr sz="1500" b="0">
                <a:solidFill>
                  <a:srgbClr val="5A6573"/>
                </a:solidFill>
                <a:latin typeface="Segoe UI"/>
              </a:rPr>
              <a:t>No turnkey metering or billing to monetize data and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WHY NOW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The market is moving to physical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566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566160" cy="10972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1C7"/>
                </a:solidFill>
                <a:latin typeface="Segoe UI"/>
              </a:rPr>
              <a:t>40%+ CAGR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A6573"/>
                </a:solidFill>
                <a:latin typeface="Segoe UI"/>
              </a:rPr>
              <a:t>Humanoid robot market growth — a multi-trillion-dollar opportunity by 2050.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1920240"/>
            <a:ext cx="3566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3712" y="1920240"/>
            <a:ext cx="3566160" cy="109728"/>
          </a:xfrm>
          <a:prstGeom prst="roundRect">
            <a:avLst/>
          </a:prstGeom>
          <a:solidFill>
            <a:srgbClr val="5A3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22402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5A3EC8"/>
                </a:solidFill>
                <a:latin typeface="Segoe UI"/>
              </a:rPr>
              <a:t>$Tens of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306324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A6573"/>
                </a:solidFill>
                <a:latin typeface="Segoe UI"/>
              </a:rPr>
              <a:t>Industrial robotics market today, still growing fast.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75904" y="1920240"/>
            <a:ext cx="3566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75904" y="1920240"/>
            <a:ext cx="3566160" cy="109728"/>
          </a:xfrm>
          <a:prstGeom prst="round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0224" y="22402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8A5B"/>
                </a:solidFill>
                <a:latin typeface="Segoe UI"/>
              </a:rPr>
              <a:t>Industry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306324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A6573"/>
                </a:solidFill>
                <a:latin typeface="Segoe UI"/>
              </a:rPr>
              <a:t>Smart factories need secure data backbones + AI apps, not just hardware.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1B2A44"/>
                </a:solidFill>
                <a:latin typeface="Segoe UI"/>
              </a:rPr>
              <a:t>Hardware is being commoditized. The durable advantage is the secured data backbone and the governed software that turns sensor data into operational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VISION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One governed path: from sensor to operator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468880"/>
            <a:ext cx="23225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Robots &amp; Factories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D7DCE4"/>
                </a:solidFill>
                <a:latin typeface="Segoe UI"/>
              </a:rPr>
              <a:t>Multi-modal sensor streams</a:t>
            </a:r>
          </a:p>
        </p:txBody>
      </p:sp>
      <p:sp>
        <p:nvSpPr>
          <p:cNvPr id="6" name="Chevron 5"/>
          <p:cNvSpPr/>
          <p:nvPr/>
        </p:nvSpPr>
        <p:spPr>
          <a:xfrm>
            <a:off x="3154680" y="2926080"/>
            <a:ext cx="502920" cy="457200"/>
          </a:xfrm>
          <a:prstGeom prst="chevron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49040" y="2468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22192" y="2468880"/>
            <a:ext cx="23225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ProjexCloud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D7DCE4"/>
                </a:solidFill>
                <a:latin typeface="Segoe UI"/>
              </a:rPr>
              <a:t>Secure, multi-tenant data backbone</a:t>
            </a:r>
          </a:p>
        </p:txBody>
      </p:sp>
      <p:sp>
        <p:nvSpPr>
          <p:cNvPr id="9" name="Chevron 8"/>
          <p:cNvSpPr/>
          <p:nvPr/>
        </p:nvSpPr>
        <p:spPr>
          <a:xfrm>
            <a:off x="6263640" y="2926080"/>
            <a:ext cx="502920" cy="457200"/>
          </a:xfrm>
          <a:prstGeom prst="chevron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24688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5A3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2468880"/>
            <a:ext cx="232257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Projexlight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D7DCE4"/>
                </a:solidFill>
                <a:latin typeface="Segoe UI"/>
              </a:rPr>
              <a:t>Governed AI app delivery</a:t>
            </a:r>
          </a:p>
        </p:txBody>
      </p:sp>
      <p:sp>
        <p:nvSpPr>
          <p:cNvPr id="12" name="Chevron 11"/>
          <p:cNvSpPr/>
          <p:nvPr/>
        </p:nvSpPr>
        <p:spPr>
          <a:xfrm>
            <a:off x="9372600" y="2926080"/>
            <a:ext cx="502920" cy="457200"/>
          </a:xfrm>
          <a:prstGeom prst="chevron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0" y="2468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0112" y="2468880"/>
            <a:ext cx="223113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Operators &amp; OEMs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D7DCE4"/>
                </a:solidFill>
                <a:latin typeface="Segoe UI"/>
              </a:rPr>
              <a:t>Trusted apps &amp; copilots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10698480" cy="2011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900"/>
              </a:spcAft>
            </a:pPr>
            <a:r>
              <a:rPr sz="15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550" b="0">
                <a:solidFill>
                  <a:srgbClr val="1B2A44"/>
                </a:solidFill>
                <a:latin typeface="Segoe UI"/>
              </a:rPr>
              <a:t>Every robot and factory line streams into a secure, multi-tenant cloud backbone.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900"/>
              </a:spcAft>
            </a:pPr>
            <a:r>
              <a:rPr sz="15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550" b="0">
                <a:solidFill>
                  <a:srgbClr val="1B2A44"/>
                </a:solidFill>
                <a:latin typeface="Segoe UI"/>
              </a:rPr>
              <a:t>AI models and copilots are trained and run on that data under full governance and validation.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900"/>
              </a:spcAft>
            </a:pPr>
            <a:r>
              <a:rPr sz="15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550" b="0">
                <a:solidFill>
                  <a:srgbClr val="1B2A44"/>
                </a:solidFill>
                <a:latin typeface="Segoe UI"/>
              </a:rPr>
              <a:t>Operators, engineers, and OEM customers use production-grade apps that are continuously tested — not hand-stitched.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PRODUCT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ProjexCloud: the data backbone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0288" y="566928"/>
            <a:ext cx="1664207" cy="310896"/>
          </a:xfrm>
          <a:prstGeom prst="roundRect">
            <a:avLst>
              <a:gd name="adj" fmla="val 50000"/>
            </a:avLst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70288" y="566928"/>
            <a:ext cx="16642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ProjexCloud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Built for multi-tenant SaaS — tenants, projects, and workspaces with strong identity and isolation.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Petabyte-scale architecture for sensor and application data: ClickHouse analytics + pgvector embeddings.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Metering &amp; billing for Robot-as-a-Service, site-based pricing, and per-customer usage reporting.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AI Gateway to manage LLMs and vision models — one API across providers, with audit on every call.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Tamper-evident audit for every sensor write and model inference — critical for safety and recalls.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PRODUCT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Projexlight: the AI delivery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70288" y="566928"/>
            <a:ext cx="1664207" cy="310896"/>
          </a:xfrm>
          <a:prstGeom prst="roundRect">
            <a:avLst>
              <a:gd name="adj" fmla="val 50000"/>
            </a:avLst>
          </a:prstGeom>
          <a:solidFill>
            <a:srgbClr val="5A3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70288" y="566928"/>
            <a:ext cx="16642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Projexlight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Generates delivery blueprints from your domain context: requirements, APIs, services, and BDD tests.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Works with the AI coding tools you already use (Cursor, Copilot, Claude Code) — Projexlight keeps the blueprint and the validation.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Validates everything in parallel: automated tests, API validation, and full traceability from requirement to deployment.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1">
                <a:solidFill>
                  <a:srgbClr val="0B1220"/>
                </a:solidFill>
                <a:latin typeface="Segoe UI"/>
              </a:rPr>
              <a:t>Turns AI-generated code from a liability into a governed, auditable asset.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ARCHITECTURE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How they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99471" y="56692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99471" y="566928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Combined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011680"/>
            <a:ext cx="9601200" cy="11430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8869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Experience Layer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D7DCE4"/>
                </a:solidFill>
                <a:latin typeface="Segoe UI"/>
              </a:rPr>
              <a:t>Operator consoles · quality &amp; billing portals · AI copilots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337560"/>
            <a:ext cx="9601200" cy="1143000"/>
          </a:xfrm>
          <a:prstGeom prst="roundRect">
            <a:avLst/>
          </a:prstGeom>
          <a:solidFill>
            <a:srgbClr val="5A3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37560"/>
            <a:ext cx="8869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Intelligence &amp; Governance — Projexlight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D7DCE4"/>
                </a:solidFill>
                <a:latin typeface="Segoe UI"/>
              </a:rPr>
              <a:t>Blueprints · code generation · BDD · validation · traceability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663440"/>
            <a:ext cx="9601200" cy="1143000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663440"/>
            <a:ext cx="8869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Data Layer — ProjexCloud</a:t>
            </a:r>
          </a:p>
          <a:p>
            <a:pPr algn="l">
              <a:spcBef>
                <a:spcPts val="300"/>
              </a:spcBef>
            </a:pPr>
            <a:r>
              <a:rPr sz="1250" b="0" i="0">
                <a:solidFill>
                  <a:srgbClr val="D7DCE4"/>
                </a:solidFill>
                <a:latin typeface="Segoe UI"/>
              </a:rPr>
              <a:t>Multi-tenant tenants/projects · storage · analytics · AI Gateway · metering ·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5A6573"/>
                </a:solidFill>
                <a:latin typeface="Segoe UI"/>
              </a:rPr>
              <a:t>Fleets, plants, and OEM customers map cleanly onto tenants — one stack, end to 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VERTICAL · HUMANOID &amp; ROBOTICS OEMS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Fleet data and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99471" y="56692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99471" y="566928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Combined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1">
                <a:solidFill>
                  <a:srgbClr val="0B1220"/>
                </a:solidFill>
                <a:latin typeface="Segoe UI"/>
              </a:rPr>
              <a:t>Today's pain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450" b="1">
                <a:solidFill>
                  <a:srgbClr val="5A6573"/>
                </a:solidFill>
                <a:latin typeface="Segoe UI"/>
              </a:rPr>
              <a:t>–  </a:t>
            </a:r>
            <a:r>
              <a:rPr sz="1450" b="0">
                <a:solidFill>
                  <a:srgbClr val="5A6573"/>
                </a:solidFill>
                <a:latin typeface="Segoe UI"/>
              </a:rPr>
              <a:t>TB–PB of multimodal data, fragile fleet logging, custom portals per customer, and ungoverned AI-generated code.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0">
                <a:solidFill>
                  <a:srgbClr val="1B2A44"/>
                </a:solidFill>
                <a:latin typeface="Segoe UI"/>
              </a:rPr>
              <a:t>ProjexCloud  —  fleet data backbone with multi-tenant isolation, analytics, AI Gateway, and usage metering per robot, site, or customer.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0">
                <a:solidFill>
                  <a:srgbClr val="1B2A44"/>
                </a:solidFill>
                <a:latin typeface="Segoe UI"/>
              </a:rPr>
              <a:t>Projexlight  —  governed delivery of fleet operations consoles, incident timelines, and internal tools.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F8A5B"/>
                </a:solidFill>
                <a:latin typeface="Segoe UI"/>
              </a:rPr>
              <a:t>✓  </a:t>
            </a:r>
            <a:r>
              <a:rPr sz="1600" b="0">
                <a:solidFill>
                  <a:srgbClr val="1F8A5B"/>
                </a:solidFill>
                <a:latin typeface="Segoe UI"/>
              </a:rPr>
              <a:t>Outcome: faster robot iteration, safer releases, and production-grade portals for OEM customers.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VERTICAL · WAREHOUSE &amp; LOGISTICS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Throughput &amp; downtime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99471" y="56692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99471" y="566928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Combined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1">
                <a:solidFill>
                  <a:srgbClr val="0B1220"/>
                </a:solidFill>
                <a:latin typeface="Segoe UI"/>
              </a:rPr>
              <a:t>Today's pain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450" b="1">
                <a:solidFill>
                  <a:srgbClr val="5A6573"/>
                </a:solidFill>
                <a:latin typeface="Segoe UI"/>
              </a:rPr>
              <a:t>–  </a:t>
            </a:r>
            <a:r>
              <a:rPr sz="1450" b="0">
                <a:solidFill>
                  <a:srgbClr val="5A6573"/>
                </a:solidFill>
                <a:latin typeface="Segoe UI"/>
              </a:rPr>
              <a:t>Multiple sites, fragmented telemetry, limited visibility into downtime root causes, and ad-hoc dashboards.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0">
                <a:solidFill>
                  <a:srgbClr val="1B2A44"/>
                </a:solidFill>
                <a:latin typeface="Segoe UI"/>
              </a:rPr>
              <a:t>ProjexCloud  —  ingest and store telemetry, incidents, and SLA data per site and customer with precise metering.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0">
                <a:solidFill>
                  <a:srgbClr val="1B2A44"/>
                </a:solidFill>
                <a:latin typeface="Segoe UI"/>
              </a:rPr>
              <a:t>Projexlight  —  operations dashboards, incident timelines, SLA views, and alert workflows — governed end to end.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F8A5B"/>
                </a:solidFill>
                <a:latin typeface="Segoe UI"/>
              </a:rPr>
              <a:t>✓  </a:t>
            </a:r>
            <a:r>
              <a:rPr sz="1600" b="0">
                <a:solidFill>
                  <a:srgbClr val="1F8A5B"/>
                </a:solidFill>
                <a:latin typeface="Segoe UI"/>
              </a:rPr>
              <a:t>Outcome: quantifiable throughput gains and SLA compliance, tracked in one governed stack.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VERTICAL · SMART FACTORY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Quality &amp; traceability on sensor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99471" y="56692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99471" y="566928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Combined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1">
                <a:solidFill>
                  <a:srgbClr val="0B1220"/>
                </a:solidFill>
                <a:latin typeface="Segoe UI"/>
              </a:rPr>
              <a:t>Today's pain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450" b="1">
                <a:solidFill>
                  <a:srgbClr val="5A6573"/>
                </a:solidFill>
                <a:latin typeface="Segoe UI"/>
              </a:rPr>
              <a:t>–  </a:t>
            </a:r>
            <a:r>
              <a:rPr sz="1450" b="0">
                <a:solidFill>
                  <a:srgbClr val="5A6573"/>
                </a:solidFill>
                <a:latin typeface="Segoe UI"/>
              </a:rPr>
              <a:t>Disconnected quality systems, underused sensor data, and manual compliance/audit across lines and plants.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0">
                <a:solidFill>
                  <a:srgbClr val="1B2A44"/>
                </a:solidFill>
                <a:latin typeface="Segoe UI"/>
              </a:rPr>
              <a:t>ProjexCloud  —  production events, process parameters, and sensor readings with tenant isolation and tamper-evident audit.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0">
                <a:solidFill>
                  <a:srgbClr val="1B2A44"/>
                </a:solidFill>
                <a:latin typeface="Segoe UI"/>
              </a:rPr>
              <a:t>Projexlight  —  quality portals, defect analytics, and compliance reports tied to BDD tests and requirements traceability.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F8A5B"/>
                </a:solidFill>
                <a:latin typeface="Segoe UI"/>
              </a:rPr>
              <a:t>✓  </a:t>
            </a:r>
            <a:r>
              <a:rPr sz="1600" b="0">
                <a:solidFill>
                  <a:srgbClr val="1F8A5B"/>
                </a:solidFill>
                <a:latin typeface="Segoe UI"/>
              </a:rPr>
              <a:t>Outcome: audit-ready traceability and defect reduction from AI applications you can trust.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VERTICAL · HEAVY MANUFACTURING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Predictive maintenance from sensor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99471" y="56692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99471" y="566928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Combined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1">
                <a:solidFill>
                  <a:srgbClr val="0B1220"/>
                </a:solidFill>
                <a:latin typeface="Segoe UI"/>
              </a:rPr>
              <a:t>Today's pain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450" b="1">
                <a:solidFill>
                  <a:srgbClr val="5A6573"/>
                </a:solidFill>
                <a:latin typeface="Segoe UI"/>
              </a:rPr>
              <a:t>–  </a:t>
            </a:r>
            <a:r>
              <a:rPr sz="1450" b="0">
                <a:solidFill>
                  <a:srgbClr val="5A6573"/>
                </a:solidFill>
                <a:latin typeface="Segoe UI"/>
              </a:rPr>
              <a:t>Expensive unplanned downtime, raw sensor feeds underused, and scattered maintenance workflows.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0">
                <a:solidFill>
                  <a:srgbClr val="1B2A44"/>
                </a:solidFill>
                <a:latin typeface="Segoe UI"/>
              </a:rPr>
              <a:t>ProjexCloud  —  time-series sensor data, work orders, and event logs in one tenant-aware platform per plant or asset group.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00" b="0">
                <a:solidFill>
                  <a:srgbClr val="1B2A44"/>
                </a:solidFill>
                <a:latin typeface="Segoe UI"/>
              </a:rPr>
              <a:t>Projexlight  —  maintenance dashboards, failure-prediction insights, and scheduling workflows — built and validated on that data.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200"/>
              </a:spcAft>
            </a:pPr>
            <a:r>
              <a:rPr sz="1600" b="1">
                <a:solidFill>
                  <a:srgbClr val="1F8A5B"/>
                </a:solidFill>
                <a:latin typeface="Segoe UI"/>
              </a:rPr>
              <a:t>✓  </a:t>
            </a:r>
            <a:r>
              <a:rPr sz="1600" b="0">
                <a:solidFill>
                  <a:srgbClr val="1F8A5B"/>
                </a:solidFill>
                <a:latin typeface="Segoe UI"/>
              </a:rPr>
              <a:t>Outcome: measurable reduction in downtime and maintenance cost with a governed delivery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FLAGSHIP OFFER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Offer 1 — Foundational Data + Apps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99471" y="56692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99471" y="566928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Combined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ProjexCloud: onboard sensor &amp; operational data, tenant setup, AI Gateway, metering, and audit for 1 fleet or 1–2 plants.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Projexlight: blueprint + delivery of 1–2 production-grade applications (e.g., operations console + quality dashboard).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1">
                <a:solidFill>
                  <a:srgbClr val="0B1220"/>
                </a:solidFill>
                <a:latin typeface="Segoe UI"/>
              </a:rPr>
              <a:t>Delivered in 60–90 days: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5A6573"/>
                </a:solidFill>
                <a:latin typeface="Segoe UI"/>
              </a:rPr>
              <a:t>–  </a:t>
            </a:r>
            <a:r>
              <a:rPr sz="1500" b="0">
                <a:solidFill>
                  <a:srgbClr val="5A6573"/>
                </a:solidFill>
                <a:latin typeface="Segoe UI"/>
              </a:rPr>
              <a:t>Days 0–30 — data onboarding + blueprint and requirements capture.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5A6573"/>
                </a:solidFill>
                <a:latin typeface="Segoe UI"/>
              </a:rPr>
              <a:t>–  </a:t>
            </a:r>
            <a:r>
              <a:rPr sz="1500" b="0">
                <a:solidFill>
                  <a:srgbClr val="5A6573"/>
                </a:solidFill>
                <a:latin typeface="Segoe UI"/>
              </a:rPr>
              <a:t>Days 30–60 — first app built, integrated, and validated via BDD + automated tests.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5A6573"/>
                </a:solidFill>
                <a:latin typeface="Segoe UI"/>
              </a:rPr>
              <a:t>–  </a:t>
            </a:r>
            <a:r>
              <a:rPr sz="1500" b="0">
                <a:solidFill>
                  <a:srgbClr val="5A6573"/>
                </a:solidFill>
                <a:latin typeface="Segoe UI"/>
              </a:rPr>
              <a:t>Days 60–90 — second app / additional workflows; rollout to more sites or fleets.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FLEXIBLE ENGAGEMENT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Two more ways to 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2120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212080" cy="10972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1C7"/>
                </a:solidFill>
                <a:latin typeface="Segoe UI"/>
              </a:rPr>
              <a:t>OFFER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78023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220"/>
                </a:solidFill>
                <a:latin typeface="Segoe UI"/>
              </a:rPr>
              <a:t>Bring your data,
we build governed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46119"/>
            <a:ext cx="45720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300">
                <a:solidFill>
                  <a:srgbClr val="1A51C7"/>
                </a:solidFill>
                <a:latin typeface="Segoe UI"/>
              </a:rPr>
              <a:t>●  </a:t>
            </a:r>
            <a:r>
              <a:rPr sz="1350">
                <a:solidFill>
                  <a:srgbClr val="1B2A44"/>
                </a:solidFill>
                <a:latin typeface="Segoe UI"/>
              </a:rPr>
              <a:t>For teams already collecting data (S3, time-series DBs, existing clouds).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300">
                <a:solidFill>
                  <a:srgbClr val="1A51C7"/>
                </a:solidFill>
                <a:latin typeface="Segoe UI"/>
              </a:rPr>
              <a:t>●  </a:t>
            </a:r>
            <a:r>
              <a:rPr sz="1350">
                <a:solidFill>
                  <a:srgbClr val="1B2A44"/>
                </a:solidFill>
                <a:latin typeface="Segoe UI"/>
              </a:rPr>
              <a:t>Projexlight leads: blueprint, gap analysis, and validated AI delivery on your existing infra.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300">
                <a:solidFill>
                  <a:srgbClr val="1A51C7"/>
                </a:solidFill>
                <a:latin typeface="Segoe UI"/>
              </a:rPr>
              <a:t>●  </a:t>
            </a:r>
            <a:r>
              <a:rPr sz="1350">
                <a:solidFill>
                  <a:srgbClr val="1B2A44"/>
                </a:solidFill>
                <a:latin typeface="Segoe UI"/>
              </a:rPr>
              <a:t>ProjexCloud becomes the recommended backbone when sensor scale or multi-tenancy becomes the constraint.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2120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212080" cy="10972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1C7"/>
                </a:solidFill>
                <a:latin typeface="Segoe UI"/>
              </a:rPr>
              <a:t>OFFER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78023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220"/>
                </a:solidFill>
                <a:latin typeface="Segoe UI"/>
              </a:rPr>
              <a:t>Bring your apps,
we upgrade your data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46119"/>
            <a:ext cx="45720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300">
                <a:solidFill>
                  <a:srgbClr val="1A51C7"/>
                </a:solidFill>
                <a:latin typeface="Segoe UI"/>
              </a:rPr>
              <a:t>●  </a:t>
            </a:r>
            <a:r>
              <a:rPr sz="1350">
                <a:solidFill>
                  <a:srgbClr val="1B2A44"/>
                </a:solidFill>
                <a:latin typeface="Segoe UI"/>
              </a:rPr>
              <a:t>For teams with working tools but a weak multi-tenant data backbone.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300">
                <a:solidFill>
                  <a:srgbClr val="1A51C7"/>
                </a:solidFill>
                <a:latin typeface="Segoe UI"/>
              </a:rPr>
              <a:t>●  </a:t>
            </a:r>
            <a:r>
              <a:rPr sz="1350">
                <a:solidFill>
                  <a:srgbClr val="1B2A44"/>
                </a:solidFill>
                <a:latin typeface="Segoe UI"/>
              </a:rPr>
              <a:t>ProjexCloud: migrate key data into multi-tenant, metered, auditable storage with AI Gateway.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b="1" sz="1300">
                <a:solidFill>
                  <a:srgbClr val="1A51C7"/>
                </a:solidFill>
                <a:latin typeface="Segoe UI"/>
              </a:rPr>
              <a:t>●  </a:t>
            </a:r>
            <a:r>
              <a:rPr sz="1350">
                <a:solidFill>
                  <a:srgbClr val="1B2A44"/>
                </a:solidFill>
                <a:latin typeface="Segoe UI"/>
              </a:rPr>
              <a:t>Projexlight: progressively refactor and govern high-risk, AI-touched modules via blueprints + BDD.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HOW WE ENGAGE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Implementation: a 0–90 day 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566160" cy="274320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566160" cy="640080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566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0–30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Segoe UI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573"/>
                </a:solidFill>
                <a:latin typeface="Segoe UI"/>
              </a:rPr>
              <a:t>Architecture workshop · data onboarding to ProjexCloud · Projexlight blueprint &amp; requirements capture.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2103120"/>
            <a:ext cx="3566160" cy="274320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2103120"/>
            <a:ext cx="3566160" cy="640080"/>
          </a:xfrm>
          <a:prstGeom prst="roundRect">
            <a:avLst/>
          </a:prstGeom>
          <a:solidFill>
            <a:srgbClr val="5A3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103120"/>
            <a:ext cx="3566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30–60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971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Segoe UI"/>
              </a:rPr>
              <a:t>First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347472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573"/>
                </a:solidFill>
                <a:latin typeface="Segoe UI"/>
              </a:rPr>
              <a:t>First app built, integrated with your robots/factories, and validated via BDD + automated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75904" y="2103120"/>
            <a:ext cx="3566160" cy="274320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75904" y="2103120"/>
            <a:ext cx="3566160" cy="640080"/>
          </a:xfrm>
          <a:prstGeom prst="round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2103120"/>
            <a:ext cx="3566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60–90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2971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Segoe UI"/>
              </a:rPr>
              <a:t>Scale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347472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573"/>
                </a:solidFill>
                <a:latin typeface="Segoe UI"/>
              </a:rPr>
              <a:t>Expand to second app / workflows · refine dashboards · release to more sites or fleets.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PROOF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The results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2–3× faster delivery cycles vs. traditional development, based on prior Projexlight projects.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Significant QA and defect reduction from BDD and continuous validation.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1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1">
                <a:solidFill>
                  <a:srgbClr val="0B1220"/>
                </a:solidFill>
                <a:latin typeface="Segoe UI"/>
              </a:rPr>
              <a:t>For robotics &amp; factories, target outcomes: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5A6573"/>
                </a:solidFill>
                <a:latin typeface="Segoe UI"/>
              </a:rPr>
              <a:t>–  </a:t>
            </a:r>
            <a:r>
              <a:rPr sz="1500" b="0">
                <a:solidFill>
                  <a:srgbClr val="5A6573"/>
                </a:solidFill>
                <a:latin typeface="Segoe UI"/>
              </a:rPr>
              <a:t>Reduced unplanned downtime and faster robot iteration cycles.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5A6573"/>
                </a:solidFill>
                <a:latin typeface="Segoe UI"/>
              </a:rPr>
              <a:t>–  </a:t>
            </a:r>
            <a:r>
              <a:rPr sz="1500" b="0">
                <a:solidFill>
                  <a:srgbClr val="5A6573"/>
                </a:solidFill>
                <a:latin typeface="Segoe UI"/>
              </a:rPr>
              <a:t>Stronger compliance and audit posture for safety-critical operations.</a:t>
            </a:r>
          </a:p>
          <a:p>
            <a:pPr marL="32004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5A6573"/>
                </a:solidFill>
                <a:latin typeface="Segoe UI"/>
              </a:rPr>
              <a:t>–  </a:t>
            </a:r>
            <a:r>
              <a:rPr sz="1500" b="0">
                <a:solidFill>
                  <a:srgbClr val="5A6573"/>
                </a:solidFill>
                <a:latin typeface="Segoe UI"/>
              </a:rPr>
              <a:t>New revenue from usage-based billing of data and analytics to your own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A6573"/>
                </a:solidFill>
                <a:latin typeface="Segoe UI"/>
              </a:rPr>
              <a:t>Representative pattern — we co-build measurable case studies with our first design partners.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COMMERCIALS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Business model &amp; pricing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99471" y="56692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99471" y="566928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Combined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Platform fee — based on data volume (per TB), active robots / lines / sites, and AI Gateway + API usage.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Implementation fee — blueprint plus the initial 1–2 applications, with optional value-based components.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Flexible deployment — cloud-hosted multi-tenant, or dedicated/VPC environments for larger enterprises.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Three tiers — Build (early-stage), Scale (Series B+ / platforms), and Enterprise (private cloud, SLAs, joint roadmap).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86868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51C7"/>
                </a:solidFill>
                <a:latin typeface="Segoe UI"/>
              </a:rPr>
              <a:t>WHY US</a:t>
            </a:r>
          </a:p>
          <a:p>
            <a:pPr algn="l"/>
            <a:r>
              <a:rPr sz="3000" b="1" i="0">
                <a:solidFill>
                  <a:srgbClr val="0B1220"/>
                </a:solidFill>
                <a:latin typeface="Segoe UI"/>
              </a:rPr>
              <a:t>Why ProjexCloud + Projexlight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99471" y="566928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99471" y="566928"/>
            <a:ext cx="13350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Combined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Purpose-built for multi-tenant SaaS and AI-software governance — not retrofitted legacy tooling.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One stack covers the whole problem: secure data backbone and governed application delivery.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Architected for petabyte scale from day one — ready for the next generation of physical AI.</a:t>
            </a:r>
          </a:p>
          <a:p>
            <a:pPr marL="0">
              <a:lnSpc>
                <a:spcPct val="105000"/>
              </a:lnSpc>
              <a:spcBef>
                <a:spcPts val="200"/>
              </a:spcBef>
              <a:spcAft>
                <a:spcPts val="1400"/>
              </a:spcAft>
            </a:pPr>
            <a:r>
              <a:rPr sz="1650" b="1">
                <a:solidFill>
                  <a:srgbClr val="1A51C7"/>
                </a:solidFill>
                <a:latin typeface="Segoe UI"/>
              </a:rPr>
              <a:t>●  </a:t>
            </a:r>
            <a:r>
              <a:rPr sz="1650" b="0">
                <a:solidFill>
                  <a:srgbClr val="1B2A44"/>
                </a:solidFill>
                <a:latin typeface="Segoe UI"/>
              </a:rPr>
              <a:t>Combined DNA in AI, cloud architecture, and startup product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ProjexCloud  +  Projexlight</a:t>
            </a:r>
            <a:r>
              <a:rPr sz="1050" b="0" i="0">
                <a:solidFill>
                  <a:srgbClr val="9FB0C9"/>
                </a:solidFill>
                <a:latin typeface="Segoe UI"/>
              </a:rPr>
              <a:t>    ·    cloud.projexlight.com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2881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9FB0C9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Pilot with one robot fleet or one factory line — in 60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743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F74E8"/>
                </a:solidFill>
                <a:latin typeface="Segoe UI"/>
              </a:rPr>
              <a:t>Your next step: a 30-minute architecture &amp; blueprint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74720"/>
            <a:ext cx="10058400" cy="2011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F74E8"/>
                </a:solidFill>
                <a:latin typeface="Segoe UI"/>
              </a:rPr>
              <a:t>→  </a:t>
            </a:r>
            <a:r>
              <a:rPr sz="1600">
                <a:solidFill>
                  <a:srgbClr val="C7D0E0"/>
                </a:solidFill>
                <a:latin typeface="Segoe UI"/>
              </a:rPr>
              <a:t>We review your current robotics/factory architecture and AI delivery process.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F74E8"/>
                </a:solidFill>
                <a:latin typeface="Segoe UI"/>
              </a:rPr>
              <a:t>→  </a:t>
            </a:r>
            <a:r>
              <a:rPr sz="1600">
                <a:solidFill>
                  <a:srgbClr val="C7D0E0"/>
                </a:solidFill>
                <a:latin typeface="Segoe UI"/>
              </a:rPr>
              <a:t>We propose a tailored blueprint: data backbone (ProjexCloud) + governed app delivery (Projexlight).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F74E8"/>
                </a:solidFill>
                <a:latin typeface="Segoe UI"/>
              </a:rPr>
              <a:t>→  </a:t>
            </a:r>
            <a:r>
              <a:rPr sz="1600">
                <a:solidFill>
                  <a:srgbClr val="C7D0E0"/>
                </a:solidFill>
                <a:latin typeface="Segoe UI"/>
              </a:rPr>
              <a:t>You choose a pilot scope: 1 fleet, 1 factory line, or 1 internal AI-driven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60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cloud.projexlight.com    ·    www.projexlight.com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