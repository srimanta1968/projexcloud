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37.xml" ContentType="application/vnd.openxmlformats-officedocument.presentationml.notesSlide+xml"/>
  <Override PartName="/ppt/notesSlides/notesSlide38.xml" ContentType="application/vnd.openxmlformats-officedocument.presentationml.notesSlide+xml"/>
  <Override PartName="/ppt/notesSlides/notesSlide39.xml" ContentType="application/vnd.openxmlformats-officedocument.presentationml.notesSlide+xml"/>
  <Override PartName="/ppt/notesSlides/notesSlide40.xml" ContentType="application/vnd.openxmlformats-officedocument.presentationml.notesSlide+xml"/>
  <Override PartName="/ppt/notesSlides/notesSlide41.xml" ContentType="application/vnd.openxmlformats-officedocument.presentationml.notesSlide+xml"/>
  <Override PartName="/ppt/notesSlides/notesSlide42.xml" ContentType="application/vnd.openxmlformats-officedocument.presentationml.notesSlide+xml"/>
  <Override PartName="/ppt/notesSlides/notesSlide43.xml" ContentType="application/vnd.openxmlformats-officedocument.presentationml.notesSlide+xml"/>
  <Override PartName="/ppt/notesSlides/notesSlide44.xml" ContentType="application/vnd.openxmlformats-officedocument.presentationml.notesSlide+xml"/>
  <Override PartName="/ppt/notesSlides/notesSlide45.xml" ContentType="application/vnd.openxmlformats-officedocument.presentationml.notesSlide+xml"/>
  <Override PartName="/ppt/notesSlides/notesSlide4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4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3795"/>
    <p:restoredTop sz="94610"/>
  </p:normalViewPr>
  <p:slideViewPr>
    <p:cSldViewPr snapToGrid="0" snapToObjects="1">
      <p:cViewPr varScale="1">
        <p:scale>
          <a:sx n="155" d="100"/>
          <a:sy n="155" d="100"/>
        </p:scale>
        <p:origin x="344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636463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3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4.xml"/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5.xml"/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7.xml"/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_rels/notesSlide4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Customer-facing positioning deck.
Core promise: every customer-released SDK/API is certified against a documented deployment and support profile before shipment.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Gartner: https://www.gartner.com/en/newsroom/press-releases/2024-04-11-gartner-says-75-percent-of-enterprise-software-engineers-will-use-ai-code-assistants-by-2028
GitHub: https://github.blog/news-insights/research/the-economic-impact-of-the-ai-powered-developer-lifecycle-and-lessons-from-github-copilot/
Sonar: https://www.sonarsource.com/state-of-code-developer-survey-report.pdf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BLS software developers / QA: https://www.bls.gov/ooh/computer-and-information-technology/software-developers.htm
BLS information security analysts: https://www.bls.gov/ooh/computer-and-information-technology/information-security-analysts.htm
Illustrative calculation: 7 developers + 2 QA + 1 security analyst; median wages x 1.30 employer/overhead load.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Red Hat enterprise open source: https://www.redhat.com/en/blog/what-enterprise-open-source
RHEL subscription guide: https://www.redhat.com/en/resources/red-hat-enterprise-linux-subscription-guide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Snowflake support: https://docs.snowflake.com/en/user-guide/intro-editions
AWS Enterprise Support: https://aws.amazon.com/premiumsupport/plans/enterprise/
Google Cloud Premium Support: https://cloud.google.com/support/premium
ProjexCloud targets shown are proposed commercial tiers and become contractual only in an executed order form.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MuAPI: https://muapi.ai/docs/introduction
OpenRouter: https://openrouter.ai/enterprise
Merge: https://www.merge.dev/integrations
Nango: https://nango.dev/docs/guides/platform/self-hosting
RapidAPI: https://rapidapi.com/page/Enterprise
Kong: https://developer.konghq.com/dev-portal/
MuleSoft: https://blogs.mulesoft.com/learn-apis/api-led-connectivity/what-is-api-led-connectivity/
Workato: https://www.workato.com/
Boomi: https://boomi.com/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Gartner AI assistants: https://www.gartner.com/en/newsroom/press-releases/2024-04-11-gartner-says-75-percent-of-enterprise-software-engineers-will-use-ai-code-assistants-by-2028
Gartner upskilling: https://www.gartner.com/en/newsroom/press-releases/2024-10-03-gartner-says-generative-ai-will-require-80-percent-of-engineering-workforce-to-upskill-through-2027
GitHub research: https://github.blog/news-insights/research/the-economic-impact-of-the-ai-powered-developer-lifecycle-and-lessons-from-github-copilot/
McKinsey: https://www.mckinsey.com/capabilities/tech-and-ai/our-insights/the-economic-potential-of-generative-ai-the-next-productivity-frontier
Sonar: https://www.sonarsource.com/state-of-code-developer-survey-report.pdf
Veracode: https://www.veracode.com/resources/analyst-reports/2025-genai-code-security-report/
Capgemini 2025: https://www.capgemini.com/us-en/news/press-releases/world-quality-report-2025-ai-adoption-surges-in-quality-engineering-but-enterprise-level-scaling-remains-elusive/
DORA: https://dora.dev/dora-report-2025/
BLS: https://www.bls.gov/ooh/computer-and-information-technology/software-developers.htm
MuleSoft: https://www.mulesoft.com/lp/reports/connectivity-benchmark
Postman: https://www.postman.com/state-of-api/2025/
Red Hat: https://www.redhat.com/en/blog/what-enterprise-open-source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3.svg"/><Relationship Id="rId4" Type="http://schemas.openxmlformats.org/officeDocument/2006/relationships/image" Target="../media/image7.sv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svg"/><Relationship Id="rId5" Type="http://schemas.openxmlformats.org/officeDocument/2006/relationships/image" Target="../media/image10.svg"/><Relationship Id="rId4" Type="http://schemas.openxmlformats.org/officeDocument/2006/relationships/image" Target="../media/image9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5.svg"/><Relationship Id="rId5" Type="http://schemas.openxmlformats.org/officeDocument/2006/relationships/image" Target="../media/image14.svg"/><Relationship Id="rId4" Type="http://schemas.openxmlformats.org/officeDocument/2006/relationships/image" Target="../media/image13.sv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svg"/><Relationship Id="rId3" Type="http://schemas.openxmlformats.org/officeDocument/2006/relationships/image" Target="../media/image17.svg"/><Relationship Id="rId7" Type="http://schemas.openxmlformats.org/officeDocument/2006/relationships/image" Target="../media/image21.sv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0.svg"/><Relationship Id="rId5" Type="http://schemas.openxmlformats.org/officeDocument/2006/relationships/image" Target="../media/image19.svg"/><Relationship Id="rId4" Type="http://schemas.openxmlformats.org/officeDocument/2006/relationships/image" Target="../media/image18.sv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svg"/><Relationship Id="rId3" Type="http://schemas.openxmlformats.org/officeDocument/2006/relationships/image" Target="../media/image23.png"/><Relationship Id="rId7" Type="http://schemas.openxmlformats.org/officeDocument/2006/relationships/image" Target="../media/image2.sv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.svg"/><Relationship Id="rId5" Type="http://schemas.openxmlformats.org/officeDocument/2006/relationships/image" Target="../media/image25.svg"/><Relationship Id="rId4" Type="http://schemas.openxmlformats.org/officeDocument/2006/relationships/image" Target="../media/image24.sv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3" Type="http://schemas.openxmlformats.org/officeDocument/2006/relationships/image" Target="../media/image27.svg"/><Relationship Id="rId7" Type="http://schemas.openxmlformats.org/officeDocument/2006/relationships/image" Target="../media/image31.sv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0.svg"/><Relationship Id="rId5" Type="http://schemas.openxmlformats.org/officeDocument/2006/relationships/image" Target="../media/image29.svg"/><Relationship Id="rId10" Type="http://schemas.openxmlformats.org/officeDocument/2006/relationships/image" Target="../media/image3.svg"/><Relationship Id="rId4" Type="http://schemas.openxmlformats.org/officeDocument/2006/relationships/image" Target="../media/image28.svg"/><Relationship Id="rId9" Type="http://schemas.openxmlformats.org/officeDocument/2006/relationships/image" Target="../media/image33.sv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sv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svg"/><Relationship Id="rId5" Type="http://schemas.openxmlformats.org/officeDocument/2006/relationships/image" Target="../media/image35.svg"/><Relationship Id="rId4" Type="http://schemas.openxmlformats.org/officeDocument/2006/relationships/image" Target="../media/image2.sv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sv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8.svg"/><Relationship Id="rId5" Type="http://schemas.openxmlformats.org/officeDocument/2006/relationships/image" Target="../media/image13.svg"/><Relationship Id="rId4" Type="http://schemas.openxmlformats.org/officeDocument/2006/relationships/image" Target="../media/image37.sv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1.svg"/><Relationship Id="rId5" Type="http://schemas.openxmlformats.org/officeDocument/2006/relationships/image" Target="../media/image40.svg"/><Relationship Id="rId4" Type="http://schemas.openxmlformats.org/officeDocument/2006/relationships/image" Target="../media/image31.svg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4.svg"/><Relationship Id="rId5" Type="http://schemas.openxmlformats.org/officeDocument/2006/relationships/image" Target="../media/image43.svg"/><Relationship Id="rId4" Type="http://schemas.openxmlformats.org/officeDocument/2006/relationships/image" Target="../media/image7.sv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5.sv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.svg"/><Relationship Id="rId5" Type="http://schemas.openxmlformats.org/officeDocument/2006/relationships/image" Target="../media/image46.svg"/><Relationship Id="rId4" Type="http://schemas.openxmlformats.org/officeDocument/2006/relationships/image" Target="../media/image2.svg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7.sv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49.svg"/><Relationship Id="rId4" Type="http://schemas.openxmlformats.org/officeDocument/2006/relationships/image" Target="../media/image48.sv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24.svg"/><Relationship Id="rId7" Type="http://schemas.openxmlformats.org/officeDocument/2006/relationships/image" Target="../media/image53.sv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5" Type="http://schemas.openxmlformats.org/officeDocument/2006/relationships/image" Target="../media/image13.svg"/><Relationship Id="rId4" Type="http://schemas.openxmlformats.org/officeDocument/2006/relationships/image" Target="../media/image51.sv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57.svg"/><Relationship Id="rId4" Type="http://schemas.openxmlformats.org/officeDocument/2006/relationships/image" Target="../media/image56.svg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62.svg"/><Relationship Id="rId3" Type="http://schemas.openxmlformats.org/officeDocument/2006/relationships/image" Target="../media/image58.svg"/><Relationship Id="rId7" Type="http://schemas.openxmlformats.org/officeDocument/2006/relationships/image" Target="../media/image61.sv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2.svg"/><Relationship Id="rId11" Type="http://schemas.openxmlformats.org/officeDocument/2006/relationships/image" Target="../media/image65.svg"/><Relationship Id="rId5" Type="http://schemas.openxmlformats.org/officeDocument/2006/relationships/image" Target="../media/image60.svg"/><Relationship Id="rId10" Type="http://schemas.openxmlformats.org/officeDocument/2006/relationships/image" Target="../media/image64.svg"/><Relationship Id="rId4" Type="http://schemas.openxmlformats.org/officeDocument/2006/relationships/image" Target="../media/image59.svg"/><Relationship Id="rId9" Type="http://schemas.openxmlformats.org/officeDocument/2006/relationships/image" Target="../media/image63.sv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svg"/><Relationship Id="rId7" Type="http://schemas.openxmlformats.org/officeDocument/2006/relationships/image" Target="../media/image67.sv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svg"/><Relationship Id="rId5" Type="http://schemas.openxmlformats.org/officeDocument/2006/relationships/image" Target="../media/image66.svg"/><Relationship Id="rId4" Type="http://schemas.openxmlformats.org/officeDocument/2006/relationships/image" Target="../media/image9.svg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8" Type="http://schemas.openxmlformats.org/officeDocument/2006/relationships/image" Target="../media/image71.svg"/><Relationship Id="rId3" Type="http://schemas.openxmlformats.org/officeDocument/2006/relationships/image" Target="../media/image68.svg"/><Relationship Id="rId7" Type="http://schemas.openxmlformats.org/officeDocument/2006/relationships/image" Target="../media/image70.sv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.svg"/><Relationship Id="rId5" Type="http://schemas.openxmlformats.org/officeDocument/2006/relationships/image" Target="../media/image69.svg"/><Relationship Id="rId4" Type="http://schemas.openxmlformats.org/officeDocument/2006/relationships/image" Target="../media/image12.svg"/></Relationships>
</file>

<file path=ppt/slides/_rels/slide30.xml.rels><?xml version="1.0" encoding="UTF-8" standalone="yes"?>
<Relationships xmlns="http://schemas.openxmlformats.org/package/2006/relationships"><Relationship Id="rId8" Type="http://schemas.openxmlformats.org/officeDocument/2006/relationships/image" Target="../media/image54.svg"/><Relationship Id="rId3" Type="http://schemas.openxmlformats.org/officeDocument/2006/relationships/image" Target="../media/image29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0.svg"/><Relationship Id="rId5" Type="http://schemas.openxmlformats.org/officeDocument/2006/relationships/image" Target="../media/image72.svg"/><Relationship Id="rId4" Type="http://schemas.openxmlformats.org/officeDocument/2006/relationships/image" Target="../media/image30.sv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8" Type="http://schemas.openxmlformats.org/officeDocument/2006/relationships/image" Target="../media/image31.svg"/><Relationship Id="rId3" Type="http://schemas.openxmlformats.org/officeDocument/2006/relationships/image" Target="../media/image73.sv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svg"/><Relationship Id="rId5" Type="http://schemas.openxmlformats.org/officeDocument/2006/relationships/image" Target="../media/image28.svg"/><Relationship Id="rId4" Type="http://schemas.openxmlformats.org/officeDocument/2006/relationships/image" Target="../media/image41.sv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5.svg"/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1.svg"/><Relationship Id="rId5" Type="http://schemas.openxmlformats.org/officeDocument/2006/relationships/image" Target="../media/image77.svg"/><Relationship Id="rId4" Type="http://schemas.openxmlformats.org/officeDocument/2006/relationships/image" Target="../media/image76.svg"/></Relationships>
</file>

<file path=ppt/slides/_rels/slide3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svg"/><Relationship Id="rId3" Type="http://schemas.openxmlformats.org/officeDocument/2006/relationships/image" Target="../media/image78.svg"/><Relationship Id="rId7" Type="http://schemas.openxmlformats.org/officeDocument/2006/relationships/image" Target="../media/image74.svg"/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9.svg"/><Relationship Id="rId5" Type="http://schemas.openxmlformats.org/officeDocument/2006/relationships/image" Target="../media/image2.svg"/><Relationship Id="rId4" Type="http://schemas.openxmlformats.org/officeDocument/2006/relationships/image" Target="../media/image34.svg"/><Relationship Id="rId9" Type="http://schemas.openxmlformats.org/officeDocument/2006/relationships/image" Target="../media/image4.sv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notesSlide" Target="../notesSlides/notesSlide3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svg"/><Relationship Id="rId5" Type="http://schemas.openxmlformats.org/officeDocument/2006/relationships/image" Target="../media/image81.svg"/><Relationship Id="rId4" Type="http://schemas.openxmlformats.org/officeDocument/2006/relationships/image" Target="../media/image80.svg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86.svg"/><Relationship Id="rId3" Type="http://schemas.openxmlformats.org/officeDocument/2006/relationships/image" Target="../media/image82.svg"/><Relationship Id="rId7" Type="http://schemas.openxmlformats.org/officeDocument/2006/relationships/image" Target="../media/image85.svg"/><Relationship Id="rId2" Type="http://schemas.openxmlformats.org/officeDocument/2006/relationships/notesSlide" Target="../notesSlides/notesSlide3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svg"/><Relationship Id="rId11" Type="http://schemas.openxmlformats.org/officeDocument/2006/relationships/image" Target="../media/image89.svg"/><Relationship Id="rId5" Type="http://schemas.openxmlformats.org/officeDocument/2006/relationships/image" Target="../media/image83.svg"/><Relationship Id="rId10" Type="http://schemas.openxmlformats.org/officeDocument/2006/relationships/image" Target="../media/image88.svg"/><Relationship Id="rId4" Type="http://schemas.openxmlformats.org/officeDocument/2006/relationships/image" Target="../media/image78.svg"/><Relationship Id="rId9" Type="http://schemas.openxmlformats.org/officeDocument/2006/relationships/image" Target="../media/image87.svg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8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8" Type="http://schemas.openxmlformats.org/officeDocument/2006/relationships/image" Target="../media/image93.svg"/><Relationship Id="rId3" Type="http://schemas.openxmlformats.org/officeDocument/2006/relationships/image" Target="../media/image2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39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92.svg"/><Relationship Id="rId5" Type="http://schemas.openxmlformats.org/officeDocument/2006/relationships/image" Target="../media/image91.svg"/><Relationship Id="rId4" Type="http://schemas.openxmlformats.org/officeDocument/2006/relationships/image" Target="../media/image90.svg"/></Relationships>
</file>

<file path=ppt/slides/_rels/slide40.xml.rels><?xml version="1.0" encoding="UTF-8" standalone="yes"?>
<Relationships xmlns="http://schemas.openxmlformats.org/package/2006/relationships"><Relationship Id="rId8" Type="http://schemas.openxmlformats.org/officeDocument/2006/relationships/image" Target="../media/image98.svg"/><Relationship Id="rId3" Type="http://schemas.openxmlformats.org/officeDocument/2006/relationships/image" Target="../media/image94.svg"/><Relationship Id="rId7" Type="http://schemas.openxmlformats.org/officeDocument/2006/relationships/image" Target="../media/image97.svg"/><Relationship Id="rId2" Type="http://schemas.openxmlformats.org/officeDocument/2006/relationships/notesSlide" Target="../notesSlides/notesSlide40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1.svg"/><Relationship Id="rId5" Type="http://schemas.openxmlformats.org/officeDocument/2006/relationships/image" Target="../media/image96.svg"/><Relationship Id="rId4" Type="http://schemas.openxmlformats.org/officeDocument/2006/relationships/image" Target="../media/image95.svg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1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svg"/><Relationship Id="rId2" Type="http://schemas.openxmlformats.org/officeDocument/2006/relationships/notesSlide" Target="../notesSlides/notesSlide42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3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4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1.svg"/><Relationship Id="rId3" Type="http://schemas.openxmlformats.org/officeDocument/2006/relationships/image" Target="../media/image27.svg"/><Relationship Id="rId7" Type="http://schemas.openxmlformats.org/officeDocument/2006/relationships/image" Target="../media/image4.svg"/><Relationship Id="rId2" Type="http://schemas.openxmlformats.org/officeDocument/2006/relationships/notesSlide" Target="../notesSlides/notesSlide4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0.svg"/><Relationship Id="rId5" Type="http://schemas.openxmlformats.org/officeDocument/2006/relationships/image" Target="../media/image99.svg"/><Relationship Id="rId4" Type="http://schemas.openxmlformats.org/officeDocument/2006/relationships/image" Target="../media/image7.svg"/></Relationships>
</file>

<file path=ppt/slides/_rels/slide4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050A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1200000">
            <a:off x="8183880" y="91440"/>
            <a:ext cx="3840480" cy="3840480"/>
          </a:xfrm>
          <a:prstGeom prst="arc">
            <a:avLst/>
          </a:prstGeom>
          <a:solidFill>
            <a:srgbClr val="4D8CFF">
              <a:alpha val="22000"/>
            </a:srgbClr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2880000">
            <a:off x="9052560" y="640080"/>
            <a:ext cx="2834640" cy="2834640"/>
          </a:xfrm>
          <a:prstGeom prst="arc">
            <a:avLst/>
          </a:prstGeom>
          <a:solidFill>
            <a:srgbClr val="45E2FF">
              <a:alpha val="16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4800000">
            <a:off x="9189720" y="2286000"/>
            <a:ext cx="2651760" cy="2651760"/>
          </a:xfrm>
          <a:prstGeom prst="arc">
            <a:avLst/>
          </a:prstGeom>
          <a:solidFill>
            <a:srgbClr val="B29CFF">
              <a:alpha val="14000"/>
            </a:srgbClr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B29CFF">
              <a:alpha val="82000"/>
            </a:srgbClr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58368" y="1024128"/>
            <a:ext cx="324612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731520" y="1042416"/>
            <a:ext cx="30998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CLIENT-FACING CAPABILITY &amp; OPERATING MODEL</a:t>
            </a:r>
            <a:endParaRPr lang="en-US" sz="850" dirty="0"/>
          </a:p>
        </p:txBody>
      </p:sp>
      <p:sp>
        <p:nvSpPr>
          <p:cNvPr id="11" name="Text 9"/>
          <p:cNvSpPr txBox="1"/>
          <p:nvPr/>
        </p:nvSpPr>
        <p:spPr>
          <a:xfrm>
            <a:off x="658368" y="1481328"/>
            <a:ext cx="8046720" cy="1508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5000"/>
              </a:lnSpc>
              <a:buNone/>
            </a:pPr>
            <a:r>
              <a:rPr lang="en-US" sz="43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Certified, composable</a:t>
            </a:r>
            <a:endParaRPr lang="en-US" sz="4300" dirty="0"/>
          </a:p>
          <a:p>
            <a:pPr marL="0" indent="0" algn="l">
              <a:lnSpc>
                <a:spcPct val="85000"/>
              </a:lnSpc>
              <a:buNone/>
            </a:pPr>
            <a:r>
              <a:rPr lang="en-US" sz="43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software capabilities.</a:t>
            </a:r>
            <a:endParaRPr lang="en-US" sz="4300" dirty="0"/>
          </a:p>
        </p:txBody>
      </p:sp>
      <p:sp>
        <p:nvSpPr>
          <p:cNvPr id="12" name="Text 10"/>
          <p:cNvSpPr txBox="1"/>
          <p:nvPr/>
        </p:nvSpPr>
        <p:spPr>
          <a:xfrm>
            <a:off x="676656" y="3246120"/>
            <a:ext cx="7132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faster. Deploy anywhere. Operate with enterprise confidence.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676656" y="4078224"/>
            <a:ext cx="7086600" cy="1115568"/>
          </a:xfrm>
          <a:prstGeom prst="roundRect">
            <a:avLst>
              <a:gd name="adj" fmla="val 1475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blurRad="38100" dist="16510" dir="2700000" algn="bl" rotWithShape="0">
              <a:srgbClr val="000000">
                <a:alpha val="25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32688" y="4288536"/>
            <a:ext cx="65836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customer release is </a:t>
            </a:r>
            <a:r>
              <a:rPr lang="en-US" sz="1600" b="1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Certified</a:t>
            </a:r>
            <a:r>
              <a:rPr lang="en-US" sz="16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 and backed from proof-of-concept through production operations.</a:t>
            </a:r>
            <a:endParaRPr lang="en-US" sz="1600" dirty="0"/>
          </a:p>
        </p:txBody>
      </p:sp>
      <p:sp>
        <p:nvSpPr>
          <p:cNvPr id="15" name="Shape 13"/>
          <p:cNvSpPr/>
          <p:nvPr/>
        </p:nvSpPr>
        <p:spPr>
          <a:xfrm>
            <a:off x="676656" y="5559552"/>
            <a:ext cx="1517904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49808" y="5577840"/>
            <a:ext cx="13716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CLOUD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2322576" y="5559552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36D4C0">
                <a:alpha val="70000"/>
              </a:srgbClr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395728" y="5577840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6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API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749040" y="5559552"/>
            <a:ext cx="1078992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3822192" y="5577840"/>
            <a:ext cx="93268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850" dirty="0"/>
          </a:p>
        </p:txBody>
      </p:sp>
      <p:sp>
        <p:nvSpPr>
          <p:cNvPr id="21" name="Shape 19"/>
          <p:cNvSpPr/>
          <p:nvPr/>
        </p:nvSpPr>
        <p:spPr>
          <a:xfrm>
            <a:off x="4956048" y="5559552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5029200" y="5577840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/ ON-PREM</a:t>
            </a:r>
            <a:endParaRPr lang="en-US" sz="850" dirty="0"/>
          </a:p>
        </p:txBody>
      </p:sp>
      <p:sp>
        <p:nvSpPr>
          <p:cNvPr id="23" name="Text 21"/>
          <p:cNvSpPr txBox="1"/>
          <p:nvPr/>
        </p:nvSpPr>
        <p:spPr>
          <a:xfrm>
            <a:off x="676656" y="6254496"/>
            <a:ext cx="32918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30" b="1" kern="0" spc="8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· An Insignia platform</a:t>
            </a:r>
            <a:endParaRPr lang="en-US" sz="830" dirty="0"/>
          </a:p>
        </p:txBody>
      </p:sp>
      <p:sp>
        <p:nvSpPr>
          <p:cNvPr id="24" name="Text 22"/>
          <p:cNvSpPr txBox="1"/>
          <p:nvPr/>
        </p:nvSpPr>
        <p:spPr>
          <a:xfrm>
            <a:off x="8412480" y="6254496"/>
            <a:ext cx="3108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83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83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PROMISE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ACCOUNTABLE PLATFORM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business intent to production confidence.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combines reusable software capabilities, deployment choice, and an enterprise-grade operating model—so your teams can move quickly while retaining control.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30352" y="2331720"/>
            <a:ext cx="2542032" cy="2331720"/>
          </a:xfrm>
          <a:prstGeom prst="roundRect">
            <a:avLst>
              <a:gd name="adj" fmla="val 666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blurRad="483870000" dist="209677000"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30352" y="2331720"/>
            <a:ext cx="50292" cy="2331720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69494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91505" y="258372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07008" y="24597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694944" y="2862072"/>
            <a:ext cx="221284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proven capabilities and combine them into the workflow your business actually needs.</a:t>
            </a:r>
            <a:endParaRPr lang="en-US" sz="1200" dirty="0"/>
          </a:p>
        </p:txBody>
      </p:sp>
      <p:sp>
        <p:nvSpPr>
          <p:cNvPr id="20" name="Shape 17"/>
          <p:cNvSpPr/>
          <p:nvPr/>
        </p:nvSpPr>
        <p:spPr>
          <a:xfrm>
            <a:off x="3364992" y="2331720"/>
            <a:ext cx="2542032" cy="2331720"/>
          </a:xfrm>
          <a:prstGeom prst="roundRect">
            <a:avLst>
              <a:gd name="adj" fmla="val 666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364992" y="2331720"/>
            <a:ext cx="50292" cy="2331720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2958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26145" y="258372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041648" y="24597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Certify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3529584" y="2862072"/>
            <a:ext cx="221284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customer release completes mandatory functional, security, resilience and support-readiness gates.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6199632" y="2331720"/>
            <a:ext cx="2542032" cy="2331720"/>
          </a:xfrm>
          <a:prstGeom prst="roundRect">
            <a:avLst>
              <a:gd name="adj" fmla="val 666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199632" y="2331720"/>
            <a:ext cx="50292" cy="2331720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36422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460785" y="2583729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876288" y="24597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6364224" y="2862072"/>
            <a:ext cx="221284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as SDKs in your cloud, consume hosted APIs, or choose hybrid, sovereign or on-prem profiles.</a:t>
            </a:r>
            <a:endParaRPr lang="en-US" sz="1200" dirty="0"/>
          </a:p>
        </p:txBody>
      </p:sp>
      <p:sp>
        <p:nvSpPr>
          <p:cNvPr id="32" name="Shape 27"/>
          <p:cNvSpPr/>
          <p:nvPr/>
        </p:nvSpPr>
        <p:spPr>
          <a:xfrm>
            <a:off x="9034272" y="2331720"/>
            <a:ext cx="2542032" cy="2331720"/>
          </a:xfrm>
          <a:prstGeom prst="roundRect">
            <a:avLst>
              <a:gd name="adj" fmla="val 666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034272" y="2331720"/>
            <a:ext cx="50292" cy="233172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19886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295425" y="2583729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710928" y="2459736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198864" y="2862072"/>
            <a:ext cx="2212848" cy="1673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2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account, architecture, QA, product, SRE and P1 incident teams stay with you through production.</a:t>
            </a:r>
            <a:endParaRPr lang="en-US" sz="1200" dirty="0"/>
          </a:p>
        </p:txBody>
      </p:sp>
      <p:sp>
        <p:nvSpPr>
          <p:cNvPr id="38" name="Shape 32"/>
          <p:cNvSpPr/>
          <p:nvPr/>
        </p:nvSpPr>
        <p:spPr>
          <a:xfrm>
            <a:off x="530352" y="4965192"/>
            <a:ext cx="11119104" cy="877824"/>
          </a:xfrm>
          <a:prstGeom prst="roundRect">
            <a:avLst>
              <a:gd name="adj" fmla="val 18750"/>
            </a:avLst>
          </a:prstGeom>
          <a:solidFill>
            <a:srgbClr val="11253A"/>
          </a:solidFill>
          <a:ln w="12700">
            <a:solidFill>
              <a:srgbClr val="45E2FF">
                <a:alpha val="65000"/>
              </a:srgbClr>
            </a:solidFill>
            <a:prstDash val="solid"/>
          </a:ln>
        </p:spPr>
      </p:sp>
      <p:sp>
        <p:nvSpPr>
          <p:cNvPr id="39" name="Text 33"/>
          <p:cNvSpPr/>
          <p:nvPr/>
        </p:nvSpPr>
        <p:spPr>
          <a:xfrm>
            <a:off x="804672" y="5184648"/>
            <a:ext cx="105613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outcome: </a:t>
            </a:r>
            <a:r>
              <a:rPr lang="en-US" sz="15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launches, lower repeated engineering effort, stronger control of data and infrastructure, and one accountable partner for the full lifecycle.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NOW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NEW SOFTWARE ECONOMICS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AI accelerates creation. Assurance converts that speed into enterprise value.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opportunity now extends from generating code to reusing validated capabilities, applying rigorous release gates, and operating them with clear accountability.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30352" y="2359152"/>
            <a:ext cx="2606040" cy="1572768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94944" y="2487168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B29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75%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694944" y="2916936"/>
            <a:ext cx="2276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enterprise software engineers expected to use AI code assistants by 2028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694944" y="372160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Gartner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3273552" y="2359152"/>
            <a:ext cx="2606040" cy="1572768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438144" y="2487168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45E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55%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438144" y="2916936"/>
            <a:ext cx="2276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faster task completion in a controlled GitHub Copilot study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438144" y="372160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GitHub research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6016752" y="2359152"/>
            <a:ext cx="2606040" cy="1572768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181344" y="2487168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4D8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42%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6181344" y="2916936"/>
            <a:ext cx="2276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committed code reported as AI-generated or AI-assisted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6181344" y="372160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 2026 survey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8759952" y="2359152"/>
            <a:ext cx="2606040" cy="1572768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924544" y="2487168"/>
            <a:ext cx="2276856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52D6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95%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924544" y="2916936"/>
            <a:ext cx="2276856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 developers invest effort reviewing, testing or correcting AI output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924544" y="3721608"/>
            <a:ext cx="227685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 2026 survey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530352" y="4315968"/>
            <a:ext cx="10972800" cy="1225296"/>
          </a:xfrm>
          <a:prstGeom prst="roundRect">
            <a:avLst>
              <a:gd name="adj" fmla="val 1343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1" name="Shape 29"/>
          <p:cNvSpPr/>
          <p:nvPr/>
        </p:nvSpPr>
        <p:spPr>
          <a:xfrm>
            <a:off x="786384" y="4617720"/>
            <a:ext cx="502920" cy="502920"/>
          </a:xfrm>
          <a:prstGeom prst="roundRect">
            <a:avLst>
              <a:gd name="adj" fmla="val 32727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7085" y="4738421"/>
            <a:ext cx="261518" cy="261518"/>
          </a:xfrm>
          <a:prstGeom prst="rect">
            <a:avLst/>
          </a:prstGeom>
        </p:spPr>
      </p:pic>
      <p:sp>
        <p:nvSpPr>
          <p:cNvPr id="33" name="Text 30"/>
          <p:cNvSpPr/>
          <p:nvPr/>
        </p:nvSpPr>
        <p:spPr>
          <a:xfrm>
            <a:off x="1481328" y="4526280"/>
            <a:ext cx="95554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turns the enterprise value layer—</a:t>
            </a: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validation, integration and operational confidence</a:t>
            </a:r>
            <a:r>
              <a:rPr lang="en-US" sz="18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—into a reusable platform capability.</a:t>
            </a:r>
            <a:endParaRPr lang="en-US" sz="1800" dirty="0"/>
          </a:p>
        </p:txBody>
      </p:sp>
      <p:sp>
        <p:nvSpPr>
          <p:cNvPr id="34" name="Text 31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Gartner (2024); GitHub research; Sonar State of Code 2026. See Sources &amp; Methodology addendum.</a:t>
            </a:r>
            <a:endParaRPr lang="en-US" sz="68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CASE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ASSURANCE DIVIDEND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Reuse the work that every team otherwise repeats.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production capability includes far more than implementation: integration contracts, automated tests, security controls, observability, runbooks, release management and incident readiness.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2331720"/>
            <a:ext cx="1664208" cy="1042416"/>
          </a:xfrm>
          <a:prstGeom prst="roundRect">
            <a:avLst>
              <a:gd name="adj" fmla="val 14035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76656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8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76656" y="27889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logic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2249424" y="285292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2450592" y="2331720"/>
            <a:ext cx="1664208" cy="1042416"/>
          </a:xfrm>
          <a:prstGeom prst="roundRect">
            <a:avLst>
              <a:gd name="adj" fmla="val 1403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2560320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560320" y="27889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 + dependencies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133088" y="285292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4334256" y="2331720"/>
            <a:ext cx="1664208" cy="1042416"/>
          </a:xfrm>
          <a:prstGeom prst="roundRect">
            <a:avLst>
              <a:gd name="adj" fmla="val 1403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4443984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4443984" y="27889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 + QA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6016752" y="285292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17920" y="2331720"/>
            <a:ext cx="1664208" cy="1042416"/>
          </a:xfrm>
          <a:prstGeom prst="roundRect">
            <a:avLst>
              <a:gd name="adj" fmla="val 1403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327648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6327648" y="27889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+ supply chain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7900416" y="285292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8101584" y="2331720"/>
            <a:ext cx="1664208" cy="1042416"/>
          </a:xfrm>
          <a:prstGeom prst="roundRect">
            <a:avLst>
              <a:gd name="adj" fmla="val 1403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8211312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900" dirty="0"/>
          </a:p>
        </p:txBody>
      </p:sp>
      <p:sp>
        <p:nvSpPr>
          <p:cNvPr id="32" name="Text 30"/>
          <p:cNvSpPr txBox="1"/>
          <p:nvPr/>
        </p:nvSpPr>
        <p:spPr>
          <a:xfrm>
            <a:off x="8211312" y="27889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+ runbooks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9784080" y="285292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9985248" y="2331720"/>
            <a:ext cx="1664208" cy="1042416"/>
          </a:xfrm>
          <a:prstGeom prst="roundRect">
            <a:avLst>
              <a:gd name="adj" fmla="val 1403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10094976" y="2487168"/>
            <a:ext cx="144475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0094976" y="2788920"/>
            <a:ext cx="14447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People + SLA</a:t>
            </a:r>
            <a:endParaRPr lang="en-US" sz="1060" dirty="0"/>
          </a:p>
        </p:txBody>
      </p:sp>
      <p:sp>
        <p:nvSpPr>
          <p:cNvPr id="37" name="Shape 35"/>
          <p:cNvSpPr/>
          <p:nvPr/>
        </p:nvSpPr>
        <p:spPr>
          <a:xfrm>
            <a:off x="566928" y="3822192"/>
            <a:ext cx="5285232" cy="1536192"/>
          </a:xfrm>
          <a:prstGeom prst="roundRect">
            <a:avLst>
              <a:gd name="adj" fmla="val 1071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804672" y="4041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internal build baseline</a:t>
            </a:r>
            <a:endParaRPr lang="en-US" sz="1330" dirty="0"/>
          </a:p>
        </p:txBody>
      </p:sp>
      <p:sp>
        <p:nvSpPr>
          <p:cNvPr id="39" name="Text 37"/>
          <p:cNvSpPr txBox="1"/>
          <p:nvPr/>
        </p:nvSpPr>
        <p:spPr>
          <a:xfrm>
            <a:off x="804672" y="4416552"/>
            <a:ext cx="24231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800" b="1" dirty="0">
                <a:solidFill>
                  <a:srgbClr val="F6C85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≈ $1.64M / year</a:t>
            </a:r>
            <a:endParaRPr lang="en-US" sz="2800" dirty="0"/>
          </a:p>
        </p:txBody>
      </p:sp>
      <p:sp>
        <p:nvSpPr>
          <p:cNvPr id="40" name="Text 38"/>
          <p:cNvSpPr txBox="1"/>
          <p:nvPr/>
        </p:nvSpPr>
        <p:spPr>
          <a:xfrm>
            <a:off x="3401568" y="4206240"/>
            <a:ext cx="2148840" cy="80467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10-person U.S. engineering / QA / security squad using BLS median wages plus a 30% illustrative employer/overhead load—before cloud, tooling and management.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080760" y="3822192"/>
            <a:ext cx="5285232" cy="1536192"/>
          </a:xfrm>
          <a:prstGeom prst="roundRect">
            <a:avLst>
              <a:gd name="adj" fmla="val 10714"/>
            </a:avLst>
          </a:prstGeom>
          <a:solidFill>
            <a:srgbClr val="11253A"/>
          </a:solidFill>
          <a:ln w="12700">
            <a:solidFill>
              <a:srgbClr val="45E2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2" name="Text 40"/>
          <p:cNvSpPr txBox="1"/>
          <p:nvPr/>
        </p:nvSpPr>
        <p:spPr>
          <a:xfrm>
            <a:off x="6327648" y="4041648"/>
            <a:ext cx="32918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economic model</a:t>
            </a:r>
            <a:endParaRPr lang="en-US" sz="1330" dirty="0"/>
          </a:p>
        </p:txBody>
      </p:sp>
      <p:sp>
        <p:nvSpPr>
          <p:cNvPr id="43" name="Text 41"/>
          <p:cNvSpPr txBox="1"/>
          <p:nvPr/>
        </p:nvSpPr>
        <p:spPr>
          <a:xfrm>
            <a:off x="6327648" y="4407408"/>
            <a:ext cx="4498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45E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Share assurance. Preserve differentiation.</a:t>
            </a:r>
            <a:endParaRPr lang="en-US" sz="2200" dirty="0"/>
          </a:p>
        </p:txBody>
      </p:sp>
      <p:sp>
        <p:nvSpPr>
          <p:cNvPr id="44" name="Text 42"/>
          <p:cNvSpPr txBox="1"/>
          <p:nvPr/>
        </p:nvSpPr>
        <p:spPr>
          <a:xfrm>
            <a:off x="6327648" y="4846320"/>
            <a:ext cx="453542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 for certified capabilities, deployment and support; direct your own teams toward the business logic that makes you unique.</a:t>
            </a:r>
            <a:endParaRPr lang="en-US" sz="1120" dirty="0"/>
          </a:p>
        </p:txBody>
      </p:sp>
      <p:sp>
        <p:nvSpPr>
          <p:cNvPr id="45" name="Text 43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model based on U.S. BLS May 2024 median wages: software developer, QA analyst/tester and information security analyst.</a:t>
            </a:r>
            <a:endParaRPr lang="en-US" sz="68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PROJEXCLOUD IS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certified capability platform with one cohesive operating model.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Business-ready SDKs and APIs are organized into composable capability families, governed by one release, deployment, observability and support model.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914400" y="2304288"/>
            <a:ext cx="10195560" cy="685800"/>
          </a:xfrm>
          <a:prstGeom prst="roundRect">
            <a:avLst>
              <a:gd name="adj" fmla="val 21333"/>
            </a:avLst>
          </a:prstGeom>
          <a:solidFill>
            <a:srgbClr val="0D1A29"/>
          </a:solidFill>
          <a:ln w="12700">
            <a:solidFill>
              <a:srgbClr val="F6C85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188720" y="2468880"/>
            <a:ext cx="329184" cy="329184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664208" y="2423160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0" b="1" kern="0" spc="6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BLUEPRINTS</a:t>
            </a:r>
            <a:endParaRPr lang="en-US" sz="1270" dirty="0"/>
          </a:p>
        </p:txBody>
      </p:sp>
      <p:sp>
        <p:nvSpPr>
          <p:cNvPr id="17" name="Text 14"/>
          <p:cNvSpPr txBox="1"/>
          <p:nvPr/>
        </p:nvSpPr>
        <p:spPr>
          <a:xfrm>
            <a:off x="4133088" y="2423160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claims · Field service · Healthcare · Automotive · Digital products</a:t>
            </a:r>
            <a:endParaRPr lang="en-US" sz="1220" dirty="0"/>
          </a:p>
        </p:txBody>
      </p:sp>
      <p:sp>
        <p:nvSpPr>
          <p:cNvPr id="18" name="Shape 15"/>
          <p:cNvSpPr/>
          <p:nvPr/>
        </p:nvSpPr>
        <p:spPr>
          <a:xfrm>
            <a:off x="914400" y="3099816"/>
            <a:ext cx="10195560" cy="685800"/>
          </a:xfrm>
          <a:prstGeom prst="roundRect">
            <a:avLst>
              <a:gd name="adj" fmla="val 21333"/>
            </a:avLst>
          </a:prstGeom>
          <a:solidFill>
            <a:srgbClr val="11253A"/>
          </a:solidFill>
          <a:ln w="12700">
            <a:solidFill>
              <a:srgbClr val="45E2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9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88720" y="3264408"/>
            <a:ext cx="329184" cy="329184"/>
          </a:xfrm>
          <a:prstGeom prst="rect">
            <a:avLst/>
          </a:prstGeom>
        </p:spPr>
      </p:pic>
      <p:sp>
        <p:nvSpPr>
          <p:cNvPr id="20" name="Text 16"/>
          <p:cNvSpPr txBox="1"/>
          <p:nvPr/>
        </p:nvSpPr>
        <p:spPr>
          <a:xfrm>
            <a:off x="1664208" y="3218688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0" b="1" kern="0" spc="6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COMPOSABLE CAPABILITIES</a:t>
            </a:r>
            <a:endParaRPr lang="en-US" sz="1270" dirty="0"/>
          </a:p>
        </p:txBody>
      </p:sp>
      <p:sp>
        <p:nvSpPr>
          <p:cNvPr id="21" name="Text 17"/>
          <p:cNvSpPr txBox="1"/>
          <p:nvPr/>
        </p:nvSpPr>
        <p:spPr>
          <a:xfrm>
            <a:off x="4133088" y="3218688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Policy · Consent · AI · Integration · Workflow · Commerce · Field media</a:t>
            </a:r>
            <a:endParaRPr lang="en-US" sz="1220" dirty="0"/>
          </a:p>
        </p:txBody>
      </p:sp>
      <p:sp>
        <p:nvSpPr>
          <p:cNvPr id="22" name="Shape 18"/>
          <p:cNvSpPr/>
          <p:nvPr/>
        </p:nvSpPr>
        <p:spPr>
          <a:xfrm>
            <a:off x="914400" y="3895344"/>
            <a:ext cx="10195560" cy="685800"/>
          </a:xfrm>
          <a:prstGeom prst="roundRect">
            <a:avLst>
              <a:gd name="adj" fmla="val 21333"/>
            </a:avLst>
          </a:prstGeom>
          <a:solidFill>
            <a:srgbClr val="0D1A29"/>
          </a:solidFill>
          <a:ln w="12700">
            <a:solidFill>
              <a:srgbClr val="4D8C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23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188720" y="4059936"/>
            <a:ext cx="329184" cy="329184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1664208" y="4014216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0" b="1" kern="0" spc="6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&amp; CONTROL</a:t>
            </a:r>
            <a:endParaRPr lang="en-US" sz="1270" dirty="0"/>
          </a:p>
        </p:txBody>
      </p:sp>
      <p:sp>
        <p:nvSpPr>
          <p:cNvPr id="25" name="Text 20"/>
          <p:cNvSpPr txBox="1"/>
          <p:nvPr/>
        </p:nvSpPr>
        <p:spPr>
          <a:xfrm>
            <a:off x="4133088" y="4014216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cloud · Hosted API · Hybrid · Sovereign / on-prem · BYOK</a:t>
            </a:r>
            <a:endParaRPr lang="en-US" sz="1220" dirty="0"/>
          </a:p>
        </p:txBody>
      </p:sp>
      <p:sp>
        <p:nvSpPr>
          <p:cNvPr id="26" name="Shape 21"/>
          <p:cNvSpPr/>
          <p:nvPr/>
        </p:nvSpPr>
        <p:spPr>
          <a:xfrm>
            <a:off x="914400" y="4690872"/>
            <a:ext cx="10195560" cy="685800"/>
          </a:xfrm>
          <a:prstGeom prst="roundRect">
            <a:avLst>
              <a:gd name="adj" fmla="val 21333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2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88720" y="4855464"/>
            <a:ext cx="329184" cy="329184"/>
          </a:xfrm>
          <a:prstGeom prst="rect">
            <a:avLst/>
          </a:prstGeom>
        </p:spPr>
      </p:pic>
      <p:sp>
        <p:nvSpPr>
          <p:cNvPr id="28" name="Text 22"/>
          <p:cNvSpPr txBox="1"/>
          <p:nvPr/>
        </p:nvSpPr>
        <p:spPr>
          <a:xfrm>
            <a:off x="1664208" y="4809744"/>
            <a:ext cx="2560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70" b="1" kern="0" spc="6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 &amp; OPERATIONS</a:t>
            </a:r>
            <a:endParaRPr lang="en-US" sz="1270" dirty="0"/>
          </a:p>
        </p:txBody>
      </p:sp>
      <p:sp>
        <p:nvSpPr>
          <p:cNvPr id="29" name="Text 23"/>
          <p:cNvSpPr txBox="1"/>
          <p:nvPr/>
        </p:nvSpPr>
        <p:spPr>
          <a:xfrm>
            <a:off x="4133088" y="4809744"/>
            <a:ext cx="64922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· Telemetry · Release management · P1 response · Lifecycle support</a:t>
            </a:r>
            <a:endParaRPr lang="en-US" sz="1220" dirty="0"/>
          </a:p>
        </p:txBody>
      </p:sp>
      <p:sp>
        <p:nvSpPr>
          <p:cNvPr id="30" name="Shape 24"/>
          <p:cNvSpPr/>
          <p:nvPr/>
        </p:nvSpPr>
        <p:spPr>
          <a:xfrm>
            <a:off x="914400" y="5687568"/>
            <a:ext cx="141732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31" name="Text 25"/>
          <p:cNvSpPr txBox="1"/>
          <p:nvPr/>
        </p:nvSpPr>
        <p:spPr>
          <a:xfrm>
            <a:off x="987552" y="5705856"/>
            <a:ext cx="1271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CONTRACT</a:t>
            </a:r>
            <a:endParaRPr lang="en-US" sz="850" dirty="0"/>
          </a:p>
        </p:txBody>
      </p:sp>
      <p:sp>
        <p:nvSpPr>
          <p:cNvPr id="32" name="Shape 26"/>
          <p:cNvSpPr/>
          <p:nvPr/>
        </p:nvSpPr>
        <p:spPr>
          <a:xfrm>
            <a:off x="2468880" y="5687568"/>
            <a:ext cx="1947672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2542032" y="5705856"/>
            <a:ext cx="18013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VERSION MANIFEST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4553712" y="5687568"/>
            <a:ext cx="1810512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4626864" y="5705856"/>
            <a:ext cx="16642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ESCALATION PATH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6510528" y="568756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583680" y="5705856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MULTIPLE DEPLOYMENT CHOICES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CONSUMPTION MODELS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THE SAME CAPABILITY IN THE WAY THAT FITS YOU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Adopt quickly today while preserving tomorrow’s options.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certified capability can be delivered as source-integrated SDK, managed API, solution blueprint, or a controlled combination.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30352" y="2304288"/>
            <a:ext cx="2542032" cy="3154680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31520" y="2523744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8804" y="2651028"/>
            <a:ext cx="275783" cy="27578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31520" y="32186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in your cloud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731520" y="36210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MAXIMUM CONTROL</a:t>
            </a:r>
            <a:endParaRPr lang="en-US" sz="850" dirty="0"/>
          </a:p>
        </p:txBody>
      </p:sp>
      <p:sp>
        <p:nvSpPr>
          <p:cNvPr id="19" name="Text 16"/>
          <p:cNvSpPr txBox="1"/>
          <p:nvPr/>
        </p:nvSpPr>
        <p:spPr>
          <a:xfrm>
            <a:off x="731520" y="3986784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 versioned packages into your applications and run them inside your account, network, IAM and KMS boundaries.</a:t>
            </a:r>
            <a:endParaRPr lang="en-US" sz="1130" dirty="0"/>
          </a:p>
        </p:txBody>
      </p:sp>
      <p:sp>
        <p:nvSpPr>
          <p:cNvPr id="20" name="Shape 17"/>
          <p:cNvSpPr/>
          <p:nvPr/>
        </p:nvSpPr>
        <p:spPr>
          <a:xfrm>
            <a:off x="731520" y="504748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04672" y="5065776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LICENSED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3364992" y="2304288"/>
            <a:ext cx="2542032" cy="3154680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Shape 20"/>
          <p:cNvSpPr/>
          <p:nvPr/>
        </p:nvSpPr>
        <p:spPr>
          <a:xfrm>
            <a:off x="3566160" y="2523744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3444" y="2651028"/>
            <a:ext cx="275783" cy="275783"/>
          </a:xfrm>
          <a:prstGeom prst="rect">
            <a:avLst/>
          </a:prstGeom>
        </p:spPr>
      </p:pic>
      <p:sp>
        <p:nvSpPr>
          <p:cNvPr id="25" name="Text 21"/>
          <p:cNvSpPr txBox="1"/>
          <p:nvPr/>
        </p:nvSpPr>
        <p:spPr>
          <a:xfrm>
            <a:off x="3566160" y="32186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API</a:t>
            </a:r>
            <a:endParaRPr lang="en-US" sz="1600" dirty="0"/>
          </a:p>
        </p:txBody>
      </p:sp>
      <p:sp>
        <p:nvSpPr>
          <p:cNvPr id="26" name="Text 22"/>
          <p:cNvSpPr txBox="1"/>
          <p:nvPr/>
        </p:nvSpPr>
        <p:spPr>
          <a:xfrm>
            <a:off x="3566160" y="36210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8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FASTEST ADOPTION</a:t>
            </a:r>
            <a:endParaRPr lang="en-US" sz="850" dirty="0"/>
          </a:p>
        </p:txBody>
      </p:sp>
      <p:sp>
        <p:nvSpPr>
          <p:cNvPr id="27" name="Text 23"/>
          <p:cNvSpPr txBox="1"/>
          <p:nvPr/>
        </p:nvSpPr>
        <p:spPr>
          <a:xfrm>
            <a:off x="3566160" y="3986784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 ProjexCloud-managed endpoints with usage metering, SLA, telemetry, upgrades and operational support included.</a:t>
            </a:r>
            <a:endParaRPr lang="en-US" sz="1130" dirty="0"/>
          </a:p>
        </p:txBody>
      </p:sp>
      <p:sp>
        <p:nvSpPr>
          <p:cNvPr id="28" name="Shape 24"/>
          <p:cNvSpPr/>
          <p:nvPr/>
        </p:nvSpPr>
        <p:spPr>
          <a:xfrm>
            <a:off x="3566160" y="504748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29" name="Text 25"/>
          <p:cNvSpPr txBox="1"/>
          <p:nvPr/>
        </p:nvSpPr>
        <p:spPr>
          <a:xfrm>
            <a:off x="3639312" y="5065776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METERED</a:t>
            </a:r>
            <a:endParaRPr lang="en-US" sz="850" dirty="0"/>
          </a:p>
        </p:txBody>
      </p:sp>
      <p:sp>
        <p:nvSpPr>
          <p:cNvPr id="30" name="Shape 26"/>
          <p:cNvSpPr/>
          <p:nvPr/>
        </p:nvSpPr>
        <p:spPr>
          <a:xfrm>
            <a:off x="6199632" y="2304288"/>
            <a:ext cx="2542032" cy="3154680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1" name="Shape 27"/>
          <p:cNvSpPr/>
          <p:nvPr/>
        </p:nvSpPr>
        <p:spPr>
          <a:xfrm>
            <a:off x="6400800" y="2523744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28084" y="2651028"/>
            <a:ext cx="275783" cy="275783"/>
          </a:xfrm>
          <a:prstGeom prst="rect">
            <a:avLst/>
          </a:prstGeom>
        </p:spPr>
      </p:pic>
      <p:sp>
        <p:nvSpPr>
          <p:cNvPr id="33" name="Text 28"/>
          <p:cNvSpPr txBox="1"/>
          <p:nvPr/>
        </p:nvSpPr>
        <p:spPr>
          <a:xfrm>
            <a:off x="6400800" y="32186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solution</a:t>
            </a:r>
            <a:endParaRPr lang="en-US" sz="1600" dirty="0"/>
          </a:p>
        </p:txBody>
      </p:sp>
      <p:sp>
        <p:nvSpPr>
          <p:cNvPr id="34" name="Text 29"/>
          <p:cNvSpPr txBox="1"/>
          <p:nvPr/>
        </p:nvSpPr>
        <p:spPr>
          <a:xfrm>
            <a:off x="6400800" y="36210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8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FIRST</a:t>
            </a:r>
            <a:endParaRPr lang="en-US" sz="850" dirty="0"/>
          </a:p>
        </p:txBody>
      </p:sp>
      <p:sp>
        <p:nvSpPr>
          <p:cNvPr id="35" name="Text 30"/>
          <p:cNvSpPr txBox="1"/>
          <p:nvPr/>
        </p:nvSpPr>
        <p:spPr>
          <a:xfrm>
            <a:off x="6400800" y="3986784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multiple capabilities into a complete, customer-branded workflow with application, operations and support services.</a:t>
            </a:r>
            <a:endParaRPr lang="en-US" sz="1130" dirty="0"/>
          </a:p>
        </p:txBody>
      </p:sp>
      <p:sp>
        <p:nvSpPr>
          <p:cNvPr id="36" name="Shape 31"/>
          <p:cNvSpPr/>
          <p:nvPr/>
        </p:nvSpPr>
        <p:spPr>
          <a:xfrm>
            <a:off x="6400800" y="504748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6473952" y="5065776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9034272" y="2304288"/>
            <a:ext cx="2542032" cy="3154680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4"/>
          <p:cNvSpPr/>
          <p:nvPr/>
        </p:nvSpPr>
        <p:spPr>
          <a:xfrm>
            <a:off x="9235440" y="2523744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62724" y="2651028"/>
            <a:ext cx="275783" cy="275783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9235440" y="3218688"/>
            <a:ext cx="2139696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 / sovereign</a:t>
            </a:r>
            <a:endParaRPr lang="en-US" sz="1600" dirty="0"/>
          </a:p>
        </p:txBody>
      </p:sp>
      <p:sp>
        <p:nvSpPr>
          <p:cNvPr id="42" name="Text 36"/>
          <p:cNvSpPr txBox="1"/>
          <p:nvPr/>
        </p:nvSpPr>
        <p:spPr>
          <a:xfrm>
            <a:off x="9235440" y="3621024"/>
            <a:ext cx="21396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50" b="1" kern="0" spc="8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BY WORKLOAD</a:t>
            </a:r>
            <a:endParaRPr lang="en-US" sz="850" dirty="0"/>
          </a:p>
        </p:txBody>
      </p:sp>
      <p:sp>
        <p:nvSpPr>
          <p:cNvPr id="43" name="Text 37"/>
          <p:cNvSpPr txBox="1"/>
          <p:nvPr/>
        </p:nvSpPr>
        <p:spPr>
          <a:xfrm>
            <a:off x="9235440" y="3986784"/>
            <a:ext cx="2139696" cy="10424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sensitive capabilities and data in your environment while using hosted services where speed and economics make sense.</a:t>
            </a:r>
            <a:endParaRPr lang="en-US" sz="1130" dirty="0"/>
          </a:p>
        </p:txBody>
      </p:sp>
      <p:sp>
        <p:nvSpPr>
          <p:cNvPr id="44" name="Shape 38"/>
          <p:cNvSpPr/>
          <p:nvPr/>
        </p:nvSpPr>
        <p:spPr>
          <a:xfrm>
            <a:off x="9235440" y="5047488"/>
            <a:ext cx="102412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9308592" y="5065776"/>
            <a:ext cx="87782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PROFILED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PATH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FAST. RETAIN CONTROL. EVOLVE ON YOUR TERMS.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ProjexCloud is designed for progressive ownership and long-term flexibility.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Begin with hosted capabilities for speed, move selected workloads into your cloud, add your own code, or transition functionality to internal teams while retaining support where it adds value.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505456"/>
            <a:ext cx="1938528" cy="2322576"/>
          </a:xfrm>
          <a:prstGeom prst="roundRect">
            <a:avLst>
              <a:gd name="adj" fmla="val 849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98448" y="272491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34511" y="2860975"/>
            <a:ext cx="294803" cy="29480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86384" y="34930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1500" dirty="0"/>
          </a:p>
        </p:txBody>
      </p:sp>
      <p:sp>
        <p:nvSpPr>
          <p:cNvPr id="18" name="Text 15"/>
          <p:cNvSpPr txBox="1"/>
          <p:nvPr/>
        </p:nvSpPr>
        <p:spPr>
          <a:xfrm>
            <a:off x="786384" y="3913632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hosted APIs or a managed blueprint to prove the workflow.</a:t>
            </a:r>
            <a:endParaRPr lang="en-US" sz="1060" dirty="0"/>
          </a:p>
        </p:txBody>
      </p:sp>
      <p:sp>
        <p:nvSpPr>
          <p:cNvPr id="19" name="Shape 16"/>
          <p:cNvSpPr/>
          <p:nvPr/>
        </p:nvSpPr>
        <p:spPr>
          <a:xfrm>
            <a:off x="2569464" y="3657600"/>
            <a:ext cx="228600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889504" y="2505456"/>
            <a:ext cx="1938528" cy="2322576"/>
          </a:xfrm>
          <a:prstGeom prst="roundRect">
            <a:avLst>
              <a:gd name="adj" fmla="val 849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566160" y="272491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02223" y="2860975"/>
            <a:ext cx="294803" cy="29480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054096" y="34930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1500" dirty="0"/>
          </a:p>
        </p:txBody>
      </p:sp>
      <p:sp>
        <p:nvSpPr>
          <p:cNvPr id="24" name="Text 20"/>
          <p:cNvSpPr txBox="1"/>
          <p:nvPr/>
        </p:nvSpPr>
        <p:spPr>
          <a:xfrm>
            <a:off x="3054096" y="3913632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Embed selected SDKs and connect existing systems and data.</a:t>
            </a:r>
            <a:endParaRPr lang="en-US" sz="1060" dirty="0"/>
          </a:p>
        </p:txBody>
      </p:sp>
      <p:sp>
        <p:nvSpPr>
          <p:cNvPr id="25" name="Shape 21"/>
          <p:cNvSpPr/>
          <p:nvPr/>
        </p:nvSpPr>
        <p:spPr>
          <a:xfrm>
            <a:off x="4837176" y="3657600"/>
            <a:ext cx="228600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5157216" y="2505456"/>
            <a:ext cx="1938528" cy="2322576"/>
          </a:xfrm>
          <a:prstGeom prst="roundRect">
            <a:avLst>
              <a:gd name="adj" fmla="val 849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5833872" y="272491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969935" y="2860975"/>
            <a:ext cx="294803" cy="29480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5321808" y="34930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</a:t>
            </a:r>
            <a:endParaRPr lang="en-US" sz="1500" dirty="0"/>
          </a:p>
        </p:txBody>
      </p:sp>
      <p:sp>
        <p:nvSpPr>
          <p:cNvPr id="30" name="Text 25"/>
          <p:cNvSpPr txBox="1"/>
          <p:nvPr/>
        </p:nvSpPr>
        <p:spPr>
          <a:xfrm>
            <a:off x="5321808" y="3913632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sensitive or strategic capabilities in your cloud with BYOK.</a:t>
            </a:r>
            <a:endParaRPr lang="en-US" sz="1060" dirty="0"/>
          </a:p>
        </p:txBody>
      </p:sp>
      <p:sp>
        <p:nvSpPr>
          <p:cNvPr id="31" name="Shape 26"/>
          <p:cNvSpPr/>
          <p:nvPr/>
        </p:nvSpPr>
        <p:spPr>
          <a:xfrm>
            <a:off x="7104888" y="3657600"/>
            <a:ext cx="228600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7424928" y="2505456"/>
            <a:ext cx="1938528" cy="2322576"/>
          </a:xfrm>
          <a:prstGeom prst="roundRect">
            <a:avLst>
              <a:gd name="adj" fmla="val 849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8101584" y="272491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237647" y="2860975"/>
            <a:ext cx="294803" cy="294803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7589520" y="34930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Extend</a:t>
            </a:r>
            <a:endParaRPr lang="en-US" sz="1500" dirty="0"/>
          </a:p>
        </p:txBody>
      </p:sp>
      <p:sp>
        <p:nvSpPr>
          <p:cNvPr id="36" name="Text 30"/>
          <p:cNvSpPr txBox="1"/>
          <p:nvPr/>
        </p:nvSpPr>
        <p:spPr>
          <a:xfrm>
            <a:off x="7589520" y="3913632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 customer-owned business logic, models, connectors and UX.</a:t>
            </a:r>
            <a:endParaRPr lang="en-US" sz="1060" dirty="0"/>
          </a:p>
        </p:txBody>
      </p:sp>
      <p:sp>
        <p:nvSpPr>
          <p:cNvPr id="37" name="Shape 31"/>
          <p:cNvSpPr/>
          <p:nvPr/>
        </p:nvSpPr>
        <p:spPr>
          <a:xfrm>
            <a:off x="9372600" y="3657600"/>
            <a:ext cx="228600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9692640" y="2505456"/>
            <a:ext cx="1938528" cy="2322576"/>
          </a:xfrm>
          <a:prstGeom prst="roundRect">
            <a:avLst>
              <a:gd name="adj" fmla="val 849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10369296" y="272491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505359" y="2860975"/>
            <a:ext cx="294803" cy="294803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9857232" y="3493008"/>
            <a:ext cx="160934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Optimize</a:t>
            </a:r>
            <a:endParaRPr lang="en-US" sz="1500" dirty="0"/>
          </a:p>
        </p:txBody>
      </p:sp>
      <p:sp>
        <p:nvSpPr>
          <p:cNvPr id="42" name="Text 35"/>
          <p:cNvSpPr txBox="1"/>
          <p:nvPr/>
        </p:nvSpPr>
        <p:spPr>
          <a:xfrm>
            <a:off x="9857232" y="3913632"/>
            <a:ext cx="1609344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Retain ProjexCloud assurance, upgrades and support where desired.</a:t>
            </a:r>
            <a:endParaRPr lang="en-US" sz="1060" dirty="0"/>
          </a:p>
        </p:txBody>
      </p:sp>
      <p:sp>
        <p:nvSpPr>
          <p:cNvPr id="43" name="Shape 36"/>
          <p:cNvSpPr/>
          <p:nvPr/>
        </p:nvSpPr>
        <p:spPr>
          <a:xfrm>
            <a:off x="1508760" y="5193792"/>
            <a:ext cx="9144000" cy="658368"/>
          </a:xfrm>
          <a:prstGeom prst="roundRect">
            <a:avLst>
              <a:gd name="adj" fmla="val 25000"/>
            </a:avLst>
          </a:prstGeom>
          <a:solidFill>
            <a:srgbClr val="11253A"/>
          </a:solidFill>
          <a:ln w="12700">
            <a:solidFill>
              <a:srgbClr val="36D4C0">
                <a:alpha val="65000"/>
              </a:srgbClr>
            </a:solidFill>
            <a:prstDash val="solid"/>
          </a:ln>
        </p:spPr>
      </p:sp>
      <p:sp>
        <p:nvSpPr>
          <p:cNvPr id="44" name="Text 37"/>
          <p:cNvSpPr txBox="1"/>
          <p:nvPr/>
        </p:nvSpPr>
        <p:spPr>
          <a:xfrm>
            <a:off x="1810512" y="5376672"/>
            <a:ext cx="85404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differentiated business logic remains yours. ProjexCloud provides the reusable foundation and operating confidence around it.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VALUE PROPOSITION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ACCESS IS USEFUL. ACCOUNTABLE OPERATION IS ENTERPRISE VALUE.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ProjexCloud applies the proven enterprise-open-source model to composable application capabilities.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Customers invest in validated releases, compatibility, security response, lifecycle management, evidence, architecture guidance and contractual support.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377440"/>
            <a:ext cx="5230368" cy="868680"/>
          </a:xfrm>
          <a:prstGeom prst="roundRect">
            <a:avLst>
              <a:gd name="adj" fmla="val 178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377440"/>
            <a:ext cx="50292" cy="868680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50545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capability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2907792"/>
            <a:ext cx="4901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interfaces, version manifests and deployment options.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621792" y="3474720"/>
            <a:ext cx="5230368" cy="868680"/>
          </a:xfrm>
          <a:prstGeom prst="roundRect">
            <a:avLst>
              <a:gd name="adj" fmla="val 178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21792" y="3474720"/>
            <a:ext cx="50292" cy="868680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786384" y="360273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control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786384" y="4005072"/>
            <a:ext cx="4901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 in your environment, use your keys, connect your systems and extend the code.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621792" y="4572000"/>
            <a:ext cx="5230368" cy="868680"/>
          </a:xfrm>
          <a:prstGeom prst="roundRect">
            <a:avLst>
              <a:gd name="adj" fmla="val 178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4572000"/>
            <a:ext cx="50292" cy="868680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470001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innovation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5102352"/>
            <a:ext cx="4901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Benefit from improvements produced across a reusable capability base.</a:t>
            </a:r>
            <a:endParaRPr lang="en-US" sz="1150" dirty="0"/>
          </a:p>
        </p:txBody>
      </p:sp>
      <p:sp>
        <p:nvSpPr>
          <p:cNvPr id="26" name="Shape 24"/>
          <p:cNvSpPr/>
          <p:nvPr/>
        </p:nvSpPr>
        <p:spPr>
          <a:xfrm>
            <a:off x="6291072" y="2377440"/>
            <a:ext cx="5230368" cy="868680"/>
          </a:xfrm>
          <a:prstGeom prst="roundRect">
            <a:avLst>
              <a:gd name="adj" fmla="val 178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291072" y="2377440"/>
            <a:ext cx="50292" cy="868680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55664" y="250545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release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455664" y="2907792"/>
            <a:ext cx="4901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functional, security, resilience and compatibility gates.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6291072" y="3474720"/>
            <a:ext cx="5230368" cy="868680"/>
          </a:xfrm>
          <a:prstGeom prst="roundRect">
            <a:avLst>
              <a:gd name="adj" fmla="val 178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91072" y="3474720"/>
            <a:ext cx="50292" cy="86868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6455664" y="360273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lifecycle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6455664" y="4005072"/>
            <a:ext cx="4901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Patches, upgrades, compatibility guidance and escalation ownership.</a:t>
            </a:r>
            <a:endParaRPr lang="en-US" sz="1150" dirty="0"/>
          </a:p>
        </p:txBody>
      </p:sp>
      <p:sp>
        <p:nvSpPr>
          <p:cNvPr id="34" name="Shape 32"/>
          <p:cNvSpPr/>
          <p:nvPr/>
        </p:nvSpPr>
        <p:spPr>
          <a:xfrm>
            <a:off x="6291072" y="4572000"/>
            <a:ext cx="5230368" cy="868680"/>
          </a:xfrm>
          <a:prstGeom prst="roundRect">
            <a:avLst>
              <a:gd name="adj" fmla="val 178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291072" y="4572000"/>
            <a:ext cx="50292" cy="868680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455664" y="4700016"/>
            <a:ext cx="4919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Operational accountability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455664" y="5102352"/>
            <a:ext cx="4901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teams, SLA, incident command, runbooks and service reviews.</a:t>
            </a:r>
            <a:endParaRPr lang="en-US" sz="1150" dirty="0"/>
          </a:p>
        </p:txBody>
      </p:sp>
      <p:sp>
        <p:nvSpPr>
          <p:cNvPr id="38" name="Shape 36"/>
          <p:cNvSpPr/>
          <p:nvPr/>
        </p:nvSpPr>
        <p:spPr>
          <a:xfrm>
            <a:off x="1920240" y="5669280"/>
            <a:ext cx="8275320" cy="512064"/>
          </a:xfrm>
          <a:prstGeom prst="roundRect">
            <a:avLst>
              <a:gd name="adj" fmla="val 28571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084832" y="5797296"/>
            <a:ext cx="79369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 foundation + enterprise assurance + deployment choice = durable customer confidence</a:t>
            </a:r>
            <a:endParaRPr lang="en-US" sz="1350" dirty="0"/>
          </a:p>
        </p:txBody>
      </p:sp>
      <p:sp>
        <p:nvSpPr>
          <p:cNvPr id="40" name="Text 38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Reference model: Red Hat enterprise open-source guidance and subscription lifecycle model.</a:t>
            </a:r>
            <a:endParaRPr lang="en-US" sz="68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CERTIFIED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PROJEXCLOUD CERTIFIED PROMISE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Every customer release completes 100% of its mandatory gates before shipment.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is version-specific, deployment-profile-specific and evidence-backed. The order form identifies the exact capability versions, operating profile, dependencies, SLA and shared-responsibility model.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2286000"/>
            <a:ext cx="3767328" cy="3255264"/>
          </a:xfrm>
          <a:prstGeom prst="roundRect">
            <a:avLst>
              <a:gd name="adj" fmla="val 6461"/>
            </a:avLst>
          </a:prstGeom>
          <a:solidFill>
            <a:srgbClr val="11253A"/>
          </a:solidFill>
          <a:ln w="17780">
            <a:solidFill>
              <a:srgbClr val="52D6A4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572768" y="2688336"/>
            <a:ext cx="1810512" cy="181051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987552" y="4462272"/>
            <a:ext cx="2999232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PROJEXCLOUD</a:t>
            </a:r>
            <a:endParaRPr lang="en-US" sz="24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24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CERTIFIED</a:t>
            </a:r>
            <a:endParaRPr lang="en-US" sz="2400" dirty="0"/>
          </a:p>
        </p:txBody>
      </p:sp>
      <p:sp>
        <p:nvSpPr>
          <p:cNvPr id="17" name="Shape 14"/>
          <p:cNvSpPr/>
          <p:nvPr/>
        </p:nvSpPr>
        <p:spPr>
          <a:xfrm>
            <a:off x="1024128" y="5212080"/>
            <a:ext cx="2926080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097280" y="5230368"/>
            <a:ext cx="27797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· EVIDENCED · SUPPORTED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4773168" y="2514600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4919472" y="2404872"/>
            <a:ext cx="6345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gate completion </a:t>
            </a:r>
            <a:r>
              <a:rPr lang="en-US" sz="12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All required tests and operational controls for the agreed profile are complete.</a:t>
            </a:r>
            <a:endParaRPr lang="en-US" sz="1210" dirty="0"/>
          </a:p>
        </p:txBody>
      </p:sp>
      <p:sp>
        <p:nvSpPr>
          <p:cNvPr id="21" name="Shape 18"/>
          <p:cNvSpPr/>
          <p:nvPr/>
        </p:nvSpPr>
        <p:spPr>
          <a:xfrm>
            <a:off x="4773168" y="3118104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2" name="Text 19"/>
          <p:cNvSpPr/>
          <p:nvPr/>
        </p:nvSpPr>
        <p:spPr>
          <a:xfrm>
            <a:off x="4919472" y="3008376"/>
            <a:ext cx="6345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with every release </a:t>
            </a:r>
            <a:r>
              <a:rPr lang="en-US" sz="12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 manifest, test summary, SBOM/provenance, compatibility and runbook references.</a:t>
            </a:r>
            <a:endParaRPr lang="en-US" sz="1210" dirty="0"/>
          </a:p>
        </p:txBody>
      </p:sp>
      <p:sp>
        <p:nvSpPr>
          <p:cNvPr id="23" name="Shape 20"/>
          <p:cNvSpPr/>
          <p:nvPr/>
        </p:nvSpPr>
        <p:spPr>
          <a:xfrm>
            <a:off x="4773168" y="3721608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4919472" y="3611880"/>
            <a:ext cx="6345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discipline </a:t>
            </a:r>
            <a:r>
              <a:rPr lang="en-US" sz="12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release channels receive only certified versions; innovation remains in controlled internal environments until it qualifies.</a:t>
            </a:r>
            <a:endParaRPr lang="en-US" sz="1210" dirty="0"/>
          </a:p>
        </p:txBody>
      </p:sp>
      <p:sp>
        <p:nvSpPr>
          <p:cNvPr id="25" name="Shape 22"/>
          <p:cNvSpPr/>
          <p:nvPr/>
        </p:nvSpPr>
        <p:spPr>
          <a:xfrm>
            <a:off x="4773168" y="4325112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4919472" y="4215384"/>
            <a:ext cx="6345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commitment </a:t>
            </a:r>
            <a:r>
              <a:rPr lang="en-US" sz="12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Published maintenance, security response, upgrade and end-of-support policy.</a:t>
            </a:r>
            <a:endParaRPr lang="en-US" sz="1210" dirty="0"/>
          </a:p>
        </p:txBody>
      </p:sp>
      <p:sp>
        <p:nvSpPr>
          <p:cNvPr id="27" name="Shape 24"/>
          <p:cNvSpPr/>
          <p:nvPr/>
        </p:nvSpPr>
        <p:spPr>
          <a:xfrm>
            <a:off x="4773168" y="4928616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8" name="Text 25"/>
          <p:cNvSpPr/>
          <p:nvPr/>
        </p:nvSpPr>
        <p:spPr>
          <a:xfrm>
            <a:off x="4919472" y="4818888"/>
            <a:ext cx="6345936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1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Confidence through precision </a:t>
            </a:r>
            <a:r>
              <a:rPr lang="en-US" sz="12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 state exactly what is certified, where it runs, what we operate and what the customer controls.</a:t>
            </a:r>
            <a:endParaRPr lang="en-US" sz="1210" dirty="0"/>
          </a:p>
        </p:txBody>
      </p:sp>
      <p:sp>
        <p:nvSpPr>
          <p:cNvPr id="29" name="Text 26"/>
          <p:cNvSpPr txBox="1"/>
          <p:nvPr/>
        </p:nvSpPr>
        <p:spPr>
          <a:xfrm>
            <a:off x="4919472" y="5650992"/>
            <a:ext cx="6080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0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“Certified” is a ProjexCloud product release designation governed by the documented assurance process in this deck.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EIGHT GATES FROM CAPABILITY TO CUSTOMER RELEASE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repeatable release system makes quality scalable.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capability follows the same assurance grammar, while domain-specific tests and customer deployment requirements are added to the profile.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2331720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170432" y="2468880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</a:t>
            </a:r>
            <a:endParaRPr lang="en-US" sz="137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28803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API/schema compatibility</a:t>
            </a:r>
            <a:endParaRPr lang="en-US" sz="1040" dirty="0"/>
          </a:p>
        </p:txBody>
      </p:sp>
      <p:sp>
        <p:nvSpPr>
          <p:cNvPr id="18" name="Shape 16"/>
          <p:cNvSpPr/>
          <p:nvPr/>
        </p:nvSpPr>
        <p:spPr>
          <a:xfrm>
            <a:off x="3401568" y="2331720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56616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4005072" y="2468880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Functional</a:t>
            </a:r>
            <a:endParaRPr lang="en-US" sz="1370" dirty="0"/>
          </a:p>
        </p:txBody>
      </p:sp>
      <p:sp>
        <p:nvSpPr>
          <p:cNvPr id="21" name="Text 19"/>
          <p:cNvSpPr txBox="1"/>
          <p:nvPr/>
        </p:nvSpPr>
        <p:spPr>
          <a:xfrm>
            <a:off x="3566160" y="28803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Positive, boundary and exception cases</a:t>
            </a:r>
            <a:endParaRPr lang="en-US" sz="1040" dirty="0"/>
          </a:p>
        </p:txBody>
      </p:sp>
      <p:sp>
        <p:nvSpPr>
          <p:cNvPr id="22" name="Shape 20"/>
          <p:cNvSpPr/>
          <p:nvPr/>
        </p:nvSpPr>
        <p:spPr>
          <a:xfrm>
            <a:off x="6236208" y="2331720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640080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4" name="Text 22"/>
          <p:cNvSpPr txBox="1"/>
          <p:nvPr/>
        </p:nvSpPr>
        <p:spPr>
          <a:xfrm>
            <a:off x="6839712" y="2468880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</a:t>
            </a:r>
            <a:endParaRPr lang="en-US" sz="1370" dirty="0"/>
          </a:p>
        </p:txBody>
      </p:sp>
      <p:sp>
        <p:nvSpPr>
          <p:cNvPr id="25" name="Text 23"/>
          <p:cNvSpPr txBox="1"/>
          <p:nvPr/>
        </p:nvSpPr>
        <p:spPr>
          <a:xfrm>
            <a:off x="6400800" y="28803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Real dependencies and deterministic fakes</a:t>
            </a:r>
            <a:endParaRPr lang="en-US" sz="1040" dirty="0"/>
          </a:p>
        </p:txBody>
      </p:sp>
      <p:sp>
        <p:nvSpPr>
          <p:cNvPr id="26" name="Shape 24"/>
          <p:cNvSpPr/>
          <p:nvPr/>
        </p:nvSpPr>
        <p:spPr>
          <a:xfrm>
            <a:off x="9070848" y="2331720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235440" y="2487168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9674352" y="2468880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370" dirty="0"/>
          </a:p>
        </p:txBody>
      </p:sp>
      <p:sp>
        <p:nvSpPr>
          <p:cNvPr id="29" name="Text 27"/>
          <p:cNvSpPr txBox="1"/>
          <p:nvPr/>
        </p:nvSpPr>
        <p:spPr>
          <a:xfrm>
            <a:off x="9235440" y="2880360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Threat, dependency and secrets controls</a:t>
            </a:r>
            <a:endParaRPr lang="en-US" sz="1040" dirty="0"/>
          </a:p>
        </p:txBody>
      </p:sp>
      <p:sp>
        <p:nvSpPr>
          <p:cNvPr id="30" name="Shape 28"/>
          <p:cNvSpPr/>
          <p:nvPr/>
        </p:nvSpPr>
        <p:spPr>
          <a:xfrm>
            <a:off x="566928" y="3822192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1" name="Text 29"/>
          <p:cNvSpPr txBox="1"/>
          <p:nvPr/>
        </p:nvSpPr>
        <p:spPr>
          <a:xfrm>
            <a:off x="73152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32" name="Text 30"/>
          <p:cNvSpPr txBox="1"/>
          <p:nvPr/>
        </p:nvSpPr>
        <p:spPr>
          <a:xfrm>
            <a:off x="1170432" y="3959352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Resilience</a:t>
            </a:r>
            <a:endParaRPr lang="en-US" sz="1370" dirty="0"/>
          </a:p>
        </p:txBody>
      </p:sp>
      <p:sp>
        <p:nvSpPr>
          <p:cNvPr id="33" name="Text 31"/>
          <p:cNvSpPr txBox="1"/>
          <p:nvPr/>
        </p:nvSpPr>
        <p:spPr>
          <a:xfrm>
            <a:off x="731520" y="43708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Timeout, retry, failover and recovery</a:t>
            </a:r>
            <a:endParaRPr lang="en-US" sz="1040" dirty="0"/>
          </a:p>
        </p:txBody>
      </p:sp>
      <p:sp>
        <p:nvSpPr>
          <p:cNvPr id="34" name="Shape 32"/>
          <p:cNvSpPr/>
          <p:nvPr/>
        </p:nvSpPr>
        <p:spPr>
          <a:xfrm>
            <a:off x="3401568" y="3822192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356616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36" name="Text 34"/>
          <p:cNvSpPr txBox="1"/>
          <p:nvPr/>
        </p:nvSpPr>
        <p:spPr>
          <a:xfrm>
            <a:off x="4005072" y="3959352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Performance</a:t>
            </a:r>
            <a:endParaRPr lang="en-US" sz="1370" dirty="0"/>
          </a:p>
        </p:txBody>
      </p:sp>
      <p:sp>
        <p:nvSpPr>
          <p:cNvPr id="37" name="Text 35"/>
          <p:cNvSpPr txBox="1"/>
          <p:nvPr/>
        </p:nvSpPr>
        <p:spPr>
          <a:xfrm>
            <a:off x="3566160" y="43708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SLO, capacity and cost envelope</a:t>
            </a:r>
            <a:endParaRPr lang="en-US" sz="1040" dirty="0"/>
          </a:p>
        </p:txBody>
      </p:sp>
      <p:sp>
        <p:nvSpPr>
          <p:cNvPr id="38" name="Shape 36"/>
          <p:cNvSpPr/>
          <p:nvPr/>
        </p:nvSpPr>
        <p:spPr>
          <a:xfrm>
            <a:off x="6236208" y="3822192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640080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07</a:t>
            </a:r>
            <a:endParaRPr lang="en-US" sz="1000" dirty="0"/>
          </a:p>
        </p:txBody>
      </p:sp>
      <p:sp>
        <p:nvSpPr>
          <p:cNvPr id="40" name="Text 38"/>
          <p:cNvSpPr txBox="1"/>
          <p:nvPr/>
        </p:nvSpPr>
        <p:spPr>
          <a:xfrm>
            <a:off x="6839712" y="3959352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Observability</a:t>
            </a:r>
            <a:endParaRPr lang="en-US" sz="1370" dirty="0"/>
          </a:p>
        </p:txBody>
      </p:sp>
      <p:sp>
        <p:nvSpPr>
          <p:cNvPr id="41" name="Text 39"/>
          <p:cNvSpPr txBox="1"/>
          <p:nvPr/>
        </p:nvSpPr>
        <p:spPr>
          <a:xfrm>
            <a:off x="6400800" y="43708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Trace, metric, log, audit and evidence</a:t>
            </a:r>
            <a:endParaRPr lang="en-US" sz="1040" dirty="0"/>
          </a:p>
        </p:txBody>
      </p:sp>
      <p:sp>
        <p:nvSpPr>
          <p:cNvPr id="42" name="Shape 40"/>
          <p:cNvSpPr/>
          <p:nvPr/>
        </p:nvSpPr>
        <p:spPr>
          <a:xfrm>
            <a:off x="9070848" y="3822192"/>
            <a:ext cx="2542032" cy="1261872"/>
          </a:xfrm>
          <a:prstGeom prst="roundRect">
            <a:avLst>
              <a:gd name="adj" fmla="val 1304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3" name="Text 41"/>
          <p:cNvSpPr txBox="1"/>
          <p:nvPr/>
        </p:nvSpPr>
        <p:spPr>
          <a:xfrm>
            <a:off x="9235440" y="397764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08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9674352" y="3959352"/>
            <a:ext cx="1755648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</a:t>
            </a:r>
            <a:endParaRPr lang="en-US" sz="1370" dirty="0"/>
          </a:p>
        </p:txBody>
      </p:sp>
      <p:sp>
        <p:nvSpPr>
          <p:cNvPr id="45" name="Text 43"/>
          <p:cNvSpPr txBox="1"/>
          <p:nvPr/>
        </p:nvSpPr>
        <p:spPr>
          <a:xfrm>
            <a:off x="9235440" y="4370832"/>
            <a:ext cx="2176272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Runbook, owner, escalation and lifecycle</a:t>
            </a:r>
            <a:endParaRPr lang="en-US" sz="1040" dirty="0"/>
          </a:p>
        </p:txBody>
      </p:sp>
      <p:sp>
        <p:nvSpPr>
          <p:cNvPr id="46" name="Shape 44"/>
          <p:cNvSpPr/>
          <p:nvPr/>
        </p:nvSpPr>
        <p:spPr>
          <a:xfrm>
            <a:off x="1188720" y="5458968"/>
            <a:ext cx="9802368" cy="585216"/>
          </a:xfrm>
          <a:prstGeom prst="roundRect">
            <a:avLst>
              <a:gd name="adj" fmla="val 28125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417320" y="5623560"/>
            <a:ext cx="9326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rule: a customer artifact is promoted only when every required gate is green and its evidence bundle is complete.</a:t>
            </a:r>
            <a:endParaRPr lang="en-US" sz="132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EVIDENCE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ACCOMPANIES A CERTIFIED RELEASE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Confidence is tangible, reviewable and reusable.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evidence pack supports application teams, security review, architecture governance, procurement, operations and audit.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37744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377440"/>
            <a:ext cx="50292" cy="1325880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53288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262944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5054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version manifest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90779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Capability, dependency and deployment profile versions</a:t>
            </a:r>
            <a:endParaRPr lang="en-US" sz="1080" dirty="0"/>
          </a:p>
        </p:txBody>
      </p:sp>
      <p:sp>
        <p:nvSpPr>
          <p:cNvPr id="20" name="Shape 17"/>
          <p:cNvSpPr/>
          <p:nvPr/>
        </p:nvSpPr>
        <p:spPr>
          <a:xfrm>
            <a:off x="4352544" y="237744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2377440"/>
            <a:ext cx="50292" cy="1325880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17136" y="253288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697" y="262944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5054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 &amp; quality summary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17136" y="290779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gates, coverage and release approval</a:t>
            </a:r>
            <a:endParaRPr lang="en-US" sz="1080" dirty="0"/>
          </a:p>
        </p:txBody>
      </p:sp>
      <p:sp>
        <p:nvSpPr>
          <p:cNvPr id="26" name="Shape 22"/>
          <p:cNvSpPr/>
          <p:nvPr/>
        </p:nvSpPr>
        <p:spPr>
          <a:xfrm>
            <a:off x="8083296" y="237744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83296" y="2377440"/>
            <a:ext cx="50292" cy="1325880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253288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4449" y="2629449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59952" y="250545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SBOM &amp; provenance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90779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Components, build identity and signed artifact references</a:t>
            </a:r>
            <a:endParaRPr lang="en-US" sz="1080" dirty="0"/>
          </a:p>
        </p:txBody>
      </p:sp>
      <p:sp>
        <p:nvSpPr>
          <p:cNvPr id="32" name="Shape 27"/>
          <p:cNvSpPr/>
          <p:nvPr/>
        </p:nvSpPr>
        <p:spPr>
          <a:xfrm>
            <a:off x="621792" y="3950208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21792" y="3950208"/>
            <a:ext cx="50292" cy="132588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41056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45" y="4202217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98448" y="407822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posture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86384" y="4480560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Threat controls, dependency status and response channel</a:t>
            </a:r>
            <a:endParaRPr lang="en-US" sz="1080" dirty="0"/>
          </a:p>
        </p:txBody>
      </p:sp>
      <p:sp>
        <p:nvSpPr>
          <p:cNvPr id="38" name="Shape 32"/>
          <p:cNvSpPr/>
          <p:nvPr/>
        </p:nvSpPr>
        <p:spPr>
          <a:xfrm>
            <a:off x="4352544" y="3950208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352544" y="3950208"/>
            <a:ext cx="50292" cy="1325880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17136" y="41056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3697" y="4202217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29200" y="407822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Compatibility matrix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17136" y="4480560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Supported runtimes, APIs, cloud services and upgrade path</a:t>
            </a:r>
            <a:endParaRPr lang="en-US" sz="1080" dirty="0"/>
          </a:p>
        </p:txBody>
      </p:sp>
      <p:sp>
        <p:nvSpPr>
          <p:cNvPr id="44" name="Shape 37"/>
          <p:cNvSpPr/>
          <p:nvPr/>
        </p:nvSpPr>
        <p:spPr>
          <a:xfrm>
            <a:off x="8083296" y="3950208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083296" y="3950208"/>
            <a:ext cx="50292" cy="1325880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47888" y="410565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4449" y="4202217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59952" y="407822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 pack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47888" y="4480560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SLOs, telemetry, runbooks, escalation and recovery</a:t>
            </a:r>
            <a:endParaRPr lang="en-US" sz="1080" dirty="0"/>
          </a:p>
        </p:txBody>
      </p:sp>
      <p:sp>
        <p:nvSpPr>
          <p:cNvPr id="50" name="Shape 42"/>
          <p:cNvSpPr/>
          <p:nvPr/>
        </p:nvSpPr>
        <p:spPr>
          <a:xfrm>
            <a:off x="3246120" y="5705856"/>
            <a:ext cx="571500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36D4C0">
                <a:alpha val="70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3319272" y="5724144"/>
            <a:ext cx="5568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6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IN THE DIGITAL SALES ROOM AND CUSTOMER PORTAL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EXPERIENCE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SINGLE EXPERIENCE FOR DISCOVERY, COMPOSITION AND OPERATIONS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SPA is the customer’s control surface for capabilities and architecture.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Browse certified capabilities, inspect contracts, compose solution blueprints, choose deployment profiles, track release evidence and access support.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2194560"/>
            <a:ext cx="6812280" cy="3547872"/>
          </a:xfrm>
          <a:prstGeom prst="roundRect">
            <a:avLst>
              <a:gd name="adj" fmla="val 4639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5" name="Image 0" descr="/mnt/data/projexcloud_customer_deck_assets/platform_spa_crop.png"/>
          <p:cNvPicPr>
            <a:picLocks noChangeAspect="1"/>
          </p:cNvPicPr>
          <p:nvPr/>
        </p:nvPicPr>
        <p:blipFill>
          <a:blip r:embed="rId3"/>
          <a:srcRect t="6391" b="6391"/>
          <a:stretch/>
        </p:blipFill>
        <p:spPr>
          <a:xfrm>
            <a:off x="731520" y="2359152"/>
            <a:ext cx="6483096" cy="3218688"/>
          </a:xfrm>
          <a:prstGeom prst="rect">
            <a:avLst/>
          </a:prstGeom>
        </p:spPr>
      </p:pic>
      <p:sp>
        <p:nvSpPr>
          <p:cNvPr id="16" name="Shape 13"/>
          <p:cNvSpPr/>
          <p:nvPr/>
        </p:nvSpPr>
        <p:spPr>
          <a:xfrm>
            <a:off x="987552" y="2423160"/>
            <a:ext cx="3364992" cy="201168"/>
          </a:xfrm>
          <a:prstGeom prst="roundRect">
            <a:avLst>
              <a:gd name="adj" fmla="val 9091"/>
            </a:avLst>
          </a:prstGeom>
          <a:solidFill>
            <a:srgbClr val="11253A"/>
          </a:solidFill>
          <a:ln w="12700">
            <a:solidFill>
              <a:srgbClr val="11253A">
                <a:alpha val="0"/>
              </a:srgbClr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78992" y="2450592"/>
            <a:ext cx="3182112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b="1" kern="0" spc="7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CONSTITUTION · WHOLE-PLATFORM REFERENCE</a:t>
            </a:r>
            <a:endParaRPr lang="en-US" sz="680" dirty="0"/>
          </a:p>
        </p:txBody>
      </p:sp>
      <p:sp>
        <p:nvSpPr>
          <p:cNvPr id="18" name="Shape 15"/>
          <p:cNvSpPr/>
          <p:nvPr/>
        </p:nvSpPr>
        <p:spPr>
          <a:xfrm>
            <a:off x="731520" y="3895344"/>
            <a:ext cx="6483096" cy="1682496"/>
          </a:xfrm>
          <a:prstGeom prst="roundRect">
            <a:avLst>
              <a:gd name="adj" fmla="val 1087"/>
            </a:avLst>
          </a:prstGeom>
          <a:solidFill>
            <a:srgbClr val="07111D"/>
          </a:solidFill>
          <a:ln w="12700">
            <a:solidFill>
              <a:srgbClr val="07111D">
                <a:alpha val="0"/>
              </a:srgbClr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1078992" y="4178808"/>
            <a:ext cx="577900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 capabilities, compose blueprints, review release evidence and select the right operating profile.</a:t>
            </a:r>
            <a:endParaRPr lang="en-US" sz="1320" dirty="0"/>
          </a:p>
        </p:txBody>
      </p:sp>
      <p:sp>
        <p:nvSpPr>
          <p:cNvPr id="20" name="Shape 17"/>
          <p:cNvSpPr/>
          <p:nvPr/>
        </p:nvSpPr>
        <p:spPr>
          <a:xfrm>
            <a:off x="1078992" y="4864608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152144" y="4882896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2587752" y="4864608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2660904" y="4882896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</a:t>
            </a:r>
            <a:endParaRPr lang="en-US" sz="850" dirty="0"/>
          </a:p>
        </p:txBody>
      </p:sp>
      <p:sp>
        <p:nvSpPr>
          <p:cNvPr id="24" name="Shape 21"/>
          <p:cNvSpPr/>
          <p:nvPr/>
        </p:nvSpPr>
        <p:spPr>
          <a:xfrm>
            <a:off x="3941064" y="4864608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014216" y="4882896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5577840" y="4864608"/>
            <a:ext cx="1353312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5650992" y="4882896"/>
            <a:ext cx="120700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PROFILES</a:t>
            </a:r>
            <a:endParaRPr lang="en-US" sz="850" dirty="0"/>
          </a:p>
        </p:txBody>
      </p:sp>
      <p:sp>
        <p:nvSpPr>
          <p:cNvPr id="28" name="Shape 25"/>
          <p:cNvSpPr/>
          <p:nvPr/>
        </p:nvSpPr>
        <p:spPr>
          <a:xfrm>
            <a:off x="7662672" y="2194560"/>
            <a:ext cx="3931920" cy="3547872"/>
          </a:xfrm>
          <a:prstGeom prst="roundRect">
            <a:avLst>
              <a:gd name="adj" fmla="val 4639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9" name="Shape 26"/>
          <p:cNvSpPr/>
          <p:nvPr/>
        </p:nvSpPr>
        <p:spPr>
          <a:xfrm>
            <a:off x="7936992" y="2487168"/>
            <a:ext cx="365760" cy="365760"/>
          </a:xfrm>
          <a:prstGeom prst="roundRect">
            <a:avLst>
              <a:gd name="adj" fmla="val 45000"/>
            </a:avLst>
          </a:prstGeom>
          <a:solidFill>
            <a:srgbClr val="0D1A29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3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8024774" y="2574950"/>
            <a:ext cx="190195" cy="190195"/>
          </a:xfrm>
          <a:prstGeom prst="rect">
            <a:avLst/>
          </a:prstGeom>
        </p:spPr>
      </p:pic>
      <p:sp>
        <p:nvSpPr>
          <p:cNvPr id="31" name="Text 27"/>
          <p:cNvSpPr txBox="1"/>
          <p:nvPr/>
        </p:nvSpPr>
        <p:spPr>
          <a:xfrm>
            <a:off x="8430768" y="2459736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1150" dirty="0"/>
          </a:p>
        </p:txBody>
      </p:sp>
      <p:sp>
        <p:nvSpPr>
          <p:cNvPr id="32" name="Text 28"/>
          <p:cNvSpPr txBox="1"/>
          <p:nvPr/>
        </p:nvSpPr>
        <p:spPr>
          <a:xfrm>
            <a:off x="9189720" y="2459736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 and compare capability contracts</a:t>
            </a:r>
            <a:endParaRPr lang="en-US" sz="980" dirty="0"/>
          </a:p>
        </p:txBody>
      </p:sp>
      <p:sp>
        <p:nvSpPr>
          <p:cNvPr id="33" name="Shape 29"/>
          <p:cNvSpPr/>
          <p:nvPr/>
        </p:nvSpPr>
        <p:spPr>
          <a:xfrm>
            <a:off x="7936992" y="3072384"/>
            <a:ext cx="365760" cy="365760"/>
          </a:xfrm>
          <a:prstGeom prst="roundRect">
            <a:avLst>
              <a:gd name="adj" fmla="val 45000"/>
            </a:avLst>
          </a:prstGeom>
          <a:solidFill>
            <a:srgbClr val="0D1A29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024774" y="3160166"/>
            <a:ext cx="190195" cy="19019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430768" y="3044952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Compose</a:t>
            </a:r>
            <a:endParaRPr lang="en-US" sz="1150" dirty="0"/>
          </a:p>
        </p:txBody>
      </p:sp>
      <p:sp>
        <p:nvSpPr>
          <p:cNvPr id="36" name="Text 31"/>
          <p:cNvSpPr txBox="1"/>
          <p:nvPr/>
        </p:nvSpPr>
        <p:spPr>
          <a:xfrm>
            <a:off x="9189720" y="304495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an intent-to-capability plan</a:t>
            </a:r>
            <a:endParaRPr lang="en-US" sz="980" dirty="0"/>
          </a:p>
        </p:txBody>
      </p:sp>
      <p:sp>
        <p:nvSpPr>
          <p:cNvPr id="37" name="Shape 32"/>
          <p:cNvSpPr/>
          <p:nvPr/>
        </p:nvSpPr>
        <p:spPr>
          <a:xfrm>
            <a:off x="7936992" y="3657600"/>
            <a:ext cx="365760" cy="365760"/>
          </a:xfrm>
          <a:prstGeom prst="roundRect">
            <a:avLst>
              <a:gd name="adj" fmla="val 45000"/>
            </a:avLst>
          </a:prstGeom>
          <a:solidFill>
            <a:srgbClr val="0D1A29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3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024774" y="3745382"/>
            <a:ext cx="190195" cy="190195"/>
          </a:xfrm>
          <a:prstGeom prst="rect">
            <a:avLst/>
          </a:prstGeom>
        </p:spPr>
      </p:pic>
      <p:sp>
        <p:nvSpPr>
          <p:cNvPr id="39" name="Text 33"/>
          <p:cNvSpPr txBox="1"/>
          <p:nvPr/>
        </p:nvSpPr>
        <p:spPr>
          <a:xfrm>
            <a:off x="8430768" y="3630168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</a:t>
            </a:r>
            <a:endParaRPr lang="en-US" sz="1150" dirty="0"/>
          </a:p>
        </p:txBody>
      </p:sp>
      <p:sp>
        <p:nvSpPr>
          <p:cNvPr id="40" name="Text 34"/>
          <p:cNvSpPr txBox="1"/>
          <p:nvPr/>
        </p:nvSpPr>
        <p:spPr>
          <a:xfrm>
            <a:off x="9189720" y="36301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customer cloud, hosted or hybrid</a:t>
            </a:r>
            <a:endParaRPr lang="en-US" sz="980" dirty="0"/>
          </a:p>
        </p:txBody>
      </p:sp>
      <p:sp>
        <p:nvSpPr>
          <p:cNvPr id="41" name="Shape 35"/>
          <p:cNvSpPr/>
          <p:nvPr/>
        </p:nvSpPr>
        <p:spPr>
          <a:xfrm>
            <a:off x="7936992" y="4242816"/>
            <a:ext cx="365760" cy="365760"/>
          </a:xfrm>
          <a:prstGeom prst="roundRect">
            <a:avLst>
              <a:gd name="adj" fmla="val 45000"/>
            </a:avLst>
          </a:prstGeom>
          <a:solidFill>
            <a:srgbClr val="0D1A29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42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24774" y="4330598"/>
            <a:ext cx="190195" cy="190195"/>
          </a:xfrm>
          <a:prstGeom prst="rect">
            <a:avLst/>
          </a:prstGeom>
        </p:spPr>
      </p:pic>
      <p:sp>
        <p:nvSpPr>
          <p:cNvPr id="43" name="Text 36"/>
          <p:cNvSpPr txBox="1"/>
          <p:nvPr/>
        </p:nvSpPr>
        <p:spPr>
          <a:xfrm>
            <a:off x="8430768" y="4215384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Assure</a:t>
            </a:r>
            <a:endParaRPr lang="en-US" sz="1150" dirty="0"/>
          </a:p>
        </p:txBody>
      </p:sp>
      <p:sp>
        <p:nvSpPr>
          <p:cNvPr id="44" name="Text 37"/>
          <p:cNvSpPr txBox="1"/>
          <p:nvPr/>
        </p:nvSpPr>
        <p:spPr>
          <a:xfrm>
            <a:off x="9189720" y="421538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certification and release evidence</a:t>
            </a:r>
            <a:endParaRPr lang="en-US" sz="980" dirty="0"/>
          </a:p>
        </p:txBody>
      </p:sp>
      <p:sp>
        <p:nvSpPr>
          <p:cNvPr id="45" name="Shape 38"/>
          <p:cNvSpPr/>
          <p:nvPr/>
        </p:nvSpPr>
        <p:spPr>
          <a:xfrm>
            <a:off x="7936992" y="4828032"/>
            <a:ext cx="365760" cy="365760"/>
          </a:xfrm>
          <a:prstGeom prst="roundRect">
            <a:avLst>
              <a:gd name="adj" fmla="val 45000"/>
            </a:avLst>
          </a:prstGeom>
          <a:solidFill>
            <a:srgbClr val="0D1A29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024774" y="4915814"/>
            <a:ext cx="190195" cy="190195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8430768" y="4800600"/>
            <a:ext cx="9144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1150" dirty="0"/>
          </a:p>
        </p:txBody>
      </p:sp>
      <p:sp>
        <p:nvSpPr>
          <p:cNvPr id="48" name="Text 40"/>
          <p:cNvSpPr txBox="1"/>
          <p:nvPr/>
        </p:nvSpPr>
        <p:spPr>
          <a:xfrm>
            <a:off x="9189720" y="480060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Support, telemetry, usage and lifecycle</a:t>
            </a:r>
            <a:endParaRPr lang="en-US" sz="980" dirty="0"/>
          </a:p>
        </p:txBody>
      </p:sp>
      <p:sp>
        <p:nvSpPr>
          <p:cNvPr id="49" name="Text 41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concept shown from the attached Insignia Platform Constitution &amp; Engineering Atlas SPA.</a:t>
            </a:r>
            <a:endParaRPr lang="en-US" sz="68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CATALOG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SUBSTANTIAL CAPABILITY FOUNDATION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Documented APIs make composition concrete.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engineering catalog provides a clear starting point for solution design, certification and customer-specific packaging.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66928" y="2249424"/>
            <a:ext cx="2304288" cy="1225296"/>
          </a:xfrm>
          <a:prstGeom prst="roundRect">
            <a:avLst>
              <a:gd name="adj" fmla="val 1194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23774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45E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93</a:t>
            </a:r>
            <a:endParaRPr lang="en-US" sz="2600" dirty="0"/>
          </a:p>
        </p:txBody>
      </p:sp>
      <p:sp>
        <p:nvSpPr>
          <p:cNvPr id="16" name="Text 14"/>
          <p:cNvSpPr txBox="1"/>
          <p:nvPr/>
        </p:nvSpPr>
        <p:spPr>
          <a:xfrm>
            <a:off x="731520" y="2807208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/ service families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731520" y="326440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API Reference v3.1</a:t>
            </a:r>
            <a:endParaRPr lang="en-US" sz="670" dirty="0"/>
          </a:p>
        </p:txBody>
      </p:sp>
      <p:sp>
        <p:nvSpPr>
          <p:cNvPr id="18" name="Shape 16"/>
          <p:cNvSpPr/>
          <p:nvPr/>
        </p:nvSpPr>
        <p:spPr>
          <a:xfrm>
            <a:off x="3017520" y="2249424"/>
            <a:ext cx="2304288" cy="1225296"/>
          </a:xfrm>
          <a:prstGeom prst="roundRect">
            <a:avLst>
              <a:gd name="adj" fmla="val 1194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9" name="Text 17"/>
          <p:cNvSpPr txBox="1"/>
          <p:nvPr/>
        </p:nvSpPr>
        <p:spPr>
          <a:xfrm>
            <a:off x="3182112" y="23774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4D8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389</a:t>
            </a:r>
            <a:endParaRPr lang="en-US" sz="2600" dirty="0"/>
          </a:p>
        </p:txBody>
      </p:sp>
      <p:sp>
        <p:nvSpPr>
          <p:cNvPr id="20" name="Text 18"/>
          <p:cNvSpPr txBox="1"/>
          <p:nvPr/>
        </p:nvSpPr>
        <p:spPr>
          <a:xfrm>
            <a:off x="3182112" y="2807208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APIs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3182112" y="326440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API Reference v3.1</a:t>
            </a:r>
            <a:endParaRPr lang="en-US" sz="670" dirty="0"/>
          </a:p>
        </p:txBody>
      </p:sp>
      <p:sp>
        <p:nvSpPr>
          <p:cNvPr id="22" name="Shape 20"/>
          <p:cNvSpPr/>
          <p:nvPr/>
        </p:nvSpPr>
        <p:spPr>
          <a:xfrm>
            <a:off x="5468112" y="2249424"/>
            <a:ext cx="2304288" cy="1225296"/>
          </a:xfrm>
          <a:prstGeom prst="roundRect">
            <a:avLst>
              <a:gd name="adj" fmla="val 1194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3" name="Text 21"/>
          <p:cNvSpPr txBox="1"/>
          <p:nvPr/>
        </p:nvSpPr>
        <p:spPr>
          <a:xfrm>
            <a:off x="5632704" y="23774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52D6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396</a:t>
            </a:r>
            <a:endParaRPr lang="en-US" sz="2600" dirty="0"/>
          </a:p>
        </p:txBody>
      </p:sp>
      <p:sp>
        <p:nvSpPr>
          <p:cNvPr id="24" name="Text 22"/>
          <p:cNvSpPr txBox="1"/>
          <p:nvPr/>
        </p:nvSpPr>
        <p:spPr>
          <a:xfrm>
            <a:off x="5632704" y="2807208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documented test cases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5632704" y="326440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API Reference v3.1</a:t>
            </a:r>
            <a:endParaRPr lang="en-US" sz="670" dirty="0"/>
          </a:p>
        </p:txBody>
      </p:sp>
      <p:sp>
        <p:nvSpPr>
          <p:cNvPr id="26" name="Shape 24"/>
          <p:cNvSpPr/>
          <p:nvPr/>
        </p:nvSpPr>
        <p:spPr>
          <a:xfrm>
            <a:off x="7918704" y="2249424"/>
            <a:ext cx="2304288" cy="1225296"/>
          </a:xfrm>
          <a:prstGeom prst="roundRect">
            <a:avLst>
              <a:gd name="adj" fmla="val 1194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8083296" y="2377440"/>
            <a:ext cx="1975104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600" b="1" dirty="0">
                <a:solidFill>
                  <a:srgbClr val="B29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34</a:t>
            </a:r>
            <a:endParaRPr lang="en-US" sz="2600" dirty="0"/>
          </a:p>
        </p:txBody>
      </p:sp>
      <p:sp>
        <p:nvSpPr>
          <p:cNvPr id="28" name="Text 26"/>
          <p:cNvSpPr txBox="1"/>
          <p:nvPr/>
        </p:nvSpPr>
        <p:spPr>
          <a:xfrm>
            <a:off x="8083296" y="2807208"/>
            <a:ext cx="1975104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epics represented</a:t>
            </a:r>
            <a:endParaRPr lang="en-US" sz="1150" dirty="0"/>
          </a:p>
        </p:txBody>
      </p:sp>
      <p:sp>
        <p:nvSpPr>
          <p:cNvPr id="29" name="Text 27"/>
          <p:cNvSpPr txBox="1"/>
          <p:nvPr/>
        </p:nvSpPr>
        <p:spPr>
          <a:xfrm>
            <a:off x="8083296" y="3264408"/>
            <a:ext cx="1975104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7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API Reference v3.1</a:t>
            </a:r>
            <a:endParaRPr lang="en-US" sz="670" dirty="0"/>
          </a:p>
        </p:txBody>
      </p:sp>
      <p:sp>
        <p:nvSpPr>
          <p:cNvPr id="30" name="Shape 28"/>
          <p:cNvSpPr/>
          <p:nvPr/>
        </p:nvSpPr>
        <p:spPr>
          <a:xfrm>
            <a:off x="566928" y="3730752"/>
            <a:ext cx="11027664" cy="1984248"/>
          </a:xfrm>
          <a:prstGeom prst="roundRect">
            <a:avLst>
              <a:gd name="adj" fmla="val 829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31" name="Image 0" descr="/mnt/data/projexcloud_customer_deck_assets/api_catalog_crop.png"/>
          <p:cNvPicPr>
            <a:picLocks noChangeAspect="1"/>
          </p:cNvPicPr>
          <p:nvPr/>
        </p:nvPicPr>
        <p:blipFill>
          <a:blip r:embed="rId3"/>
          <a:srcRect t="33935" b="33935"/>
          <a:stretch/>
        </p:blipFill>
        <p:spPr>
          <a:xfrm>
            <a:off x="731520" y="3895344"/>
            <a:ext cx="10698480" cy="1655064"/>
          </a:xfrm>
          <a:prstGeom prst="rect">
            <a:avLst/>
          </a:prstGeom>
        </p:spPr>
      </p:pic>
      <p:sp>
        <p:nvSpPr>
          <p:cNvPr id="32" name="Text 29"/>
          <p:cNvSpPr txBox="1"/>
          <p:nvPr/>
        </p:nvSpPr>
        <p:spPr>
          <a:xfrm>
            <a:off x="868680" y="5852160"/>
            <a:ext cx="10332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releases are assembled from the catalog and certified as a defined solution profile.</a:t>
            </a:r>
            <a:endParaRPr lang="en-US" sz="1300" dirty="0"/>
          </a:p>
        </p:txBody>
      </p:sp>
      <p:sp>
        <p:nvSpPr>
          <p:cNvPr id="33" name="Text 30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Source: attached indexProjexCloud.html · ProjexCloud API Reference v3.1.</a:t>
            </a:r>
            <a:endParaRPr lang="en-US" sz="68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PORTFOLIO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 ORGANIZED AROUND BUSINESS OUTCOMES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Select a capability. Compose a workflow. Deploy with confidence.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portfolio spans platform foundations, trust, AI, integration, commerce, field operations and assurance.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304288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548640" y="2304288"/>
            <a:ext cx="50292" cy="135331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13232" y="2459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09793" y="2556297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25296" y="24323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&amp; tenancy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13232" y="2834640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gateway · tenant lifecycle · memberships · flags · resource registry</a:t>
            </a:r>
            <a:endParaRPr lang="en-US" sz="950" dirty="0"/>
          </a:p>
        </p:txBody>
      </p:sp>
      <p:sp>
        <p:nvSpPr>
          <p:cNvPr id="20" name="Shape 17"/>
          <p:cNvSpPr/>
          <p:nvPr/>
        </p:nvSpPr>
        <p:spPr>
          <a:xfrm>
            <a:off x="3410712" y="2304288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410712" y="2304288"/>
            <a:ext cx="50292" cy="135331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3575304" y="2459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71865" y="2556297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4087368" y="24323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trust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3575304" y="2834640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MFA · SAML · SCIM · personas · policy · ReBAC · consent</a:t>
            </a:r>
            <a:endParaRPr lang="en-US" sz="950" dirty="0"/>
          </a:p>
        </p:txBody>
      </p:sp>
      <p:sp>
        <p:nvSpPr>
          <p:cNvPr id="26" name="Shape 22"/>
          <p:cNvSpPr/>
          <p:nvPr/>
        </p:nvSpPr>
        <p:spPr>
          <a:xfrm>
            <a:off x="6272784" y="2304288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6272784" y="2304288"/>
            <a:ext cx="50292" cy="135331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6437376" y="2459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33937" y="2556297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6949440" y="24323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&amp; knowledge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6437376" y="2834640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gateway · agent runtime · MCP · semantic service · search · lead scoring</a:t>
            </a:r>
            <a:endParaRPr lang="en-US" sz="950" dirty="0"/>
          </a:p>
        </p:txBody>
      </p:sp>
      <p:sp>
        <p:nvSpPr>
          <p:cNvPr id="32" name="Shape 27"/>
          <p:cNvSpPr/>
          <p:nvPr/>
        </p:nvSpPr>
        <p:spPr>
          <a:xfrm>
            <a:off x="9134856" y="2304288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9134856" y="2304288"/>
            <a:ext cx="50292" cy="135331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9299448" y="2459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96009" y="2556297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9811512" y="2432304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&amp; workflow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9299448" y="2834640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Connectors · ingest · events · webhooks · workflow · contracts · sync</a:t>
            </a:r>
            <a:endParaRPr lang="en-US" sz="950" dirty="0"/>
          </a:p>
        </p:txBody>
      </p:sp>
      <p:sp>
        <p:nvSpPr>
          <p:cNvPr id="38" name="Shape 32"/>
          <p:cNvSpPr/>
          <p:nvPr/>
        </p:nvSpPr>
        <p:spPr>
          <a:xfrm>
            <a:off x="548640" y="3886200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548640" y="3886200"/>
            <a:ext cx="50292" cy="135331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713232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09793" y="4138209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1225296" y="40142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 &amp; revenue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713232" y="4416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· campaigns · content · notifications · billing · payments · metering</a:t>
            </a:r>
            <a:endParaRPr lang="en-US" sz="950" dirty="0"/>
          </a:p>
        </p:txBody>
      </p:sp>
      <p:sp>
        <p:nvSpPr>
          <p:cNvPr id="44" name="Shape 37"/>
          <p:cNvSpPr/>
          <p:nvPr/>
        </p:nvSpPr>
        <p:spPr>
          <a:xfrm>
            <a:off x="3410712" y="3886200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3410712" y="3886200"/>
            <a:ext cx="50292" cy="1353312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3575304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671865" y="4138209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4087368" y="40142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&amp; media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3575304" y="4416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· map · camera · scanner · measurement · watermark · media · service request</a:t>
            </a:r>
            <a:endParaRPr lang="en-US" sz="950" dirty="0"/>
          </a:p>
        </p:txBody>
      </p:sp>
      <p:sp>
        <p:nvSpPr>
          <p:cNvPr id="50" name="Shape 42"/>
          <p:cNvSpPr/>
          <p:nvPr/>
        </p:nvSpPr>
        <p:spPr>
          <a:xfrm>
            <a:off x="6272784" y="3886200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1" name="Shape 43"/>
          <p:cNvSpPr/>
          <p:nvPr/>
        </p:nvSpPr>
        <p:spPr>
          <a:xfrm>
            <a:off x="6272784" y="3886200"/>
            <a:ext cx="50292" cy="1353312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6437376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36D4C0"/>
            </a:solidFill>
            <a:prstDash val="solid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6533937" y="4138209"/>
            <a:ext cx="209215" cy="20921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6949440" y="40142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 &amp; operations</a:t>
            </a:r>
            <a:endParaRPr lang="en-US" sz="1450" dirty="0"/>
          </a:p>
        </p:txBody>
      </p:sp>
      <p:sp>
        <p:nvSpPr>
          <p:cNvPr id="55" name="Text 46"/>
          <p:cNvSpPr txBox="1"/>
          <p:nvPr/>
        </p:nvSpPr>
        <p:spPr>
          <a:xfrm>
            <a:off x="6437376" y="4416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· trace · telemetry · evidence · approvals · vault · secrets</a:t>
            </a:r>
            <a:endParaRPr lang="en-US" sz="950" dirty="0"/>
          </a:p>
        </p:txBody>
      </p:sp>
      <p:sp>
        <p:nvSpPr>
          <p:cNvPr id="56" name="Shape 47"/>
          <p:cNvSpPr/>
          <p:nvPr/>
        </p:nvSpPr>
        <p:spPr>
          <a:xfrm>
            <a:off x="9134856" y="3886200"/>
            <a:ext cx="2587752" cy="1353312"/>
          </a:xfrm>
          <a:prstGeom prst="roundRect">
            <a:avLst>
              <a:gd name="adj" fmla="val 1148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7" name="Shape 48"/>
          <p:cNvSpPr/>
          <p:nvPr/>
        </p:nvSpPr>
        <p:spPr>
          <a:xfrm>
            <a:off x="9134856" y="3886200"/>
            <a:ext cx="50292" cy="135331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9299448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9396009" y="4138209"/>
            <a:ext cx="209215" cy="209215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9811512" y="401421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profiles</a:t>
            </a:r>
            <a:endParaRPr lang="en-US" sz="1450" dirty="0"/>
          </a:p>
        </p:txBody>
      </p:sp>
      <p:sp>
        <p:nvSpPr>
          <p:cNvPr id="61" name="Text 51"/>
          <p:cNvSpPr txBox="1"/>
          <p:nvPr/>
        </p:nvSpPr>
        <p:spPr>
          <a:xfrm>
            <a:off x="9299448" y="4416552"/>
            <a:ext cx="2258568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BYOK · active-active · sovereign · on-prem · air-gapped · customer cloud</a:t>
            </a:r>
            <a:endParaRPr lang="en-US" sz="950" dirty="0"/>
          </a:p>
        </p:txBody>
      </p:sp>
      <p:sp>
        <p:nvSpPr>
          <p:cNvPr id="62" name="Shape 52"/>
          <p:cNvSpPr/>
          <p:nvPr/>
        </p:nvSpPr>
        <p:spPr>
          <a:xfrm>
            <a:off x="4681728" y="5650992"/>
            <a:ext cx="283464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63" name="Text 53"/>
          <p:cNvSpPr txBox="1"/>
          <p:nvPr/>
        </p:nvSpPr>
        <p:spPr>
          <a:xfrm>
            <a:off x="4754880" y="5669280"/>
            <a:ext cx="26883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MATRIX FOLLOWS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MATRIX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FOUNDATION, TENANCY AND GOVERNANCE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reusable application foundation most teams otherwise rebuild.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Use independently or as the shared substrate for every industry blueprint.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286000"/>
            <a:ext cx="2596896" cy="3511296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731520" y="24963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Application foundation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749808" y="2999232"/>
            <a:ext cx="2194560" cy="0"/>
          </a:xfrm>
          <a:prstGeom prst="line">
            <a:avLst/>
          </a:prstGeom>
          <a:noFill/>
          <a:ln w="25400">
            <a:solidFill>
              <a:srgbClr val="4D8CFF"/>
            </a:solidFill>
            <a:prstDash val="solid"/>
            <a:headEnd type="none"/>
            <a:tailEnd type="none"/>
          </a:ln>
        </p:spPr>
      </p:sp>
      <p:sp>
        <p:nvSpPr>
          <p:cNvPr id="17" name="Shape 15"/>
          <p:cNvSpPr/>
          <p:nvPr/>
        </p:nvSpPr>
        <p:spPr>
          <a:xfrm>
            <a:off x="777240" y="32186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886968" y="3337560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1005840" y="32506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api-gateway</a:t>
            </a:r>
            <a:endParaRPr lang="en-US" sz="860" dirty="0"/>
          </a:p>
        </p:txBody>
      </p:sp>
      <p:sp>
        <p:nvSpPr>
          <p:cNvPr id="20" name="Shape 18"/>
          <p:cNvSpPr/>
          <p:nvPr/>
        </p:nvSpPr>
        <p:spPr>
          <a:xfrm>
            <a:off x="777240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86968" y="3685032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1005840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app-identities</a:t>
            </a:r>
            <a:endParaRPr lang="en-US" sz="860" dirty="0"/>
          </a:p>
        </p:txBody>
      </p:sp>
      <p:sp>
        <p:nvSpPr>
          <p:cNvPr id="23" name="Shape 21"/>
          <p:cNvSpPr/>
          <p:nvPr/>
        </p:nvSpPr>
        <p:spPr>
          <a:xfrm>
            <a:off x="777240" y="391363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886968" y="4032504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1005840" y="39456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memberships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777240" y="42611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86968" y="4379976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1005840" y="42931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777240" y="46085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886968" y="4727448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1005840" y="46405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flags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777240" y="495604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86968" y="5074920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1005840" y="49880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sdk-api-keys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777240" y="5303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886968" y="5422392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1005840" y="5335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router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3410712" y="2286000"/>
            <a:ext cx="2596896" cy="3511296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Text 37"/>
          <p:cNvSpPr txBox="1"/>
          <p:nvPr/>
        </p:nvSpPr>
        <p:spPr>
          <a:xfrm>
            <a:off x="3593592" y="24963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operations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3611880" y="2999232"/>
            <a:ext cx="2194560" cy="0"/>
          </a:xfrm>
          <a:prstGeom prst="line">
            <a:avLst/>
          </a:prstGeom>
          <a:noFill/>
          <a:ln w="25400">
            <a:solidFill>
              <a:srgbClr val="45E2FF"/>
            </a:solidFill>
            <a:prstDash val="solid"/>
            <a:headEnd type="none"/>
            <a:tailEnd type="none"/>
          </a:ln>
        </p:spPr>
      </p:sp>
      <p:sp>
        <p:nvSpPr>
          <p:cNvPr id="41" name="Shape 39"/>
          <p:cNvSpPr/>
          <p:nvPr/>
        </p:nvSpPr>
        <p:spPr>
          <a:xfrm>
            <a:off x="3639312" y="32186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3749040" y="333756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3867912" y="32506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sdk-tenant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3639312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749040" y="368503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3867912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tenant-lifecycle</a:t>
            </a:r>
            <a:endParaRPr lang="en-US" sz="860" dirty="0"/>
          </a:p>
        </p:txBody>
      </p:sp>
      <p:sp>
        <p:nvSpPr>
          <p:cNvPr id="47" name="Shape 45"/>
          <p:cNvSpPr/>
          <p:nvPr/>
        </p:nvSpPr>
        <p:spPr>
          <a:xfrm>
            <a:off x="3639312" y="391363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3749040" y="403250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3867912" y="39456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sdk-tenant-lifecycle</a:t>
            </a:r>
            <a:endParaRPr lang="en-US" sz="860" dirty="0"/>
          </a:p>
        </p:txBody>
      </p:sp>
      <p:sp>
        <p:nvSpPr>
          <p:cNvPr id="50" name="Shape 48"/>
          <p:cNvSpPr/>
          <p:nvPr/>
        </p:nvSpPr>
        <p:spPr>
          <a:xfrm>
            <a:off x="3639312" y="42611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3749040" y="4379976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3867912" y="42931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pool-federation-runtime</a:t>
            </a:r>
            <a:endParaRPr lang="en-US" sz="860" dirty="0"/>
          </a:p>
        </p:txBody>
      </p:sp>
      <p:sp>
        <p:nvSpPr>
          <p:cNvPr id="53" name="Shape 51"/>
          <p:cNvSpPr/>
          <p:nvPr/>
        </p:nvSpPr>
        <p:spPr>
          <a:xfrm>
            <a:off x="3639312" y="46085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3749040" y="4727448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3867912" y="46405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resellers</a:t>
            </a:r>
            <a:endParaRPr lang="en-US" sz="860" dirty="0"/>
          </a:p>
        </p:txBody>
      </p:sp>
      <p:sp>
        <p:nvSpPr>
          <p:cNvPr id="56" name="Shape 54"/>
          <p:cNvSpPr/>
          <p:nvPr/>
        </p:nvSpPr>
        <p:spPr>
          <a:xfrm>
            <a:off x="3639312" y="495604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749040" y="507492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3867912" y="49880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860" dirty="0"/>
          </a:p>
        </p:txBody>
      </p:sp>
      <p:sp>
        <p:nvSpPr>
          <p:cNvPr id="59" name="Shape 57"/>
          <p:cNvSpPr/>
          <p:nvPr/>
        </p:nvSpPr>
        <p:spPr>
          <a:xfrm>
            <a:off x="3639312" y="5303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3749040" y="542239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3867912" y="5335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</a:t>
            </a:r>
            <a:endParaRPr lang="en-US" sz="860" dirty="0"/>
          </a:p>
        </p:txBody>
      </p:sp>
      <p:sp>
        <p:nvSpPr>
          <p:cNvPr id="62" name="Shape 60"/>
          <p:cNvSpPr/>
          <p:nvPr/>
        </p:nvSpPr>
        <p:spPr>
          <a:xfrm>
            <a:off x="6272784" y="2286000"/>
            <a:ext cx="2596896" cy="3511296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3" name="Text 61"/>
          <p:cNvSpPr txBox="1"/>
          <p:nvPr/>
        </p:nvSpPr>
        <p:spPr>
          <a:xfrm>
            <a:off x="6455664" y="24963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Governance &amp; control</a:t>
            </a:r>
            <a:endParaRPr lang="en-US" sz="1500" dirty="0"/>
          </a:p>
        </p:txBody>
      </p:sp>
      <p:sp>
        <p:nvSpPr>
          <p:cNvPr id="64" name="Shape 62"/>
          <p:cNvSpPr/>
          <p:nvPr/>
        </p:nvSpPr>
        <p:spPr>
          <a:xfrm>
            <a:off x="6473952" y="2999232"/>
            <a:ext cx="2194560" cy="0"/>
          </a:xfrm>
          <a:prstGeom prst="line">
            <a:avLst/>
          </a:prstGeom>
          <a:noFill/>
          <a:ln w="25400">
            <a:solidFill>
              <a:srgbClr val="52D6A4"/>
            </a:solidFill>
            <a:prstDash val="solid"/>
            <a:headEnd type="none"/>
            <a:tailEnd type="none"/>
          </a:ln>
        </p:spPr>
      </p:sp>
      <p:sp>
        <p:nvSpPr>
          <p:cNvPr id="65" name="Shape 63"/>
          <p:cNvSpPr/>
          <p:nvPr/>
        </p:nvSpPr>
        <p:spPr>
          <a:xfrm>
            <a:off x="6501384" y="32186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6611112" y="333756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6729984" y="32506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</a:t>
            </a:r>
            <a:endParaRPr lang="en-US" sz="860" dirty="0"/>
          </a:p>
        </p:txBody>
      </p:sp>
      <p:sp>
        <p:nvSpPr>
          <p:cNvPr id="68" name="Shape 66"/>
          <p:cNvSpPr/>
          <p:nvPr/>
        </p:nvSpPr>
        <p:spPr>
          <a:xfrm>
            <a:off x="6501384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6611112" y="368503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6729984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sdk-approval</a:t>
            </a:r>
            <a:endParaRPr lang="en-US" sz="860" dirty="0"/>
          </a:p>
        </p:txBody>
      </p:sp>
      <p:sp>
        <p:nvSpPr>
          <p:cNvPr id="71" name="Shape 69"/>
          <p:cNvSpPr/>
          <p:nvPr/>
        </p:nvSpPr>
        <p:spPr>
          <a:xfrm>
            <a:off x="6501384" y="391363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6611112" y="403250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6729984" y="39456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sdk-resource-registry</a:t>
            </a:r>
            <a:endParaRPr lang="en-US" sz="860" dirty="0"/>
          </a:p>
        </p:txBody>
      </p:sp>
      <p:sp>
        <p:nvSpPr>
          <p:cNvPr id="74" name="Shape 72"/>
          <p:cNvSpPr/>
          <p:nvPr/>
        </p:nvSpPr>
        <p:spPr>
          <a:xfrm>
            <a:off x="6501384" y="42611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6611112" y="4379976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6" name="Text 74"/>
          <p:cNvSpPr txBox="1"/>
          <p:nvPr/>
        </p:nvSpPr>
        <p:spPr>
          <a:xfrm>
            <a:off x="6729984" y="42931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</a:t>
            </a:r>
            <a:endParaRPr lang="en-US" sz="860" dirty="0"/>
          </a:p>
        </p:txBody>
      </p:sp>
      <p:sp>
        <p:nvSpPr>
          <p:cNvPr id="77" name="Shape 75"/>
          <p:cNvSpPr/>
          <p:nvPr/>
        </p:nvSpPr>
        <p:spPr>
          <a:xfrm>
            <a:off x="6501384" y="46085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611112" y="4727448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6729984" y="46405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build-plan</a:t>
            </a:r>
            <a:endParaRPr lang="en-US" sz="860" dirty="0"/>
          </a:p>
        </p:txBody>
      </p:sp>
      <p:sp>
        <p:nvSpPr>
          <p:cNvPr id="80" name="Shape 78"/>
          <p:cNvSpPr/>
          <p:nvPr/>
        </p:nvSpPr>
        <p:spPr>
          <a:xfrm>
            <a:off x="6501384" y="495604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611112" y="507492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82" name="Text 80"/>
          <p:cNvSpPr txBox="1"/>
          <p:nvPr/>
        </p:nvSpPr>
        <p:spPr>
          <a:xfrm>
            <a:off x="6729984" y="49880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sdk-taxonomy</a:t>
            </a:r>
            <a:endParaRPr lang="en-US" sz="860" dirty="0"/>
          </a:p>
        </p:txBody>
      </p:sp>
      <p:sp>
        <p:nvSpPr>
          <p:cNvPr id="83" name="Shape 81"/>
          <p:cNvSpPr/>
          <p:nvPr/>
        </p:nvSpPr>
        <p:spPr>
          <a:xfrm>
            <a:off x="6501384" y="5303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6611112" y="542239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6729984" y="5335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data-rights</a:t>
            </a:r>
            <a:endParaRPr lang="en-US" sz="860" dirty="0"/>
          </a:p>
        </p:txBody>
      </p:sp>
      <p:sp>
        <p:nvSpPr>
          <p:cNvPr id="86" name="Shape 84"/>
          <p:cNvSpPr/>
          <p:nvPr/>
        </p:nvSpPr>
        <p:spPr>
          <a:xfrm>
            <a:off x="9134856" y="2286000"/>
            <a:ext cx="2596896" cy="3511296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7" name="Text 85"/>
          <p:cNvSpPr txBox="1"/>
          <p:nvPr/>
        </p:nvSpPr>
        <p:spPr>
          <a:xfrm>
            <a:off x="9317736" y="2496312"/>
            <a:ext cx="22311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assurance</a:t>
            </a:r>
            <a:endParaRPr lang="en-US" sz="1500" dirty="0"/>
          </a:p>
        </p:txBody>
      </p:sp>
      <p:sp>
        <p:nvSpPr>
          <p:cNvPr id="88" name="Shape 86"/>
          <p:cNvSpPr/>
          <p:nvPr/>
        </p:nvSpPr>
        <p:spPr>
          <a:xfrm>
            <a:off x="9336024" y="2999232"/>
            <a:ext cx="2194560" cy="0"/>
          </a:xfrm>
          <a:prstGeom prst="line">
            <a:avLst/>
          </a:prstGeom>
          <a:noFill/>
          <a:ln w="25400">
            <a:solidFill>
              <a:srgbClr val="F6C85F"/>
            </a:solidFill>
            <a:prstDash val="solid"/>
            <a:headEnd type="none"/>
            <a:tailEnd type="none"/>
          </a:ln>
        </p:spPr>
      </p:sp>
      <p:sp>
        <p:nvSpPr>
          <p:cNvPr id="89" name="Shape 87"/>
          <p:cNvSpPr/>
          <p:nvPr/>
        </p:nvSpPr>
        <p:spPr>
          <a:xfrm>
            <a:off x="9363456" y="32186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9473184" y="3337560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91" name="Text 89"/>
          <p:cNvSpPr txBox="1"/>
          <p:nvPr/>
        </p:nvSpPr>
        <p:spPr>
          <a:xfrm>
            <a:off x="9592056" y="32506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sdk-audit</a:t>
            </a:r>
            <a:endParaRPr lang="en-US" sz="860" dirty="0"/>
          </a:p>
        </p:txBody>
      </p:sp>
      <p:sp>
        <p:nvSpPr>
          <p:cNvPr id="92" name="Shape 90"/>
          <p:cNvSpPr/>
          <p:nvPr/>
        </p:nvSpPr>
        <p:spPr>
          <a:xfrm>
            <a:off x="9363456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9473184" y="3685032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94" name="Text 92"/>
          <p:cNvSpPr txBox="1"/>
          <p:nvPr/>
        </p:nvSpPr>
        <p:spPr>
          <a:xfrm>
            <a:off x="9592056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sdk-trace</a:t>
            </a:r>
            <a:endParaRPr lang="en-US" sz="860" dirty="0"/>
          </a:p>
        </p:txBody>
      </p:sp>
      <p:sp>
        <p:nvSpPr>
          <p:cNvPr id="95" name="Shape 93"/>
          <p:cNvSpPr/>
          <p:nvPr/>
        </p:nvSpPr>
        <p:spPr>
          <a:xfrm>
            <a:off x="9363456" y="391363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9473184" y="4032504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97" name="Text 95"/>
          <p:cNvSpPr txBox="1"/>
          <p:nvPr/>
        </p:nvSpPr>
        <p:spPr>
          <a:xfrm>
            <a:off x="9592056" y="394563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sdk-evidence</a:t>
            </a:r>
            <a:endParaRPr lang="en-US" sz="860" dirty="0"/>
          </a:p>
        </p:txBody>
      </p:sp>
      <p:sp>
        <p:nvSpPr>
          <p:cNvPr id="98" name="Shape 96"/>
          <p:cNvSpPr/>
          <p:nvPr/>
        </p:nvSpPr>
        <p:spPr>
          <a:xfrm>
            <a:off x="9363456" y="42611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9" name="Shape 97"/>
          <p:cNvSpPr/>
          <p:nvPr/>
        </p:nvSpPr>
        <p:spPr>
          <a:xfrm>
            <a:off x="9473184" y="4379976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592056" y="42931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sdk-diagnostic-telemetry</a:t>
            </a:r>
            <a:endParaRPr lang="en-US" sz="860" dirty="0"/>
          </a:p>
        </p:txBody>
      </p:sp>
      <p:sp>
        <p:nvSpPr>
          <p:cNvPr id="101" name="Shape 99"/>
          <p:cNvSpPr/>
          <p:nvPr/>
        </p:nvSpPr>
        <p:spPr>
          <a:xfrm>
            <a:off x="9363456" y="46085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9473184" y="4727448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3" name="Text 101"/>
          <p:cNvSpPr txBox="1"/>
          <p:nvPr/>
        </p:nvSpPr>
        <p:spPr>
          <a:xfrm>
            <a:off x="9592056" y="46405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telemetry/api-gateway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9363456" y="495604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9473184" y="5074920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9592056" y="498805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vault</a:t>
            </a:r>
            <a:endParaRPr lang="en-US" sz="860" dirty="0"/>
          </a:p>
        </p:txBody>
      </p:sp>
      <p:sp>
        <p:nvSpPr>
          <p:cNvPr id="107" name="Shape 105"/>
          <p:cNvSpPr/>
          <p:nvPr/>
        </p:nvSpPr>
        <p:spPr>
          <a:xfrm>
            <a:off x="9363456" y="5303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8" name="Shape 106"/>
          <p:cNvSpPr/>
          <p:nvPr/>
        </p:nvSpPr>
        <p:spPr>
          <a:xfrm>
            <a:off x="9473184" y="5422392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9" name="Text 107"/>
          <p:cNvSpPr txBox="1"/>
          <p:nvPr/>
        </p:nvSpPr>
        <p:spPr>
          <a:xfrm>
            <a:off x="9592056" y="5335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860" dirty="0"/>
          </a:p>
        </p:txBody>
      </p:sp>
      <p:sp>
        <p:nvSpPr>
          <p:cNvPr id="110" name="Text 108"/>
          <p:cNvSpPr txBox="1"/>
          <p:nvPr/>
        </p:nvSpPr>
        <p:spPr>
          <a:xfrm>
            <a:off x="987552" y="5943600"/>
            <a:ext cx="10149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Outcome: faster product scaffolding, consistent tenant controls, shared governance and a common operational language.</a:t>
            </a:r>
            <a:endParaRPr lang="en-US" sz="128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MATRIX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IDENTITY, SECURITY, PRIVACY AND EVIDENCE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Enterprise controls built into the capability layer.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customer, workforce and machine identities; enforce policy and purpose; protect secrets; generate evidence as work occurs.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2596896" cy="3584448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91056" y="248716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13951" y="2610063"/>
            <a:ext cx="266273" cy="26627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49808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1050" dirty="0"/>
          </a:p>
        </p:txBody>
      </p:sp>
      <p:sp>
        <p:nvSpPr>
          <p:cNvPr id="18" name="Shape 15"/>
          <p:cNvSpPr/>
          <p:nvPr/>
        </p:nvSpPr>
        <p:spPr>
          <a:xfrm>
            <a:off x="777240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" y="368503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777240" y="39227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4041648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39547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sdk-identity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77240" y="427939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6968" y="439826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43113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sdk-identity-resolver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777240" y="463600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6968" y="475488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05840" y="46680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persons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777240" y="499262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" y="5111496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05840" y="50246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personas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777240" y="534924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6968" y="546811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840" y="53812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mfa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777240" y="570585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6968" y="5824728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5840" y="573786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saml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777240" y="60624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0" name="Shape 37"/>
          <p:cNvSpPr/>
          <p:nvPr/>
        </p:nvSpPr>
        <p:spPr>
          <a:xfrm>
            <a:off x="886968" y="618134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05840" y="60944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scim</a:t>
            </a:r>
            <a:endParaRPr lang="en-US" sz="860" dirty="0"/>
          </a:p>
        </p:txBody>
      </p:sp>
      <p:sp>
        <p:nvSpPr>
          <p:cNvPr id="42" name="Shape 39"/>
          <p:cNvSpPr/>
          <p:nvPr/>
        </p:nvSpPr>
        <p:spPr>
          <a:xfrm>
            <a:off x="3410712" y="2267712"/>
            <a:ext cx="2596896" cy="3584448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3" name="Shape 40"/>
          <p:cNvSpPr/>
          <p:nvPr/>
        </p:nvSpPr>
        <p:spPr>
          <a:xfrm>
            <a:off x="4453128" y="248716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44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76023" y="2610063"/>
            <a:ext cx="266273" cy="266273"/>
          </a:xfrm>
          <a:prstGeom prst="rect">
            <a:avLst/>
          </a:prstGeom>
        </p:spPr>
      </p:pic>
      <p:sp>
        <p:nvSpPr>
          <p:cNvPr id="45" name="Text 41"/>
          <p:cNvSpPr txBox="1"/>
          <p:nvPr/>
        </p:nvSpPr>
        <p:spPr>
          <a:xfrm>
            <a:off x="3611880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AUTHORIZATION</a:t>
            </a:r>
            <a:endParaRPr lang="en-US" sz="1050" dirty="0"/>
          </a:p>
        </p:txBody>
      </p:sp>
      <p:sp>
        <p:nvSpPr>
          <p:cNvPr id="46" name="Shape 42"/>
          <p:cNvSpPr/>
          <p:nvPr/>
        </p:nvSpPr>
        <p:spPr>
          <a:xfrm>
            <a:off x="3639312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749040" y="368503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3867912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sdk-policy</a:t>
            </a:r>
            <a:endParaRPr lang="en-US" sz="860" dirty="0"/>
          </a:p>
        </p:txBody>
      </p:sp>
      <p:sp>
        <p:nvSpPr>
          <p:cNvPr id="49" name="Shape 45"/>
          <p:cNvSpPr/>
          <p:nvPr/>
        </p:nvSpPr>
        <p:spPr>
          <a:xfrm>
            <a:off x="3639312" y="39227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749040" y="4041648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3867912" y="39547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sdk-rebac</a:t>
            </a:r>
            <a:endParaRPr lang="en-US" sz="860" dirty="0"/>
          </a:p>
        </p:txBody>
      </p:sp>
      <p:sp>
        <p:nvSpPr>
          <p:cNvPr id="52" name="Shape 48"/>
          <p:cNvSpPr/>
          <p:nvPr/>
        </p:nvSpPr>
        <p:spPr>
          <a:xfrm>
            <a:off x="3639312" y="427939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3749040" y="439826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3867912" y="43113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role-assignments</a:t>
            </a:r>
            <a:endParaRPr lang="en-US" sz="860" dirty="0"/>
          </a:p>
        </p:txBody>
      </p:sp>
      <p:sp>
        <p:nvSpPr>
          <p:cNvPr id="55" name="Shape 51"/>
          <p:cNvSpPr/>
          <p:nvPr/>
        </p:nvSpPr>
        <p:spPr>
          <a:xfrm>
            <a:off x="3639312" y="463600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749040" y="475488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867912" y="46680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role-templates</a:t>
            </a:r>
            <a:endParaRPr lang="en-US" sz="860" dirty="0"/>
          </a:p>
        </p:txBody>
      </p:sp>
      <p:sp>
        <p:nvSpPr>
          <p:cNvPr id="58" name="Shape 54"/>
          <p:cNvSpPr/>
          <p:nvPr/>
        </p:nvSpPr>
        <p:spPr>
          <a:xfrm>
            <a:off x="3639312" y="499262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749040" y="5111496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3867912" y="50246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sdk-principal-token</a:t>
            </a:r>
            <a:endParaRPr lang="en-US" sz="860" dirty="0"/>
          </a:p>
        </p:txBody>
      </p:sp>
      <p:sp>
        <p:nvSpPr>
          <p:cNvPr id="61" name="Shape 57"/>
          <p:cNvSpPr/>
          <p:nvPr/>
        </p:nvSpPr>
        <p:spPr>
          <a:xfrm>
            <a:off x="3639312" y="534924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749040" y="546811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3867912" y="53812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approvals</a:t>
            </a:r>
            <a:endParaRPr lang="en-US" sz="860" dirty="0"/>
          </a:p>
        </p:txBody>
      </p:sp>
      <p:sp>
        <p:nvSpPr>
          <p:cNvPr id="64" name="Shape 60"/>
          <p:cNvSpPr/>
          <p:nvPr/>
        </p:nvSpPr>
        <p:spPr>
          <a:xfrm>
            <a:off x="6272784" y="2267712"/>
            <a:ext cx="2596896" cy="3584448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7315200" y="248716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38095" y="2610063"/>
            <a:ext cx="266273" cy="266273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6473952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050" dirty="0"/>
          </a:p>
        </p:txBody>
      </p:sp>
      <p:sp>
        <p:nvSpPr>
          <p:cNvPr id="68" name="Shape 63"/>
          <p:cNvSpPr/>
          <p:nvPr/>
        </p:nvSpPr>
        <p:spPr>
          <a:xfrm>
            <a:off x="6501384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611112" y="3685032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6729984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sdk-consent</a:t>
            </a:r>
            <a:endParaRPr lang="en-US" sz="860" dirty="0"/>
          </a:p>
        </p:txBody>
      </p:sp>
      <p:sp>
        <p:nvSpPr>
          <p:cNvPr id="71" name="Shape 66"/>
          <p:cNvSpPr/>
          <p:nvPr/>
        </p:nvSpPr>
        <p:spPr>
          <a:xfrm>
            <a:off x="6501384" y="39227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611112" y="4041648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6729984" y="39547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data-rights</a:t>
            </a:r>
            <a:endParaRPr lang="en-US" sz="860" dirty="0"/>
          </a:p>
        </p:txBody>
      </p:sp>
      <p:sp>
        <p:nvSpPr>
          <p:cNvPr id="74" name="Shape 69"/>
          <p:cNvSpPr/>
          <p:nvPr/>
        </p:nvSpPr>
        <p:spPr>
          <a:xfrm>
            <a:off x="6501384" y="427939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6611112" y="4398264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6729984" y="43113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sdk-vault</a:t>
            </a:r>
            <a:endParaRPr lang="en-US" sz="860" dirty="0"/>
          </a:p>
        </p:txBody>
      </p:sp>
      <p:sp>
        <p:nvSpPr>
          <p:cNvPr id="77" name="Shape 72"/>
          <p:cNvSpPr/>
          <p:nvPr/>
        </p:nvSpPr>
        <p:spPr>
          <a:xfrm>
            <a:off x="6501384" y="463600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611112" y="4754880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6729984" y="46680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secrets</a:t>
            </a:r>
            <a:endParaRPr lang="en-US" sz="860" dirty="0"/>
          </a:p>
        </p:txBody>
      </p:sp>
      <p:sp>
        <p:nvSpPr>
          <p:cNvPr id="80" name="Shape 75"/>
          <p:cNvSpPr/>
          <p:nvPr/>
        </p:nvSpPr>
        <p:spPr>
          <a:xfrm>
            <a:off x="6501384" y="499262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611112" y="5111496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6729984" y="50246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sdk-secrets</a:t>
            </a:r>
            <a:endParaRPr lang="en-US" sz="860" dirty="0"/>
          </a:p>
        </p:txBody>
      </p:sp>
      <p:sp>
        <p:nvSpPr>
          <p:cNvPr id="83" name="Shape 78"/>
          <p:cNvSpPr/>
          <p:nvPr/>
        </p:nvSpPr>
        <p:spPr>
          <a:xfrm>
            <a:off x="6501384" y="534924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611112" y="5468112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6729984" y="53812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sdk-evidence</a:t>
            </a:r>
            <a:endParaRPr lang="en-US" sz="860" dirty="0"/>
          </a:p>
        </p:txBody>
      </p:sp>
      <p:sp>
        <p:nvSpPr>
          <p:cNvPr id="86" name="Shape 81"/>
          <p:cNvSpPr/>
          <p:nvPr/>
        </p:nvSpPr>
        <p:spPr>
          <a:xfrm>
            <a:off x="9134856" y="2267712"/>
            <a:ext cx="2596896" cy="3584448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7" name="Shape 82"/>
          <p:cNvSpPr/>
          <p:nvPr/>
        </p:nvSpPr>
        <p:spPr>
          <a:xfrm>
            <a:off x="10177272" y="248716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8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00167" y="2610063"/>
            <a:ext cx="266273" cy="266273"/>
          </a:xfrm>
          <a:prstGeom prst="rect">
            <a:avLst/>
          </a:prstGeom>
        </p:spPr>
      </p:pic>
      <p:sp>
        <p:nvSpPr>
          <p:cNvPr id="89" name="Text 83"/>
          <p:cNvSpPr txBox="1"/>
          <p:nvPr/>
        </p:nvSpPr>
        <p:spPr>
          <a:xfrm>
            <a:off x="9336024" y="3172968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b="1" kern="0" spc="10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</a:t>
            </a:r>
            <a:endParaRPr lang="en-US" sz="1050" dirty="0"/>
          </a:p>
        </p:txBody>
      </p:sp>
      <p:sp>
        <p:nvSpPr>
          <p:cNvPr id="90" name="Shape 84"/>
          <p:cNvSpPr/>
          <p:nvPr/>
        </p:nvSpPr>
        <p:spPr>
          <a:xfrm>
            <a:off x="9363456" y="356616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9473184" y="3685032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9592056" y="359816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sdk-audit</a:t>
            </a:r>
            <a:endParaRPr lang="en-US" sz="860" dirty="0"/>
          </a:p>
        </p:txBody>
      </p:sp>
      <p:sp>
        <p:nvSpPr>
          <p:cNvPr id="93" name="Shape 87"/>
          <p:cNvSpPr/>
          <p:nvPr/>
        </p:nvSpPr>
        <p:spPr>
          <a:xfrm>
            <a:off x="9363456" y="392277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9473184" y="4041648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9592056" y="395478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sdk-trace</a:t>
            </a:r>
            <a:endParaRPr lang="en-US" sz="860" dirty="0"/>
          </a:p>
        </p:txBody>
      </p:sp>
      <p:sp>
        <p:nvSpPr>
          <p:cNvPr id="96" name="Shape 90"/>
          <p:cNvSpPr/>
          <p:nvPr/>
        </p:nvSpPr>
        <p:spPr>
          <a:xfrm>
            <a:off x="9363456" y="427939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9473184" y="4398264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9592056" y="431139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sdk-diagnostic-telemetry</a:t>
            </a:r>
            <a:endParaRPr lang="en-US" sz="860" dirty="0"/>
          </a:p>
        </p:txBody>
      </p:sp>
      <p:sp>
        <p:nvSpPr>
          <p:cNvPr id="99" name="Shape 93"/>
          <p:cNvSpPr/>
          <p:nvPr/>
        </p:nvSpPr>
        <p:spPr>
          <a:xfrm>
            <a:off x="9363456" y="463600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9473184" y="4754880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1" name="Text 95"/>
          <p:cNvSpPr txBox="1"/>
          <p:nvPr/>
        </p:nvSpPr>
        <p:spPr>
          <a:xfrm>
            <a:off x="9592056" y="466801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</a:t>
            </a:r>
            <a:endParaRPr lang="en-US" sz="860" dirty="0"/>
          </a:p>
        </p:txBody>
      </p:sp>
      <p:sp>
        <p:nvSpPr>
          <p:cNvPr id="102" name="Shape 96"/>
          <p:cNvSpPr/>
          <p:nvPr/>
        </p:nvSpPr>
        <p:spPr>
          <a:xfrm>
            <a:off x="9363456" y="499262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9473184" y="5111496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4" name="Text 98"/>
          <p:cNvSpPr txBox="1"/>
          <p:nvPr/>
        </p:nvSpPr>
        <p:spPr>
          <a:xfrm>
            <a:off x="9592056" y="502462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telemetry/api-gateway</a:t>
            </a:r>
            <a:endParaRPr lang="en-US" sz="860" dirty="0"/>
          </a:p>
        </p:txBody>
      </p:sp>
      <p:sp>
        <p:nvSpPr>
          <p:cNvPr id="105" name="Shape 99"/>
          <p:cNvSpPr/>
          <p:nvPr/>
        </p:nvSpPr>
        <p:spPr>
          <a:xfrm>
            <a:off x="9363456" y="534924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9473184" y="5468112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07" name="Text 101"/>
          <p:cNvSpPr txBox="1"/>
          <p:nvPr/>
        </p:nvSpPr>
        <p:spPr>
          <a:xfrm>
            <a:off x="9592056" y="538124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</a:t>
            </a:r>
            <a:endParaRPr lang="en-US" sz="86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MATRIX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AI, AGENTS, INTEGRATION AND WORKFLOW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Compose intelligent workflows with model and integration independence.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Route AI, govern agent execution, connect systems, orchestrate workflows and preserve an auditable event trail.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147" y="2592507"/>
            <a:ext cx="228234" cy="22823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98448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gateway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777240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" y="3209544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ai-gateway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777240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3566160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sdk-ai-gateway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77240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6968" y="3922776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semantic-service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777240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6968" y="4279392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05840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search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777240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" y="4636008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05840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sdk-search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777240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6968" y="4992624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840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sdk-lead-scoring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3410712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7" name="Shape 34"/>
          <p:cNvSpPr/>
          <p:nvPr/>
        </p:nvSpPr>
        <p:spPr>
          <a:xfrm>
            <a:off x="3611880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3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7219" y="2592507"/>
            <a:ext cx="228234" cy="228234"/>
          </a:xfrm>
          <a:prstGeom prst="rect">
            <a:avLst/>
          </a:prstGeom>
        </p:spPr>
      </p:pic>
      <p:sp>
        <p:nvSpPr>
          <p:cNvPr id="39" name="Text 35"/>
          <p:cNvSpPr txBox="1"/>
          <p:nvPr/>
        </p:nvSpPr>
        <p:spPr>
          <a:xfrm>
            <a:off x="4160520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 runtime</a:t>
            </a:r>
            <a:endParaRPr lang="en-US" sz="1420" dirty="0"/>
          </a:p>
        </p:txBody>
      </p:sp>
      <p:sp>
        <p:nvSpPr>
          <p:cNvPr id="40" name="Shape 36"/>
          <p:cNvSpPr/>
          <p:nvPr/>
        </p:nvSpPr>
        <p:spPr>
          <a:xfrm>
            <a:off x="3639312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1" name="Shape 37"/>
          <p:cNvSpPr/>
          <p:nvPr/>
        </p:nvSpPr>
        <p:spPr>
          <a:xfrm>
            <a:off x="3749040" y="320954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2" name="Text 38"/>
          <p:cNvSpPr txBox="1"/>
          <p:nvPr/>
        </p:nvSpPr>
        <p:spPr>
          <a:xfrm>
            <a:off x="3867912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agent-runtime-agents</a:t>
            </a:r>
            <a:endParaRPr lang="en-US" sz="860" dirty="0"/>
          </a:p>
        </p:txBody>
      </p:sp>
      <p:sp>
        <p:nvSpPr>
          <p:cNvPr id="43" name="Shape 39"/>
          <p:cNvSpPr/>
          <p:nvPr/>
        </p:nvSpPr>
        <p:spPr>
          <a:xfrm>
            <a:off x="3639312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749040" y="356616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867912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agent-runtime-runs</a:t>
            </a:r>
            <a:endParaRPr lang="en-US" sz="860" dirty="0"/>
          </a:p>
        </p:txBody>
      </p:sp>
      <p:sp>
        <p:nvSpPr>
          <p:cNvPr id="46" name="Shape 42"/>
          <p:cNvSpPr/>
          <p:nvPr/>
        </p:nvSpPr>
        <p:spPr>
          <a:xfrm>
            <a:off x="3639312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749040" y="3922776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3867912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agent-runtime-tokens</a:t>
            </a:r>
            <a:endParaRPr lang="en-US" sz="860" dirty="0"/>
          </a:p>
        </p:txBody>
      </p:sp>
      <p:sp>
        <p:nvSpPr>
          <p:cNvPr id="49" name="Shape 45"/>
          <p:cNvSpPr/>
          <p:nvPr/>
        </p:nvSpPr>
        <p:spPr>
          <a:xfrm>
            <a:off x="3639312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749040" y="427939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3867912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sdk-agent-runtime</a:t>
            </a:r>
            <a:endParaRPr lang="en-US" sz="860" dirty="0"/>
          </a:p>
        </p:txBody>
      </p:sp>
      <p:sp>
        <p:nvSpPr>
          <p:cNvPr id="52" name="Shape 48"/>
          <p:cNvSpPr/>
          <p:nvPr/>
        </p:nvSpPr>
        <p:spPr>
          <a:xfrm>
            <a:off x="3639312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3749040" y="4636008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3867912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mcp</a:t>
            </a:r>
            <a:endParaRPr lang="en-US" sz="860" dirty="0"/>
          </a:p>
        </p:txBody>
      </p:sp>
      <p:sp>
        <p:nvSpPr>
          <p:cNvPr id="55" name="Shape 51"/>
          <p:cNvSpPr/>
          <p:nvPr/>
        </p:nvSpPr>
        <p:spPr>
          <a:xfrm>
            <a:off x="3639312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749040" y="499262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867912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sdk-mcp-bridge</a:t>
            </a:r>
            <a:endParaRPr lang="en-US" sz="860" dirty="0"/>
          </a:p>
        </p:txBody>
      </p:sp>
      <p:sp>
        <p:nvSpPr>
          <p:cNvPr id="58" name="Shape 54"/>
          <p:cNvSpPr/>
          <p:nvPr/>
        </p:nvSpPr>
        <p:spPr>
          <a:xfrm>
            <a:off x="6272784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9" name="Shape 55"/>
          <p:cNvSpPr/>
          <p:nvPr/>
        </p:nvSpPr>
        <p:spPr>
          <a:xfrm>
            <a:off x="6473952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6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9291" y="2592507"/>
            <a:ext cx="228234" cy="228234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7022592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fabric</a:t>
            </a:r>
            <a:endParaRPr lang="en-US" sz="1420" dirty="0"/>
          </a:p>
        </p:txBody>
      </p:sp>
      <p:sp>
        <p:nvSpPr>
          <p:cNvPr id="62" name="Shape 57"/>
          <p:cNvSpPr/>
          <p:nvPr/>
        </p:nvSpPr>
        <p:spPr>
          <a:xfrm>
            <a:off x="6501384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6611112" y="3209544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64" name="Text 59"/>
          <p:cNvSpPr txBox="1"/>
          <p:nvPr/>
        </p:nvSpPr>
        <p:spPr>
          <a:xfrm>
            <a:off x="6729984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connectors</a:t>
            </a:r>
            <a:endParaRPr lang="en-US" sz="860" dirty="0"/>
          </a:p>
        </p:txBody>
      </p:sp>
      <p:sp>
        <p:nvSpPr>
          <p:cNvPr id="65" name="Shape 60"/>
          <p:cNvSpPr/>
          <p:nvPr/>
        </p:nvSpPr>
        <p:spPr>
          <a:xfrm>
            <a:off x="6501384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6" name="Shape 61"/>
          <p:cNvSpPr/>
          <p:nvPr/>
        </p:nvSpPr>
        <p:spPr>
          <a:xfrm>
            <a:off x="6611112" y="3566160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67" name="Text 62"/>
          <p:cNvSpPr txBox="1"/>
          <p:nvPr/>
        </p:nvSpPr>
        <p:spPr>
          <a:xfrm>
            <a:off x="6729984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sdk-connectors</a:t>
            </a:r>
            <a:endParaRPr lang="en-US" sz="860" dirty="0"/>
          </a:p>
        </p:txBody>
      </p:sp>
      <p:sp>
        <p:nvSpPr>
          <p:cNvPr id="68" name="Shape 63"/>
          <p:cNvSpPr/>
          <p:nvPr/>
        </p:nvSpPr>
        <p:spPr>
          <a:xfrm>
            <a:off x="6501384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611112" y="3922776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6729984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ingest</a:t>
            </a:r>
            <a:endParaRPr lang="en-US" sz="860" dirty="0"/>
          </a:p>
        </p:txBody>
      </p:sp>
      <p:sp>
        <p:nvSpPr>
          <p:cNvPr id="71" name="Shape 66"/>
          <p:cNvSpPr/>
          <p:nvPr/>
        </p:nvSpPr>
        <p:spPr>
          <a:xfrm>
            <a:off x="6501384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611112" y="4279392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6729984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sdk-ingest</a:t>
            </a:r>
            <a:endParaRPr lang="en-US" sz="860" dirty="0"/>
          </a:p>
        </p:txBody>
      </p:sp>
      <p:sp>
        <p:nvSpPr>
          <p:cNvPr id="74" name="Shape 69"/>
          <p:cNvSpPr/>
          <p:nvPr/>
        </p:nvSpPr>
        <p:spPr>
          <a:xfrm>
            <a:off x="6501384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6611112" y="4636008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6729984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events</a:t>
            </a:r>
            <a:endParaRPr lang="en-US" sz="860" dirty="0"/>
          </a:p>
        </p:txBody>
      </p:sp>
      <p:sp>
        <p:nvSpPr>
          <p:cNvPr id="77" name="Shape 72"/>
          <p:cNvSpPr/>
          <p:nvPr/>
        </p:nvSpPr>
        <p:spPr>
          <a:xfrm>
            <a:off x="6501384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611112" y="4992624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6729984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sdk-event</a:t>
            </a:r>
            <a:endParaRPr lang="en-US" sz="860" dirty="0"/>
          </a:p>
        </p:txBody>
      </p:sp>
      <p:sp>
        <p:nvSpPr>
          <p:cNvPr id="80" name="Shape 75"/>
          <p:cNvSpPr/>
          <p:nvPr/>
        </p:nvSpPr>
        <p:spPr>
          <a:xfrm>
            <a:off x="6501384" y="523036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611112" y="5349240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6729984" y="52623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</a:t>
            </a:r>
            <a:endParaRPr lang="en-US" sz="860" dirty="0"/>
          </a:p>
        </p:txBody>
      </p:sp>
      <p:sp>
        <p:nvSpPr>
          <p:cNvPr id="83" name="Shape 78"/>
          <p:cNvSpPr/>
          <p:nvPr/>
        </p:nvSpPr>
        <p:spPr>
          <a:xfrm>
            <a:off x="6501384" y="558698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611112" y="5705856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6729984" y="561898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sdk-webhook</a:t>
            </a:r>
            <a:endParaRPr lang="en-US" sz="860" dirty="0"/>
          </a:p>
        </p:txBody>
      </p:sp>
      <p:sp>
        <p:nvSpPr>
          <p:cNvPr id="86" name="Shape 81"/>
          <p:cNvSpPr/>
          <p:nvPr/>
        </p:nvSpPr>
        <p:spPr>
          <a:xfrm>
            <a:off x="9134856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87" name="Shape 82"/>
          <p:cNvSpPr/>
          <p:nvPr/>
        </p:nvSpPr>
        <p:spPr>
          <a:xfrm>
            <a:off x="9336024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88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1363" y="2592507"/>
            <a:ext cx="228234" cy="228234"/>
          </a:xfrm>
          <a:prstGeom prst="rect">
            <a:avLst/>
          </a:prstGeom>
        </p:spPr>
      </p:pic>
      <p:sp>
        <p:nvSpPr>
          <p:cNvPr id="89" name="Text 83"/>
          <p:cNvSpPr txBox="1"/>
          <p:nvPr/>
        </p:nvSpPr>
        <p:spPr>
          <a:xfrm>
            <a:off x="9884664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 &amp; sync</a:t>
            </a:r>
            <a:endParaRPr lang="en-US" sz="1420" dirty="0"/>
          </a:p>
        </p:txBody>
      </p:sp>
      <p:sp>
        <p:nvSpPr>
          <p:cNvPr id="90" name="Shape 84"/>
          <p:cNvSpPr/>
          <p:nvPr/>
        </p:nvSpPr>
        <p:spPr>
          <a:xfrm>
            <a:off x="9363456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1" name="Shape 85"/>
          <p:cNvSpPr/>
          <p:nvPr/>
        </p:nvSpPr>
        <p:spPr>
          <a:xfrm>
            <a:off x="9473184" y="320954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92" name="Text 86"/>
          <p:cNvSpPr txBox="1"/>
          <p:nvPr/>
        </p:nvSpPr>
        <p:spPr>
          <a:xfrm>
            <a:off x="9592056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workflows</a:t>
            </a:r>
            <a:endParaRPr lang="en-US" sz="860" dirty="0"/>
          </a:p>
        </p:txBody>
      </p:sp>
      <p:sp>
        <p:nvSpPr>
          <p:cNvPr id="93" name="Shape 87"/>
          <p:cNvSpPr/>
          <p:nvPr/>
        </p:nvSpPr>
        <p:spPr>
          <a:xfrm>
            <a:off x="9363456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9473184" y="356616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9592056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build-plan</a:t>
            </a:r>
            <a:endParaRPr lang="en-US" sz="860" dirty="0"/>
          </a:p>
        </p:txBody>
      </p:sp>
      <p:sp>
        <p:nvSpPr>
          <p:cNvPr id="96" name="Shape 90"/>
          <p:cNvSpPr/>
          <p:nvPr/>
        </p:nvSpPr>
        <p:spPr>
          <a:xfrm>
            <a:off x="9363456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9473184" y="3922776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9592056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contracts</a:t>
            </a:r>
            <a:endParaRPr lang="en-US" sz="860" dirty="0"/>
          </a:p>
        </p:txBody>
      </p:sp>
      <p:sp>
        <p:nvSpPr>
          <p:cNvPr id="99" name="Shape 93"/>
          <p:cNvSpPr/>
          <p:nvPr/>
        </p:nvSpPr>
        <p:spPr>
          <a:xfrm>
            <a:off x="9363456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9473184" y="427939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101" name="Text 95"/>
          <p:cNvSpPr txBox="1"/>
          <p:nvPr/>
        </p:nvSpPr>
        <p:spPr>
          <a:xfrm>
            <a:off x="9592056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hdk-sync</a:t>
            </a:r>
            <a:endParaRPr lang="en-US" sz="860" dirty="0"/>
          </a:p>
        </p:txBody>
      </p:sp>
      <p:sp>
        <p:nvSpPr>
          <p:cNvPr id="102" name="Shape 96"/>
          <p:cNvSpPr/>
          <p:nvPr/>
        </p:nvSpPr>
        <p:spPr>
          <a:xfrm>
            <a:off x="9363456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9473184" y="4636008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104" name="Text 98"/>
          <p:cNvSpPr txBox="1"/>
          <p:nvPr/>
        </p:nvSpPr>
        <p:spPr>
          <a:xfrm>
            <a:off x="9592056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sdk-service-request</a:t>
            </a:r>
            <a:endParaRPr lang="en-US" sz="860" dirty="0"/>
          </a:p>
        </p:txBody>
      </p:sp>
      <p:sp>
        <p:nvSpPr>
          <p:cNvPr id="105" name="Shape 99"/>
          <p:cNvSpPr/>
          <p:nvPr/>
        </p:nvSpPr>
        <p:spPr>
          <a:xfrm>
            <a:off x="9363456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9473184" y="499262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107" name="Text 101"/>
          <p:cNvSpPr txBox="1"/>
          <p:nvPr/>
        </p:nvSpPr>
        <p:spPr>
          <a:xfrm>
            <a:off x="9592056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860" dirty="0"/>
          </a:p>
        </p:txBody>
      </p:sp>
      <p:sp>
        <p:nvSpPr>
          <p:cNvPr id="108" name="Shape 102"/>
          <p:cNvSpPr/>
          <p:nvPr/>
        </p:nvSpPr>
        <p:spPr>
          <a:xfrm>
            <a:off x="9363456" y="523036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9473184" y="534924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110" name="Text 104"/>
          <p:cNvSpPr txBox="1"/>
          <p:nvPr/>
        </p:nvSpPr>
        <p:spPr>
          <a:xfrm>
            <a:off x="9592056" y="52623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sdk-capability</a:t>
            </a:r>
            <a:endParaRPr lang="en-US" sz="86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MATRIX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ENGAGEMENT, COMMERCE, FIELD AND MEDIA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Capabilities that touch the customer, worker and revenue journey.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Build front-to-back experiences from lead generation through service delivery, evidence, billing and payment.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749808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55147" y="2592507"/>
            <a:ext cx="228234" cy="228234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1298448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Engagement</a:t>
            </a:r>
            <a:endParaRPr lang="en-US" sz="1420" dirty="0"/>
          </a:p>
        </p:txBody>
      </p:sp>
      <p:sp>
        <p:nvSpPr>
          <p:cNvPr id="18" name="Shape 15"/>
          <p:cNvSpPr/>
          <p:nvPr/>
        </p:nvSpPr>
        <p:spPr>
          <a:xfrm>
            <a:off x="777240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886968" y="320954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005840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sdk-crm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777240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886968" y="356616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005840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sdk-engagement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777240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886968" y="3922776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005840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sdk-campaign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777240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886968" y="427939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005840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sdk-content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777240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6968" y="4636008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05840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sdk-social</a:t>
            </a:r>
            <a:endParaRPr lang="en-US" sz="860" dirty="0"/>
          </a:p>
        </p:txBody>
      </p:sp>
      <p:sp>
        <p:nvSpPr>
          <p:cNvPr id="33" name="Shape 30"/>
          <p:cNvSpPr/>
          <p:nvPr/>
        </p:nvSpPr>
        <p:spPr>
          <a:xfrm>
            <a:off x="777240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4" name="Shape 31"/>
          <p:cNvSpPr/>
          <p:nvPr/>
        </p:nvSpPr>
        <p:spPr>
          <a:xfrm>
            <a:off x="886968" y="499262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1005840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social</a:t>
            </a:r>
            <a:endParaRPr lang="en-US" sz="860" dirty="0"/>
          </a:p>
        </p:txBody>
      </p:sp>
      <p:sp>
        <p:nvSpPr>
          <p:cNvPr id="36" name="Shape 33"/>
          <p:cNvSpPr/>
          <p:nvPr/>
        </p:nvSpPr>
        <p:spPr>
          <a:xfrm>
            <a:off x="777240" y="523036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7" name="Shape 34"/>
          <p:cNvSpPr/>
          <p:nvPr/>
        </p:nvSpPr>
        <p:spPr>
          <a:xfrm>
            <a:off x="886968" y="534924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8" name="Text 35"/>
          <p:cNvSpPr txBox="1"/>
          <p:nvPr/>
        </p:nvSpPr>
        <p:spPr>
          <a:xfrm>
            <a:off x="1005840" y="52623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profile</a:t>
            </a:r>
            <a:endParaRPr lang="en-US" sz="860" dirty="0"/>
          </a:p>
        </p:txBody>
      </p:sp>
      <p:sp>
        <p:nvSpPr>
          <p:cNvPr id="39" name="Shape 36"/>
          <p:cNvSpPr/>
          <p:nvPr/>
        </p:nvSpPr>
        <p:spPr>
          <a:xfrm>
            <a:off x="3410712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3611880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1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7219" y="2592507"/>
            <a:ext cx="228234" cy="228234"/>
          </a:xfrm>
          <a:prstGeom prst="rect">
            <a:avLst/>
          </a:prstGeom>
        </p:spPr>
      </p:pic>
      <p:sp>
        <p:nvSpPr>
          <p:cNvPr id="42" name="Text 38"/>
          <p:cNvSpPr txBox="1"/>
          <p:nvPr/>
        </p:nvSpPr>
        <p:spPr>
          <a:xfrm>
            <a:off x="4160520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Commerce</a:t>
            </a:r>
            <a:endParaRPr lang="en-US" sz="1420" dirty="0"/>
          </a:p>
        </p:txBody>
      </p:sp>
      <p:sp>
        <p:nvSpPr>
          <p:cNvPr id="43" name="Shape 39"/>
          <p:cNvSpPr/>
          <p:nvPr/>
        </p:nvSpPr>
        <p:spPr>
          <a:xfrm>
            <a:off x="3639312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4" name="Shape 40"/>
          <p:cNvSpPr/>
          <p:nvPr/>
        </p:nvSpPr>
        <p:spPr>
          <a:xfrm>
            <a:off x="3749040" y="3209544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5" name="Text 41"/>
          <p:cNvSpPr txBox="1"/>
          <p:nvPr/>
        </p:nvSpPr>
        <p:spPr>
          <a:xfrm>
            <a:off x="3867912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</a:t>
            </a:r>
            <a:endParaRPr lang="en-US" sz="860" dirty="0"/>
          </a:p>
        </p:txBody>
      </p:sp>
      <p:sp>
        <p:nvSpPr>
          <p:cNvPr id="46" name="Shape 42"/>
          <p:cNvSpPr/>
          <p:nvPr/>
        </p:nvSpPr>
        <p:spPr>
          <a:xfrm>
            <a:off x="3639312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7" name="Shape 43"/>
          <p:cNvSpPr/>
          <p:nvPr/>
        </p:nvSpPr>
        <p:spPr>
          <a:xfrm>
            <a:off x="3749040" y="3566160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8" name="Text 44"/>
          <p:cNvSpPr txBox="1"/>
          <p:nvPr/>
        </p:nvSpPr>
        <p:spPr>
          <a:xfrm>
            <a:off x="3867912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payments</a:t>
            </a:r>
            <a:endParaRPr lang="en-US" sz="860" dirty="0"/>
          </a:p>
        </p:txBody>
      </p:sp>
      <p:sp>
        <p:nvSpPr>
          <p:cNvPr id="49" name="Shape 45"/>
          <p:cNvSpPr/>
          <p:nvPr/>
        </p:nvSpPr>
        <p:spPr>
          <a:xfrm>
            <a:off x="3639312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0" name="Shape 46"/>
          <p:cNvSpPr/>
          <p:nvPr/>
        </p:nvSpPr>
        <p:spPr>
          <a:xfrm>
            <a:off x="3749040" y="3922776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51" name="Text 47"/>
          <p:cNvSpPr txBox="1"/>
          <p:nvPr/>
        </p:nvSpPr>
        <p:spPr>
          <a:xfrm>
            <a:off x="3867912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</a:t>
            </a:r>
            <a:endParaRPr lang="en-US" sz="860" dirty="0"/>
          </a:p>
        </p:txBody>
      </p:sp>
      <p:sp>
        <p:nvSpPr>
          <p:cNvPr id="52" name="Shape 48"/>
          <p:cNvSpPr/>
          <p:nvPr/>
        </p:nvSpPr>
        <p:spPr>
          <a:xfrm>
            <a:off x="3639312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3" name="Shape 49"/>
          <p:cNvSpPr/>
          <p:nvPr/>
        </p:nvSpPr>
        <p:spPr>
          <a:xfrm>
            <a:off x="3749040" y="4279392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54" name="Text 50"/>
          <p:cNvSpPr txBox="1"/>
          <p:nvPr/>
        </p:nvSpPr>
        <p:spPr>
          <a:xfrm>
            <a:off x="3867912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resellers</a:t>
            </a:r>
            <a:endParaRPr lang="en-US" sz="860" dirty="0"/>
          </a:p>
        </p:txBody>
      </p:sp>
      <p:sp>
        <p:nvSpPr>
          <p:cNvPr id="55" name="Shape 51"/>
          <p:cNvSpPr/>
          <p:nvPr/>
        </p:nvSpPr>
        <p:spPr>
          <a:xfrm>
            <a:off x="3639312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6" name="Shape 52"/>
          <p:cNvSpPr/>
          <p:nvPr/>
        </p:nvSpPr>
        <p:spPr>
          <a:xfrm>
            <a:off x="3749040" y="4636008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57" name="Text 53"/>
          <p:cNvSpPr txBox="1"/>
          <p:nvPr/>
        </p:nvSpPr>
        <p:spPr>
          <a:xfrm>
            <a:off x="3867912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notifications</a:t>
            </a:r>
            <a:endParaRPr lang="en-US" sz="860" dirty="0"/>
          </a:p>
        </p:txBody>
      </p:sp>
      <p:sp>
        <p:nvSpPr>
          <p:cNvPr id="58" name="Shape 54"/>
          <p:cNvSpPr/>
          <p:nvPr/>
        </p:nvSpPr>
        <p:spPr>
          <a:xfrm>
            <a:off x="3639312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9" name="Shape 55"/>
          <p:cNvSpPr/>
          <p:nvPr/>
        </p:nvSpPr>
        <p:spPr>
          <a:xfrm>
            <a:off x="3749040" y="4992624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3867912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sdk-webhook</a:t>
            </a:r>
            <a:endParaRPr lang="en-US" sz="860" dirty="0"/>
          </a:p>
        </p:txBody>
      </p:sp>
      <p:sp>
        <p:nvSpPr>
          <p:cNvPr id="61" name="Shape 57"/>
          <p:cNvSpPr/>
          <p:nvPr/>
        </p:nvSpPr>
        <p:spPr>
          <a:xfrm>
            <a:off x="3639312" y="523036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2" name="Shape 58"/>
          <p:cNvSpPr/>
          <p:nvPr/>
        </p:nvSpPr>
        <p:spPr>
          <a:xfrm>
            <a:off x="3749040" y="5349240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63" name="Text 59"/>
          <p:cNvSpPr txBox="1"/>
          <p:nvPr/>
        </p:nvSpPr>
        <p:spPr>
          <a:xfrm>
            <a:off x="3867912" y="52623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sdk-event</a:t>
            </a:r>
            <a:endParaRPr lang="en-US" sz="860" dirty="0"/>
          </a:p>
        </p:txBody>
      </p:sp>
      <p:sp>
        <p:nvSpPr>
          <p:cNvPr id="64" name="Shape 60"/>
          <p:cNvSpPr/>
          <p:nvPr/>
        </p:nvSpPr>
        <p:spPr>
          <a:xfrm>
            <a:off x="6272784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5" name="Shape 61"/>
          <p:cNvSpPr/>
          <p:nvPr/>
        </p:nvSpPr>
        <p:spPr>
          <a:xfrm>
            <a:off x="6473952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6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79291" y="2592507"/>
            <a:ext cx="228234" cy="228234"/>
          </a:xfrm>
          <a:prstGeom prst="rect">
            <a:avLst/>
          </a:prstGeom>
        </p:spPr>
      </p:pic>
      <p:sp>
        <p:nvSpPr>
          <p:cNvPr id="67" name="Text 62"/>
          <p:cNvSpPr txBox="1"/>
          <p:nvPr/>
        </p:nvSpPr>
        <p:spPr>
          <a:xfrm>
            <a:off x="7022592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Field operations</a:t>
            </a:r>
            <a:endParaRPr lang="en-US" sz="1420" dirty="0"/>
          </a:p>
        </p:txBody>
      </p:sp>
      <p:sp>
        <p:nvSpPr>
          <p:cNvPr id="68" name="Shape 63"/>
          <p:cNvSpPr/>
          <p:nvPr/>
        </p:nvSpPr>
        <p:spPr>
          <a:xfrm>
            <a:off x="6501384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9" name="Shape 64"/>
          <p:cNvSpPr/>
          <p:nvPr/>
        </p:nvSpPr>
        <p:spPr>
          <a:xfrm>
            <a:off x="6611112" y="320954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0" name="Text 65"/>
          <p:cNvSpPr txBox="1"/>
          <p:nvPr/>
        </p:nvSpPr>
        <p:spPr>
          <a:xfrm>
            <a:off x="6729984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</a:t>
            </a:r>
            <a:endParaRPr lang="en-US" sz="860" dirty="0"/>
          </a:p>
        </p:txBody>
      </p:sp>
      <p:sp>
        <p:nvSpPr>
          <p:cNvPr id="71" name="Shape 66"/>
          <p:cNvSpPr/>
          <p:nvPr/>
        </p:nvSpPr>
        <p:spPr>
          <a:xfrm>
            <a:off x="6501384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2" name="Shape 67"/>
          <p:cNvSpPr/>
          <p:nvPr/>
        </p:nvSpPr>
        <p:spPr>
          <a:xfrm>
            <a:off x="6611112" y="356616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3" name="Text 68"/>
          <p:cNvSpPr txBox="1"/>
          <p:nvPr/>
        </p:nvSpPr>
        <p:spPr>
          <a:xfrm>
            <a:off x="6729984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geo-nodes</a:t>
            </a:r>
            <a:endParaRPr lang="en-US" sz="860" dirty="0"/>
          </a:p>
        </p:txBody>
      </p:sp>
      <p:sp>
        <p:nvSpPr>
          <p:cNvPr id="74" name="Shape 69"/>
          <p:cNvSpPr/>
          <p:nvPr/>
        </p:nvSpPr>
        <p:spPr>
          <a:xfrm>
            <a:off x="6501384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5" name="Shape 70"/>
          <p:cNvSpPr/>
          <p:nvPr/>
        </p:nvSpPr>
        <p:spPr>
          <a:xfrm>
            <a:off x="6611112" y="3922776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6" name="Text 71"/>
          <p:cNvSpPr txBox="1"/>
          <p:nvPr/>
        </p:nvSpPr>
        <p:spPr>
          <a:xfrm>
            <a:off x="6729984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hdk-map</a:t>
            </a:r>
            <a:endParaRPr lang="en-US" sz="860" dirty="0"/>
          </a:p>
        </p:txBody>
      </p:sp>
      <p:sp>
        <p:nvSpPr>
          <p:cNvPr id="77" name="Shape 72"/>
          <p:cNvSpPr/>
          <p:nvPr/>
        </p:nvSpPr>
        <p:spPr>
          <a:xfrm>
            <a:off x="6501384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8" name="Shape 73"/>
          <p:cNvSpPr/>
          <p:nvPr/>
        </p:nvSpPr>
        <p:spPr>
          <a:xfrm>
            <a:off x="6611112" y="427939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9" name="Text 74"/>
          <p:cNvSpPr txBox="1"/>
          <p:nvPr/>
        </p:nvSpPr>
        <p:spPr>
          <a:xfrm>
            <a:off x="6729984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hdk-measure</a:t>
            </a:r>
            <a:endParaRPr lang="en-US" sz="860" dirty="0"/>
          </a:p>
        </p:txBody>
      </p:sp>
      <p:sp>
        <p:nvSpPr>
          <p:cNvPr id="80" name="Shape 75"/>
          <p:cNvSpPr/>
          <p:nvPr/>
        </p:nvSpPr>
        <p:spPr>
          <a:xfrm>
            <a:off x="6501384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1" name="Shape 76"/>
          <p:cNvSpPr/>
          <p:nvPr/>
        </p:nvSpPr>
        <p:spPr>
          <a:xfrm>
            <a:off x="6611112" y="4636008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82" name="Text 77"/>
          <p:cNvSpPr txBox="1"/>
          <p:nvPr/>
        </p:nvSpPr>
        <p:spPr>
          <a:xfrm>
            <a:off x="6729984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hdk-permissions</a:t>
            </a:r>
            <a:endParaRPr lang="en-US" sz="860" dirty="0"/>
          </a:p>
        </p:txBody>
      </p:sp>
      <p:sp>
        <p:nvSpPr>
          <p:cNvPr id="83" name="Shape 78"/>
          <p:cNvSpPr/>
          <p:nvPr/>
        </p:nvSpPr>
        <p:spPr>
          <a:xfrm>
            <a:off x="6501384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4" name="Shape 79"/>
          <p:cNvSpPr/>
          <p:nvPr/>
        </p:nvSpPr>
        <p:spPr>
          <a:xfrm>
            <a:off x="6611112" y="499262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85" name="Text 80"/>
          <p:cNvSpPr txBox="1"/>
          <p:nvPr/>
        </p:nvSpPr>
        <p:spPr>
          <a:xfrm>
            <a:off x="6729984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devices</a:t>
            </a:r>
            <a:endParaRPr lang="en-US" sz="860" dirty="0"/>
          </a:p>
        </p:txBody>
      </p:sp>
      <p:sp>
        <p:nvSpPr>
          <p:cNvPr id="86" name="Shape 81"/>
          <p:cNvSpPr/>
          <p:nvPr/>
        </p:nvSpPr>
        <p:spPr>
          <a:xfrm>
            <a:off x="6501384" y="523036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87" name="Shape 82"/>
          <p:cNvSpPr/>
          <p:nvPr/>
        </p:nvSpPr>
        <p:spPr>
          <a:xfrm>
            <a:off x="6611112" y="5349240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88" name="Text 83"/>
          <p:cNvSpPr txBox="1"/>
          <p:nvPr/>
        </p:nvSpPr>
        <p:spPr>
          <a:xfrm>
            <a:off x="6729984" y="52623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sdk-service-request</a:t>
            </a:r>
            <a:endParaRPr lang="en-US" sz="860" dirty="0"/>
          </a:p>
        </p:txBody>
      </p:sp>
      <p:sp>
        <p:nvSpPr>
          <p:cNvPr id="89" name="Shape 84"/>
          <p:cNvSpPr/>
          <p:nvPr/>
        </p:nvSpPr>
        <p:spPr>
          <a:xfrm>
            <a:off x="9134856" y="2267712"/>
            <a:ext cx="2596896" cy="3657600"/>
          </a:xfrm>
          <a:prstGeom prst="roundRect">
            <a:avLst>
              <a:gd name="adj" fmla="val 63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90" name="Shape 85"/>
          <p:cNvSpPr/>
          <p:nvPr/>
        </p:nvSpPr>
        <p:spPr>
          <a:xfrm>
            <a:off x="9336024" y="2487168"/>
            <a:ext cx="438912" cy="438912"/>
          </a:xfrm>
          <a:prstGeom prst="roundRect">
            <a:avLst>
              <a:gd name="adj" fmla="val 37500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91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441363" y="2592507"/>
            <a:ext cx="228234" cy="228234"/>
          </a:xfrm>
          <a:prstGeom prst="rect">
            <a:avLst/>
          </a:prstGeom>
        </p:spPr>
      </p:pic>
      <p:sp>
        <p:nvSpPr>
          <p:cNvPr id="92" name="Text 86"/>
          <p:cNvSpPr txBox="1"/>
          <p:nvPr/>
        </p:nvSpPr>
        <p:spPr>
          <a:xfrm>
            <a:off x="9884664" y="2487168"/>
            <a:ext cx="162763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 evidence</a:t>
            </a:r>
            <a:endParaRPr lang="en-US" sz="1420" dirty="0"/>
          </a:p>
        </p:txBody>
      </p:sp>
      <p:sp>
        <p:nvSpPr>
          <p:cNvPr id="93" name="Shape 87"/>
          <p:cNvSpPr/>
          <p:nvPr/>
        </p:nvSpPr>
        <p:spPr>
          <a:xfrm>
            <a:off x="9363456" y="309067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4" name="Shape 88"/>
          <p:cNvSpPr/>
          <p:nvPr/>
        </p:nvSpPr>
        <p:spPr>
          <a:xfrm>
            <a:off x="9473184" y="3209544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95" name="Text 89"/>
          <p:cNvSpPr txBox="1"/>
          <p:nvPr/>
        </p:nvSpPr>
        <p:spPr>
          <a:xfrm>
            <a:off x="9592056" y="312267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hdk-camera</a:t>
            </a:r>
            <a:endParaRPr lang="en-US" sz="860" dirty="0"/>
          </a:p>
        </p:txBody>
      </p:sp>
      <p:sp>
        <p:nvSpPr>
          <p:cNvPr id="96" name="Shape 90"/>
          <p:cNvSpPr/>
          <p:nvPr/>
        </p:nvSpPr>
        <p:spPr>
          <a:xfrm>
            <a:off x="9363456" y="344728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97" name="Shape 91"/>
          <p:cNvSpPr/>
          <p:nvPr/>
        </p:nvSpPr>
        <p:spPr>
          <a:xfrm>
            <a:off x="9473184" y="3566160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9592056" y="347929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hdk-scanner</a:t>
            </a:r>
            <a:endParaRPr lang="en-US" sz="860" dirty="0"/>
          </a:p>
        </p:txBody>
      </p:sp>
      <p:sp>
        <p:nvSpPr>
          <p:cNvPr id="99" name="Shape 93"/>
          <p:cNvSpPr/>
          <p:nvPr/>
        </p:nvSpPr>
        <p:spPr>
          <a:xfrm>
            <a:off x="9363456" y="3803904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0" name="Shape 94"/>
          <p:cNvSpPr/>
          <p:nvPr/>
        </p:nvSpPr>
        <p:spPr>
          <a:xfrm>
            <a:off x="9473184" y="3922776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101" name="Text 95"/>
          <p:cNvSpPr txBox="1"/>
          <p:nvPr/>
        </p:nvSpPr>
        <p:spPr>
          <a:xfrm>
            <a:off x="9592056" y="3835908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hdk-watermark</a:t>
            </a:r>
            <a:endParaRPr lang="en-US" sz="860" dirty="0"/>
          </a:p>
        </p:txBody>
      </p:sp>
      <p:sp>
        <p:nvSpPr>
          <p:cNvPr id="102" name="Shape 96"/>
          <p:cNvSpPr/>
          <p:nvPr/>
        </p:nvSpPr>
        <p:spPr>
          <a:xfrm>
            <a:off x="9363456" y="4160520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3" name="Shape 97"/>
          <p:cNvSpPr/>
          <p:nvPr/>
        </p:nvSpPr>
        <p:spPr>
          <a:xfrm>
            <a:off x="9473184" y="4279392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104" name="Text 98"/>
          <p:cNvSpPr txBox="1"/>
          <p:nvPr/>
        </p:nvSpPr>
        <p:spPr>
          <a:xfrm>
            <a:off x="9592056" y="4192524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hdk-image-editor</a:t>
            </a:r>
            <a:endParaRPr lang="en-US" sz="860" dirty="0"/>
          </a:p>
        </p:txBody>
      </p:sp>
      <p:sp>
        <p:nvSpPr>
          <p:cNvPr id="105" name="Shape 99"/>
          <p:cNvSpPr/>
          <p:nvPr/>
        </p:nvSpPr>
        <p:spPr>
          <a:xfrm>
            <a:off x="9363456" y="4517136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6" name="Shape 100"/>
          <p:cNvSpPr/>
          <p:nvPr/>
        </p:nvSpPr>
        <p:spPr>
          <a:xfrm>
            <a:off x="9473184" y="4636008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107" name="Text 101"/>
          <p:cNvSpPr txBox="1"/>
          <p:nvPr/>
        </p:nvSpPr>
        <p:spPr>
          <a:xfrm>
            <a:off x="9592056" y="4549140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hdk-video-editor</a:t>
            </a:r>
            <a:endParaRPr lang="en-US" sz="860" dirty="0"/>
          </a:p>
        </p:txBody>
      </p:sp>
      <p:sp>
        <p:nvSpPr>
          <p:cNvPr id="108" name="Shape 102"/>
          <p:cNvSpPr/>
          <p:nvPr/>
        </p:nvSpPr>
        <p:spPr>
          <a:xfrm>
            <a:off x="9363456" y="4873752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09" name="Shape 103"/>
          <p:cNvSpPr/>
          <p:nvPr/>
        </p:nvSpPr>
        <p:spPr>
          <a:xfrm>
            <a:off x="9473184" y="4992624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110" name="Text 104"/>
          <p:cNvSpPr txBox="1"/>
          <p:nvPr/>
        </p:nvSpPr>
        <p:spPr>
          <a:xfrm>
            <a:off x="9592056" y="4905756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media</a:t>
            </a:r>
            <a:endParaRPr lang="en-US" sz="860" dirty="0"/>
          </a:p>
        </p:txBody>
      </p:sp>
      <p:sp>
        <p:nvSpPr>
          <p:cNvPr id="111" name="Shape 105"/>
          <p:cNvSpPr/>
          <p:nvPr/>
        </p:nvSpPr>
        <p:spPr>
          <a:xfrm>
            <a:off x="9363456" y="5230368"/>
            <a:ext cx="2139696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12" name="Shape 106"/>
          <p:cNvSpPr/>
          <p:nvPr/>
        </p:nvSpPr>
        <p:spPr>
          <a:xfrm>
            <a:off x="9473184" y="5349240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113" name="Text 107"/>
          <p:cNvSpPr txBox="1"/>
          <p:nvPr/>
        </p:nvSpPr>
        <p:spPr>
          <a:xfrm>
            <a:off x="9592056" y="5262372"/>
            <a:ext cx="1828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sdk-media</a:t>
            </a:r>
            <a:endParaRPr lang="en-US" sz="86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COMPOSABLE ARCHITECTURE FROM EXPERIENCE TO EVIDENCE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Simple at the application edge; disciplined underneath.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customer solution can use only the layers it needs, while every protected action carries identity, purpose, policy, trace and evidence context.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31520" y="2286000"/>
            <a:ext cx="7360920" cy="530352"/>
          </a:xfrm>
          <a:prstGeom prst="roundRect">
            <a:avLst>
              <a:gd name="adj" fmla="val 24138"/>
            </a:avLst>
          </a:prstGeom>
          <a:solidFill>
            <a:srgbClr val="0D1A29"/>
          </a:solidFill>
          <a:ln w="12700">
            <a:solidFill>
              <a:srgbClr val="4D8C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60120" y="2395728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EXPERIENCE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2487168" y="2377440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application · AppShell · mobile · portal · SDK</a:t>
            </a:r>
            <a:endParaRPr lang="en-US" sz="1130" dirty="0"/>
          </a:p>
        </p:txBody>
      </p:sp>
      <p:sp>
        <p:nvSpPr>
          <p:cNvPr id="17" name="Shape 15"/>
          <p:cNvSpPr/>
          <p:nvPr/>
        </p:nvSpPr>
        <p:spPr>
          <a:xfrm>
            <a:off x="731520" y="2907792"/>
            <a:ext cx="7360920" cy="530352"/>
          </a:xfrm>
          <a:prstGeom prst="roundRect">
            <a:avLst>
              <a:gd name="adj" fmla="val 24138"/>
            </a:avLst>
          </a:prstGeom>
          <a:solidFill>
            <a:srgbClr val="0D1A29"/>
          </a:solidFill>
          <a:ln w="12700">
            <a:solidFill>
              <a:srgbClr val="45E2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960120" y="3017520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CAPABILITIES</a:t>
            </a:r>
            <a:endParaRPr lang="en-US" sz="1050" dirty="0"/>
          </a:p>
        </p:txBody>
      </p:sp>
      <p:sp>
        <p:nvSpPr>
          <p:cNvPr id="19" name="Text 17"/>
          <p:cNvSpPr txBox="1"/>
          <p:nvPr/>
        </p:nvSpPr>
        <p:spPr>
          <a:xfrm>
            <a:off x="2487168" y="2999232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AI · workflow · connectors · commerce · field media</a:t>
            </a:r>
            <a:endParaRPr lang="en-US" sz="1130" dirty="0"/>
          </a:p>
        </p:txBody>
      </p:sp>
      <p:sp>
        <p:nvSpPr>
          <p:cNvPr id="20" name="Shape 18"/>
          <p:cNvSpPr/>
          <p:nvPr/>
        </p:nvSpPr>
        <p:spPr>
          <a:xfrm>
            <a:off x="731520" y="3529584"/>
            <a:ext cx="7360920" cy="530352"/>
          </a:xfrm>
          <a:prstGeom prst="roundRect">
            <a:avLst>
              <a:gd name="adj" fmla="val 24138"/>
            </a:avLst>
          </a:prstGeom>
          <a:solidFill>
            <a:srgbClr val="0D1A29"/>
          </a:solidFill>
          <a:ln w="12700">
            <a:solidFill>
              <a:srgbClr val="52D6A4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960120" y="3639312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TRUST &amp; CONTROL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2487168" y="3621024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 · workload trust · policy · consent · vault · approvals</a:t>
            </a:r>
            <a:endParaRPr lang="en-US" sz="1130" dirty="0"/>
          </a:p>
        </p:txBody>
      </p:sp>
      <p:sp>
        <p:nvSpPr>
          <p:cNvPr id="23" name="Shape 21"/>
          <p:cNvSpPr/>
          <p:nvPr/>
        </p:nvSpPr>
        <p:spPr>
          <a:xfrm>
            <a:off x="731520" y="4151376"/>
            <a:ext cx="7360920" cy="530352"/>
          </a:xfrm>
          <a:prstGeom prst="roundRect">
            <a:avLst>
              <a:gd name="adj" fmla="val 24138"/>
            </a:avLst>
          </a:prstGeom>
          <a:solidFill>
            <a:srgbClr val="0D1A29"/>
          </a:solidFill>
          <a:ln w="12700">
            <a:solidFill>
              <a:srgbClr val="B29C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960120" y="4261104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&amp; EVENTS</a:t>
            </a:r>
            <a:endParaRPr lang="en-US" sz="1050" dirty="0"/>
          </a:p>
        </p:txBody>
      </p:sp>
      <p:sp>
        <p:nvSpPr>
          <p:cNvPr id="25" name="Text 23"/>
          <p:cNvSpPr txBox="1"/>
          <p:nvPr/>
        </p:nvSpPr>
        <p:spPr>
          <a:xfrm>
            <a:off x="2487168" y="4242816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Transactional services · event log · search · lineage · projections</a:t>
            </a:r>
            <a:endParaRPr lang="en-US" sz="1130" dirty="0"/>
          </a:p>
        </p:txBody>
      </p:sp>
      <p:sp>
        <p:nvSpPr>
          <p:cNvPr id="26" name="Shape 24"/>
          <p:cNvSpPr/>
          <p:nvPr/>
        </p:nvSpPr>
        <p:spPr>
          <a:xfrm>
            <a:off x="731520" y="4773168"/>
            <a:ext cx="7360920" cy="530352"/>
          </a:xfrm>
          <a:prstGeom prst="roundRect">
            <a:avLst>
              <a:gd name="adj" fmla="val 24138"/>
            </a:avLst>
          </a:prstGeom>
          <a:solidFill>
            <a:srgbClr val="0D1A29"/>
          </a:solidFill>
          <a:ln w="12700">
            <a:solidFill>
              <a:srgbClr val="F6C85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960120" y="4882896"/>
            <a:ext cx="1572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kern="0" spc="7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2487168" y="4864608"/>
            <a:ext cx="5257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Telemetry · evidence · certification · SRE · support · lifecycle</a:t>
            </a:r>
            <a:endParaRPr lang="en-US" sz="1130" dirty="0"/>
          </a:p>
        </p:txBody>
      </p:sp>
      <p:sp>
        <p:nvSpPr>
          <p:cNvPr id="29" name="Shape 27"/>
          <p:cNvSpPr/>
          <p:nvPr/>
        </p:nvSpPr>
        <p:spPr>
          <a:xfrm>
            <a:off x="8458200" y="2286000"/>
            <a:ext cx="3127248" cy="3017520"/>
          </a:xfrm>
          <a:prstGeom prst="roundRect">
            <a:avLst>
              <a:gd name="adj" fmla="val 5455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8705088" y="2523744"/>
            <a:ext cx="2633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PROTECTED ACTION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8759952" y="2999232"/>
            <a:ext cx="2468880" cy="274320"/>
          </a:xfrm>
          <a:prstGeom prst="roundRect">
            <a:avLst>
              <a:gd name="adj" fmla="val 33333"/>
            </a:avLst>
          </a:prstGeom>
          <a:solidFill>
            <a:srgbClr val="0D1A29"/>
          </a:solidFill>
          <a:ln w="12700">
            <a:solidFill>
              <a:srgbClr val="25384B">
                <a:alpha val="7000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8942832" y="303580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Principal</a:t>
            </a:r>
            <a:endParaRPr lang="en-US" sz="920" dirty="0"/>
          </a:p>
        </p:txBody>
      </p:sp>
      <p:sp>
        <p:nvSpPr>
          <p:cNvPr id="33" name="Shape 31"/>
          <p:cNvSpPr/>
          <p:nvPr/>
        </p:nvSpPr>
        <p:spPr>
          <a:xfrm>
            <a:off x="8759952" y="3346704"/>
            <a:ext cx="2468880" cy="274320"/>
          </a:xfrm>
          <a:prstGeom prst="roundRect">
            <a:avLst>
              <a:gd name="adj" fmla="val 33333"/>
            </a:avLst>
          </a:prstGeom>
          <a:solidFill>
            <a:srgbClr val="0D1A29"/>
          </a:solidFill>
          <a:ln w="12700">
            <a:solidFill>
              <a:srgbClr val="25384B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42832" y="3383280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</a:t>
            </a:r>
            <a:endParaRPr lang="en-US" sz="920" dirty="0"/>
          </a:p>
        </p:txBody>
      </p:sp>
      <p:sp>
        <p:nvSpPr>
          <p:cNvPr id="35" name="Shape 33"/>
          <p:cNvSpPr/>
          <p:nvPr/>
        </p:nvSpPr>
        <p:spPr>
          <a:xfrm>
            <a:off x="8759952" y="3694176"/>
            <a:ext cx="2468880" cy="274320"/>
          </a:xfrm>
          <a:prstGeom prst="roundRect">
            <a:avLst>
              <a:gd name="adj" fmla="val 33333"/>
            </a:avLst>
          </a:prstGeom>
          <a:solidFill>
            <a:srgbClr val="0D1A29"/>
          </a:solidFill>
          <a:ln w="12700">
            <a:solidFill>
              <a:srgbClr val="25384B">
                <a:alpha val="7000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8942832" y="3730752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/ scope</a:t>
            </a:r>
            <a:endParaRPr lang="en-US" sz="920" dirty="0"/>
          </a:p>
        </p:txBody>
      </p:sp>
      <p:sp>
        <p:nvSpPr>
          <p:cNvPr id="37" name="Shape 35"/>
          <p:cNvSpPr/>
          <p:nvPr/>
        </p:nvSpPr>
        <p:spPr>
          <a:xfrm>
            <a:off x="8759952" y="4041648"/>
            <a:ext cx="2468880" cy="274320"/>
          </a:xfrm>
          <a:prstGeom prst="roundRect">
            <a:avLst>
              <a:gd name="adj" fmla="val 33333"/>
            </a:avLst>
          </a:prstGeom>
          <a:solidFill>
            <a:srgbClr val="0D1A29"/>
          </a:solidFill>
          <a:ln w="12700">
            <a:solidFill>
              <a:srgbClr val="25384B">
                <a:alpha val="70000"/>
              </a:srgb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8942832" y="4078224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</a:t>
            </a:r>
            <a:endParaRPr lang="en-US" sz="920" dirty="0"/>
          </a:p>
        </p:txBody>
      </p:sp>
      <p:sp>
        <p:nvSpPr>
          <p:cNvPr id="39" name="Shape 37"/>
          <p:cNvSpPr/>
          <p:nvPr/>
        </p:nvSpPr>
        <p:spPr>
          <a:xfrm>
            <a:off x="8759952" y="4389120"/>
            <a:ext cx="2468880" cy="274320"/>
          </a:xfrm>
          <a:prstGeom prst="roundRect">
            <a:avLst>
              <a:gd name="adj" fmla="val 33333"/>
            </a:avLst>
          </a:prstGeom>
          <a:solidFill>
            <a:srgbClr val="0D1A29"/>
          </a:solidFill>
          <a:ln w="12700">
            <a:solidFill>
              <a:srgbClr val="25384B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942832" y="4425696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decision</a:t>
            </a:r>
            <a:endParaRPr lang="en-US" sz="920" dirty="0"/>
          </a:p>
        </p:txBody>
      </p:sp>
      <p:sp>
        <p:nvSpPr>
          <p:cNvPr id="41" name="Shape 39"/>
          <p:cNvSpPr/>
          <p:nvPr/>
        </p:nvSpPr>
        <p:spPr>
          <a:xfrm>
            <a:off x="8759952" y="4736592"/>
            <a:ext cx="2468880" cy="274320"/>
          </a:xfrm>
          <a:prstGeom prst="roundRect">
            <a:avLst>
              <a:gd name="adj" fmla="val 33333"/>
            </a:avLst>
          </a:prstGeom>
          <a:solidFill>
            <a:srgbClr val="0D1A29"/>
          </a:solidFill>
          <a:ln w="12700">
            <a:solidFill>
              <a:srgbClr val="25384B">
                <a:alpha val="70000"/>
              </a:srgbClr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8942832" y="4773168"/>
            <a:ext cx="2103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Trace &amp; evidence</a:t>
            </a:r>
            <a:endParaRPr lang="en-US" sz="920" dirty="0"/>
          </a:p>
        </p:txBody>
      </p:sp>
      <p:sp>
        <p:nvSpPr>
          <p:cNvPr id="43" name="Shape 41"/>
          <p:cNvSpPr/>
          <p:nvPr/>
        </p:nvSpPr>
        <p:spPr>
          <a:xfrm>
            <a:off x="8933688" y="5468112"/>
            <a:ext cx="214884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9006840" y="5486400"/>
            <a:ext cx="2002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DEPLOYED BY PROFILE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CUSTOMER-CLOUD DEPLOYMENT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Keep strategic code, data and control inside your environment.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SDKs and supporting services can run within your cloud account, private network and security tooling—while ProjexCloud continues to certify, update and support the release.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2286000"/>
            <a:ext cx="6903720" cy="3383280"/>
          </a:xfrm>
          <a:prstGeom prst="roundRect">
            <a:avLst>
              <a:gd name="adj" fmla="val 48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4400" y="2596896"/>
            <a:ext cx="192024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87552" y="2615184"/>
            <a:ext cx="17739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CLOUD / VPC / VNET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1005840" y="3200400"/>
            <a:ext cx="1261872" cy="1261872"/>
          </a:xfrm>
          <a:prstGeom prst="roundRect">
            <a:avLst>
              <a:gd name="adj" fmla="val 13043"/>
            </a:avLst>
          </a:prstGeom>
          <a:solidFill>
            <a:srgbClr val="11253A"/>
          </a:solidFill>
          <a:ln w="12700">
            <a:solidFill>
              <a:srgbClr val="4D8CFF">
                <a:alpha val="65000"/>
              </a:srgbClr>
            </a:solidFill>
            <a:prstDash val="solid"/>
          </a:ln>
        </p:spPr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417320" y="3456432"/>
            <a:ext cx="420624" cy="42062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097280" y="4005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app</a:t>
            </a:r>
            <a:endParaRPr lang="en-US" sz="960" dirty="0"/>
          </a:p>
        </p:txBody>
      </p:sp>
      <p:sp>
        <p:nvSpPr>
          <p:cNvPr id="20" name="Shape 17"/>
          <p:cNvSpPr/>
          <p:nvPr/>
        </p:nvSpPr>
        <p:spPr>
          <a:xfrm>
            <a:off x="2286000" y="3831336"/>
            <a:ext cx="292608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1" name="Shape 18"/>
          <p:cNvSpPr/>
          <p:nvPr/>
        </p:nvSpPr>
        <p:spPr>
          <a:xfrm>
            <a:off x="2651760" y="3200400"/>
            <a:ext cx="1261872" cy="1261872"/>
          </a:xfrm>
          <a:prstGeom prst="roundRect">
            <a:avLst>
              <a:gd name="adj" fmla="val 13043"/>
            </a:avLst>
          </a:prstGeom>
          <a:solidFill>
            <a:srgbClr val="11253A"/>
          </a:solidFill>
          <a:ln w="12700">
            <a:solidFill>
              <a:srgbClr val="45E2FF">
                <a:alpha val="65000"/>
              </a:srgbClr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063240" y="3456432"/>
            <a:ext cx="420624" cy="420624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743200" y="4005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SDKs</a:t>
            </a:r>
            <a:endParaRPr lang="en-US" sz="960" dirty="0"/>
          </a:p>
        </p:txBody>
      </p:sp>
      <p:sp>
        <p:nvSpPr>
          <p:cNvPr id="24" name="Shape 20"/>
          <p:cNvSpPr/>
          <p:nvPr/>
        </p:nvSpPr>
        <p:spPr>
          <a:xfrm>
            <a:off x="3931920" y="3831336"/>
            <a:ext cx="292608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5" name="Shape 21"/>
          <p:cNvSpPr/>
          <p:nvPr/>
        </p:nvSpPr>
        <p:spPr>
          <a:xfrm>
            <a:off x="4297680" y="3200400"/>
            <a:ext cx="1261872" cy="1261872"/>
          </a:xfrm>
          <a:prstGeom prst="roundRect">
            <a:avLst>
              <a:gd name="adj" fmla="val 13043"/>
            </a:avLst>
          </a:prstGeom>
          <a:solidFill>
            <a:srgbClr val="11253A"/>
          </a:solidFill>
          <a:ln w="12700">
            <a:solidFill>
              <a:srgbClr val="B29CFF">
                <a:alpha val="65000"/>
              </a:srgbClr>
            </a:solidFill>
            <a:prstDash val="solid"/>
          </a:ln>
        </p:spPr>
      </p:sp>
      <p:pic>
        <p:nvPicPr>
          <p:cNvPr id="26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4709160" y="3456432"/>
            <a:ext cx="420624" cy="420624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4389120" y="4005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data</a:t>
            </a:r>
            <a:endParaRPr lang="en-US" sz="960" dirty="0"/>
          </a:p>
        </p:txBody>
      </p:sp>
      <p:sp>
        <p:nvSpPr>
          <p:cNvPr id="28" name="Shape 23"/>
          <p:cNvSpPr/>
          <p:nvPr/>
        </p:nvSpPr>
        <p:spPr>
          <a:xfrm>
            <a:off x="5577840" y="3831336"/>
            <a:ext cx="292608" cy="0"/>
          </a:xfrm>
          <a:prstGeom prst="line">
            <a:avLst/>
          </a:prstGeom>
          <a:noFill/>
          <a:ln w="1651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9" name="Shape 24"/>
          <p:cNvSpPr/>
          <p:nvPr/>
        </p:nvSpPr>
        <p:spPr>
          <a:xfrm>
            <a:off x="5943600" y="3200400"/>
            <a:ext cx="1261872" cy="1261872"/>
          </a:xfrm>
          <a:prstGeom prst="roundRect">
            <a:avLst>
              <a:gd name="adj" fmla="val 13043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</p:spPr>
      </p:sp>
      <p:pic>
        <p:nvPicPr>
          <p:cNvPr id="3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355080" y="3456432"/>
            <a:ext cx="420624" cy="420624"/>
          </a:xfrm>
          <a:prstGeom prst="rect">
            <a:avLst/>
          </a:prstGeom>
        </p:spPr>
      </p:pic>
      <p:sp>
        <p:nvSpPr>
          <p:cNvPr id="31" name="Text 25"/>
          <p:cNvSpPr txBox="1"/>
          <p:nvPr/>
        </p:nvSpPr>
        <p:spPr>
          <a:xfrm>
            <a:off x="6035040" y="4005072"/>
            <a:ext cx="10789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KMS / IAM</a:t>
            </a:r>
            <a:endParaRPr lang="en-US" sz="960" dirty="0"/>
          </a:p>
        </p:txBody>
      </p:sp>
      <p:sp>
        <p:nvSpPr>
          <p:cNvPr id="32" name="Shape 26"/>
          <p:cNvSpPr/>
          <p:nvPr/>
        </p:nvSpPr>
        <p:spPr>
          <a:xfrm>
            <a:off x="960120" y="498348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33" name="Text 27"/>
          <p:cNvSpPr txBox="1"/>
          <p:nvPr/>
        </p:nvSpPr>
        <p:spPr>
          <a:xfrm>
            <a:off x="1033272" y="5001768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ENDPOINTS</a:t>
            </a:r>
            <a:endParaRPr lang="en-US" sz="850" dirty="0"/>
          </a:p>
        </p:txBody>
      </p:sp>
      <p:sp>
        <p:nvSpPr>
          <p:cNvPr id="34" name="Shape 28"/>
          <p:cNvSpPr/>
          <p:nvPr/>
        </p:nvSpPr>
        <p:spPr>
          <a:xfrm>
            <a:off x="2688336" y="4983480"/>
            <a:ext cx="123444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35" name="Text 29"/>
          <p:cNvSpPr txBox="1"/>
          <p:nvPr/>
        </p:nvSpPr>
        <p:spPr>
          <a:xfrm>
            <a:off x="2761488" y="5001768"/>
            <a:ext cx="10881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BYOK / CMK</a:t>
            </a:r>
            <a:endParaRPr lang="en-US" sz="850" dirty="0"/>
          </a:p>
        </p:txBody>
      </p:sp>
      <p:sp>
        <p:nvSpPr>
          <p:cNvPr id="36" name="Shape 30"/>
          <p:cNvSpPr/>
          <p:nvPr/>
        </p:nvSpPr>
        <p:spPr>
          <a:xfrm>
            <a:off x="4078224" y="4983480"/>
            <a:ext cx="157276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4151376" y="5001768"/>
            <a:ext cx="1426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RESIDENCY</a:t>
            </a:r>
            <a:endParaRPr lang="en-US" sz="850" dirty="0"/>
          </a:p>
        </p:txBody>
      </p:sp>
      <p:sp>
        <p:nvSpPr>
          <p:cNvPr id="38" name="Shape 32"/>
          <p:cNvSpPr/>
          <p:nvPr/>
        </p:nvSpPr>
        <p:spPr>
          <a:xfrm>
            <a:off x="5806440" y="4983480"/>
            <a:ext cx="1426464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5879592" y="5001768"/>
            <a:ext cx="12801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SIEM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7818120" y="2286000"/>
            <a:ext cx="3730752" cy="3383280"/>
          </a:xfrm>
          <a:prstGeom prst="roundRect">
            <a:avLst>
              <a:gd name="adj" fmla="val 4865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1" name="Shape 35"/>
          <p:cNvSpPr/>
          <p:nvPr/>
        </p:nvSpPr>
        <p:spPr>
          <a:xfrm>
            <a:off x="8156448" y="2688336"/>
            <a:ext cx="68580" cy="68580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2" name="Text 36"/>
          <p:cNvSpPr/>
          <p:nvPr/>
        </p:nvSpPr>
        <p:spPr>
          <a:xfrm>
            <a:off x="8302752" y="257860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Control </a:t>
            </a: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identity, network, encryption keys and data boundary.</a:t>
            </a:r>
            <a:endParaRPr lang="en-US" sz="1050" dirty="0"/>
          </a:p>
        </p:txBody>
      </p:sp>
      <p:sp>
        <p:nvSpPr>
          <p:cNvPr id="43" name="Shape 37"/>
          <p:cNvSpPr/>
          <p:nvPr/>
        </p:nvSpPr>
        <p:spPr>
          <a:xfrm>
            <a:off x="8156448" y="3191256"/>
            <a:ext cx="68580" cy="68580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4" name="Text 38"/>
          <p:cNvSpPr/>
          <p:nvPr/>
        </p:nvSpPr>
        <p:spPr>
          <a:xfrm>
            <a:off x="8302752" y="308152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 </a:t>
            </a: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workloads remain inside customer-approved regions and accounts.</a:t>
            </a:r>
            <a:endParaRPr lang="en-US" sz="1050" dirty="0"/>
          </a:p>
        </p:txBody>
      </p:sp>
      <p:sp>
        <p:nvSpPr>
          <p:cNvPr id="45" name="Shape 39"/>
          <p:cNvSpPr/>
          <p:nvPr/>
        </p:nvSpPr>
        <p:spPr>
          <a:xfrm>
            <a:off x="8156448" y="3694176"/>
            <a:ext cx="68580" cy="68580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6" name="Text 40"/>
          <p:cNvSpPr/>
          <p:nvPr/>
        </p:nvSpPr>
        <p:spPr>
          <a:xfrm>
            <a:off x="8302752" y="358444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</a:t>
            </a: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Connect directly to internal services, events, databases and observability.</a:t>
            </a:r>
            <a:endParaRPr lang="en-US" sz="1050" dirty="0"/>
          </a:p>
        </p:txBody>
      </p:sp>
      <p:sp>
        <p:nvSpPr>
          <p:cNvPr id="47" name="Shape 41"/>
          <p:cNvSpPr/>
          <p:nvPr/>
        </p:nvSpPr>
        <p:spPr>
          <a:xfrm>
            <a:off x="8156448" y="4197096"/>
            <a:ext cx="68580" cy="68580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8" name="Text 42"/>
          <p:cNvSpPr/>
          <p:nvPr/>
        </p:nvSpPr>
        <p:spPr>
          <a:xfrm>
            <a:off x="8302752" y="408736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Assurance </a:t>
            </a: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supplies certified artifacts, upgrades, architecture and support.</a:t>
            </a:r>
            <a:endParaRPr lang="en-US" sz="1050" dirty="0"/>
          </a:p>
        </p:txBody>
      </p:sp>
      <p:sp>
        <p:nvSpPr>
          <p:cNvPr id="49" name="Shape 43"/>
          <p:cNvSpPr/>
          <p:nvPr/>
        </p:nvSpPr>
        <p:spPr>
          <a:xfrm>
            <a:off x="8156448" y="4700016"/>
            <a:ext cx="68580" cy="68580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0" name="Text 44"/>
          <p:cNvSpPr/>
          <p:nvPr/>
        </p:nvSpPr>
        <p:spPr>
          <a:xfrm>
            <a:off x="8302752" y="4590288"/>
            <a:ext cx="2871216" cy="48463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Flexibility </a:t>
            </a: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the capabilities that run locally and those consumed as hosted APIs.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API DEPLOYMENT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fastest route from idea to production capability.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operates the runtime, scaling, upgrades, observability and support. Customers consume secure, metered endpoints and pay for the capabilities and usage they need.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713232" y="2505456"/>
            <a:ext cx="2450592" cy="1947672"/>
          </a:xfrm>
          <a:prstGeom prst="roundRect">
            <a:avLst>
              <a:gd name="adj" fmla="val 845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73352" y="2724912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00636" y="2852196"/>
            <a:ext cx="275783" cy="27578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932688" y="3456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application</a:t>
            </a:r>
            <a:endParaRPr lang="en-US" sz="1420" dirty="0"/>
          </a:p>
        </p:txBody>
      </p:sp>
      <p:sp>
        <p:nvSpPr>
          <p:cNvPr id="18" name="Text 15"/>
          <p:cNvSpPr txBox="1"/>
          <p:nvPr/>
        </p:nvSpPr>
        <p:spPr>
          <a:xfrm>
            <a:off x="932688" y="3877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· mobile · service · agent</a:t>
            </a:r>
            <a:endParaRPr lang="en-US" sz="1040" dirty="0"/>
          </a:p>
        </p:txBody>
      </p:sp>
      <p:sp>
        <p:nvSpPr>
          <p:cNvPr id="19" name="Shape 16"/>
          <p:cNvSpPr/>
          <p:nvPr/>
        </p:nvSpPr>
        <p:spPr>
          <a:xfrm>
            <a:off x="3191256" y="3493008"/>
            <a:ext cx="246888" cy="0"/>
          </a:xfrm>
          <a:prstGeom prst="line">
            <a:avLst/>
          </a:prstGeom>
          <a:noFill/>
          <a:ln w="1778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3502152" y="2505456"/>
            <a:ext cx="2450592" cy="1947672"/>
          </a:xfrm>
          <a:prstGeom prst="roundRect">
            <a:avLst>
              <a:gd name="adj" fmla="val 845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462272" y="2724912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89556" y="2852196"/>
            <a:ext cx="275783" cy="27578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3721608" y="3456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Secure API edge</a:t>
            </a:r>
            <a:endParaRPr lang="en-US" sz="1420" dirty="0"/>
          </a:p>
        </p:txBody>
      </p:sp>
      <p:sp>
        <p:nvSpPr>
          <p:cNvPr id="24" name="Text 20"/>
          <p:cNvSpPr txBox="1"/>
          <p:nvPr/>
        </p:nvSpPr>
        <p:spPr>
          <a:xfrm>
            <a:off x="3721608" y="3877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tenant · rate · policy</a:t>
            </a:r>
            <a:endParaRPr lang="en-US" sz="1040" dirty="0"/>
          </a:p>
        </p:txBody>
      </p:sp>
      <p:sp>
        <p:nvSpPr>
          <p:cNvPr id="25" name="Shape 21"/>
          <p:cNvSpPr/>
          <p:nvPr/>
        </p:nvSpPr>
        <p:spPr>
          <a:xfrm>
            <a:off x="5980176" y="3493008"/>
            <a:ext cx="246888" cy="0"/>
          </a:xfrm>
          <a:prstGeom prst="line">
            <a:avLst/>
          </a:prstGeom>
          <a:noFill/>
          <a:ln w="1778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6291072" y="2505456"/>
            <a:ext cx="2450592" cy="1947672"/>
          </a:xfrm>
          <a:prstGeom prst="roundRect">
            <a:avLst>
              <a:gd name="adj" fmla="val 845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7251192" y="2724912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78476" y="2852196"/>
            <a:ext cx="275783" cy="27578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6510528" y="3456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runtime</a:t>
            </a:r>
            <a:endParaRPr lang="en-US" sz="1420" dirty="0"/>
          </a:p>
        </p:txBody>
      </p:sp>
      <p:sp>
        <p:nvSpPr>
          <p:cNvPr id="30" name="Text 25"/>
          <p:cNvSpPr txBox="1"/>
          <p:nvPr/>
        </p:nvSpPr>
        <p:spPr>
          <a:xfrm>
            <a:off x="6510528" y="3877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Mixed and matched SDKs as APIs</a:t>
            </a:r>
            <a:endParaRPr lang="en-US" sz="1040" dirty="0"/>
          </a:p>
        </p:txBody>
      </p:sp>
      <p:sp>
        <p:nvSpPr>
          <p:cNvPr id="31" name="Shape 26"/>
          <p:cNvSpPr/>
          <p:nvPr/>
        </p:nvSpPr>
        <p:spPr>
          <a:xfrm>
            <a:off x="8769096" y="3493008"/>
            <a:ext cx="246888" cy="0"/>
          </a:xfrm>
          <a:prstGeom prst="line">
            <a:avLst/>
          </a:prstGeom>
          <a:noFill/>
          <a:ln w="1778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9079992" y="2505456"/>
            <a:ext cx="2450592" cy="1947672"/>
          </a:xfrm>
          <a:prstGeom prst="roundRect">
            <a:avLst>
              <a:gd name="adj" fmla="val 845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10040112" y="2724912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67396" y="2852196"/>
            <a:ext cx="275783" cy="275783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9299448" y="34564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operations</a:t>
            </a:r>
            <a:endParaRPr lang="en-US" sz="1420" dirty="0"/>
          </a:p>
        </p:txBody>
      </p:sp>
      <p:sp>
        <p:nvSpPr>
          <p:cNvPr id="36" name="Text 30"/>
          <p:cNvSpPr txBox="1"/>
          <p:nvPr/>
        </p:nvSpPr>
        <p:spPr>
          <a:xfrm>
            <a:off x="9299448" y="3877056"/>
            <a:ext cx="2011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· releases · telemetry · P1</a:t>
            </a:r>
            <a:endParaRPr lang="en-US" sz="1040" dirty="0"/>
          </a:p>
        </p:txBody>
      </p:sp>
      <p:sp>
        <p:nvSpPr>
          <p:cNvPr id="37" name="Shape 31"/>
          <p:cNvSpPr/>
          <p:nvPr/>
        </p:nvSpPr>
        <p:spPr>
          <a:xfrm>
            <a:off x="1078992" y="4937760"/>
            <a:ext cx="10040112" cy="841248"/>
          </a:xfrm>
          <a:prstGeom prst="roundRect">
            <a:avLst>
              <a:gd name="adj" fmla="val 19565"/>
            </a:avLst>
          </a:prstGeom>
          <a:solidFill>
            <a:srgbClr val="11253A"/>
          </a:solidFill>
          <a:ln w="12700">
            <a:solidFill>
              <a:srgbClr val="4D8CFF">
                <a:alpha val="65000"/>
              </a:srgbClr>
            </a:solidFill>
            <a:prstDash val="solid"/>
          </a:ln>
        </p:spPr>
      </p:sp>
      <p:sp>
        <p:nvSpPr>
          <p:cNvPr id="38" name="Shape 32"/>
          <p:cNvSpPr/>
          <p:nvPr/>
        </p:nvSpPr>
        <p:spPr>
          <a:xfrm>
            <a:off x="1389888" y="5202936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39" name="Text 33"/>
          <p:cNvSpPr txBox="1"/>
          <p:nvPr/>
        </p:nvSpPr>
        <p:spPr>
          <a:xfrm>
            <a:off x="1463040" y="5221224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FEE</a:t>
            </a:r>
            <a:endParaRPr lang="en-US" sz="850" dirty="0"/>
          </a:p>
        </p:txBody>
      </p:sp>
      <p:sp>
        <p:nvSpPr>
          <p:cNvPr id="40" name="Shape 34"/>
          <p:cNvSpPr/>
          <p:nvPr/>
        </p:nvSpPr>
        <p:spPr>
          <a:xfrm>
            <a:off x="2944368" y="5202936"/>
            <a:ext cx="1298448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3017520" y="5221224"/>
            <a:ext cx="1152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USAGE METER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4498848" y="5202936"/>
            <a:ext cx="2670048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4572000" y="5221224"/>
            <a:ext cx="25237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DEPENDENCY PASS-THROUGH</a:t>
            </a:r>
            <a:endParaRPr lang="en-US" sz="850" dirty="0"/>
          </a:p>
        </p:txBody>
      </p:sp>
      <p:sp>
        <p:nvSpPr>
          <p:cNvPr id="44" name="Shape 38"/>
          <p:cNvSpPr/>
          <p:nvPr/>
        </p:nvSpPr>
        <p:spPr>
          <a:xfrm>
            <a:off x="7424928" y="5202936"/>
            <a:ext cx="1737360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45" name="Text 39"/>
          <p:cNvSpPr txBox="1"/>
          <p:nvPr/>
        </p:nvSpPr>
        <p:spPr>
          <a:xfrm>
            <a:off x="7498080" y="5221224"/>
            <a:ext cx="159105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SLA &amp; SUPPORT TIER</a:t>
            </a:r>
            <a:endParaRPr lang="en-US" sz="850" dirty="0"/>
          </a:p>
        </p:txBody>
      </p:sp>
      <p:sp>
        <p:nvSpPr>
          <p:cNvPr id="46" name="Text 40"/>
          <p:cNvSpPr txBox="1"/>
          <p:nvPr/>
        </p:nvSpPr>
        <p:spPr>
          <a:xfrm>
            <a:off x="2423160" y="5961888"/>
            <a:ext cx="73609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Transparent metering by capability, request, workflow or underlying provider dependency.</a:t>
            </a:r>
            <a:endParaRPr lang="en-US" sz="110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HYBRID, SOVEREIGN AND ON-PREM PROFILES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Put each workload where it best satisfies security, latency, sovereignty and economics.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same capability contracts and certification language travel across deployment profiles, reducing architectural fragmentation.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94360" y="2340864"/>
            <a:ext cx="2542032" cy="2871216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572768" y="263347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08831" y="2769535"/>
            <a:ext cx="294803" cy="29480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795528" y="346557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Hybrid</a:t>
            </a:r>
            <a:endParaRPr lang="en-US" sz="1600" dirty="0"/>
          </a:p>
        </p:txBody>
      </p:sp>
      <p:sp>
        <p:nvSpPr>
          <p:cNvPr id="18" name="Text 15"/>
          <p:cNvSpPr txBox="1"/>
          <p:nvPr/>
        </p:nvSpPr>
        <p:spPr>
          <a:xfrm>
            <a:off x="841248" y="394106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Sensitive capabilities in your cloud; selected services hosted by ProjexCloud.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1161288" y="4837176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34440" y="485546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WORKLOAD-SPLIT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3410712" y="2340864"/>
            <a:ext cx="2542032" cy="2871216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4389120" y="263347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25183" y="2769535"/>
            <a:ext cx="294803" cy="29480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3611880" y="346557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Sovereign region</a:t>
            </a:r>
            <a:endParaRPr lang="en-US" sz="1600" dirty="0"/>
          </a:p>
        </p:txBody>
      </p:sp>
      <p:sp>
        <p:nvSpPr>
          <p:cNvPr id="25" name="Text 21"/>
          <p:cNvSpPr txBox="1"/>
          <p:nvPr/>
        </p:nvSpPr>
        <p:spPr>
          <a:xfrm>
            <a:off x="3657600" y="394106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Approved region, operator, KMS and attestation model for jurisdictional control.</a:t>
            </a:r>
            <a:endParaRPr lang="en-US" sz="1100" dirty="0"/>
          </a:p>
        </p:txBody>
      </p:sp>
      <p:sp>
        <p:nvSpPr>
          <p:cNvPr id="26" name="Shape 22"/>
          <p:cNvSpPr/>
          <p:nvPr/>
        </p:nvSpPr>
        <p:spPr>
          <a:xfrm>
            <a:off x="3977640" y="4837176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4050792" y="485546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REGION-CONTROLLED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6227064" y="2340864"/>
            <a:ext cx="2542032" cy="2871216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7205472" y="263347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341535" y="2769535"/>
            <a:ext cx="294803" cy="29480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6428232" y="346557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On-prem</a:t>
            </a:r>
            <a:endParaRPr lang="en-US" sz="1600" dirty="0"/>
          </a:p>
        </p:txBody>
      </p:sp>
      <p:sp>
        <p:nvSpPr>
          <p:cNvPr id="32" name="Text 27"/>
          <p:cNvSpPr txBox="1"/>
          <p:nvPr/>
        </p:nvSpPr>
        <p:spPr>
          <a:xfrm>
            <a:off x="6473952" y="394106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Signed bundles, local runtime, customer infrastructure and governed upgrade channel.</a:t>
            </a:r>
            <a:endParaRPr lang="en-US" sz="1100" dirty="0"/>
          </a:p>
        </p:txBody>
      </p:sp>
      <p:sp>
        <p:nvSpPr>
          <p:cNvPr id="33" name="Shape 28"/>
          <p:cNvSpPr/>
          <p:nvPr/>
        </p:nvSpPr>
        <p:spPr>
          <a:xfrm>
            <a:off x="6793992" y="4837176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6867144" y="485546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CUSTOMER-RUN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9043416" y="2340864"/>
            <a:ext cx="2542032" cy="2871216"/>
          </a:xfrm>
          <a:prstGeom prst="roundRect">
            <a:avLst>
              <a:gd name="adj" fmla="val 647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10021824" y="2633472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157887" y="2769535"/>
            <a:ext cx="294803" cy="294803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9244584" y="3465576"/>
            <a:ext cx="213969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Air-gapped</a:t>
            </a:r>
            <a:endParaRPr lang="en-US" sz="1600" dirty="0"/>
          </a:p>
        </p:txBody>
      </p:sp>
      <p:sp>
        <p:nvSpPr>
          <p:cNvPr id="39" name="Text 33"/>
          <p:cNvSpPr txBox="1"/>
          <p:nvPr/>
        </p:nvSpPr>
        <p:spPr>
          <a:xfrm>
            <a:off x="9290304" y="3941064"/>
            <a:ext cx="2048256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 artifact delivery, local operations and controlled evidence exchange.</a:t>
            </a:r>
            <a:endParaRPr lang="en-US" sz="1100" dirty="0"/>
          </a:p>
        </p:txBody>
      </p:sp>
      <p:sp>
        <p:nvSpPr>
          <p:cNvPr id="40" name="Shape 34"/>
          <p:cNvSpPr/>
          <p:nvPr/>
        </p:nvSpPr>
        <p:spPr>
          <a:xfrm>
            <a:off x="9610344" y="4837176"/>
            <a:ext cx="1408176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9683496" y="4855464"/>
            <a:ext cx="126187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2029968" y="5522976"/>
            <a:ext cx="8101584" cy="493776"/>
          </a:xfrm>
          <a:prstGeom prst="roundRect">
            <a:avLst>
              <a:gd name="adj" fmla="val 29630"/>
            </a:avLst>
          </a:prstGeom>
          <a:solidFill>
            <a:srgbClr val="11253A"/>
          </a:solidFill>
          <a:ln w="12700">
            <a:solidFill>
              <a:srgbClr val="B29CFF">
                <a:alpha val="65000"/>
              </a:srgb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2304288" y="5650992"/>
            <a:ext cx="7543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capability contract · one certification grammar · multiple operating profiles</a:t>
            </a:r>
            <a:endParaRPr lang="en-US" sz="132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BEGINS BEFORE PRODUCTION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One continuous customer operating model from discovery through renewal.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ProjexCare combines account leadership, architecture, QA, development, UAT, product, cloud, security and incident response—creating uninterrupted ownership across every stage.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12064" y="2395728"/>
            <a:ext cx="1700784" cy="2578608"/>
          </a:xfrm>
          <a:prstGeom prst="roundRect">
            <a:avLst>
              <a:gd name="adj" fmla="val 86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97280" y="2651760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20175" y="2774655"/>
            <a:ext cx="266273" cy="26627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58368" y="34381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kern="0" spc="8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</a:t>
            </a:r>
            <a:endParaRPr lang="en-US" sz="980" dirty="0"/>
          </a:p>
        </p:txBody>
      </p:sp>
      <p:sp>
        <p:nvSpPr>
          <p:cNvPr id="18" name="Text 15"/>
          <p:cNvSpPr txBox="1"/>
          <p:nvPr/>
        </p:nvSpPr>
        <p:spPr>
          <a:xfrm>
            <a:off x="676656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blueprint · architecture · BOM</a:t>
            </a:r>
            <a:endParaRPr lang="en-US" sz="1020" dirty="0"/>
          </a:p>
        </p:txBody>
      </p:sp>
      <p:sp>
        <p:nvSpPr>
          <p:cNvPr id="19" name="Shape 16"/>
          <p:cNvSpPr/>
          <p:nvPr/>
        </p:nvSpPr>
        <p:spPr>
          <a:xfrm>
            <a:off x="2231136" y="3657600"/>
            <a:ext cx="146304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441448" y="2395728"/>
            <a:ext cx="1700784" cy="2578608"/>
          </a:xfrm>
          <a:prstGeom prst="roundRect">
            <a:avLst>
              <a:gd name="adj" fmla="val 86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026664" y="2651760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9559" y="2774655"/>
            <a:ext cx="266273" cy="26627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587752" y="34381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kern="0" spc="8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980" dirty="0"/>
          </a:p>
        </p:txBody>
      </p:sp>
      <p:sp>
        <p:nvSpPr>
          <p:cNvPr id="24" name="Text 20"/>
          <p:cNvSpPr txBox="1"/>
          <p:nvPr/>
        </p:nvSpPr>
        <p:spPr>
          <a:xfrm>
            <a:off x="2606040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 engineering · test data · success criteria</a:t>
            </a:r>
            <a:endParaRPr lang="en-US" sz="1020" dirty="0"/>
          </a:p>
        </p:txBody>
      </p:sp>
      <p:sp>
        <p:nvSpPr>
          <p:cNvPr id="25" name="Shape 21"/>
          <p:cNvSpPr/>
          <p:nvPr/>
        </p:nvSpPr>
        <p:spPr>
          <a:xfrm>
            <a:off x="4160520" y="3657600"/>
            <a:ext cx="146304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4370832" y="2395728"/>
            <a:ext cx="1700784" cy="2578608"/>
          </a:xfrm>
          <a:prstGeom prst="roundRect">
            <a:avLst>
              <a:gd name="adj" fmla="val 86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956048" y="2651760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78943" y="2774655"/>
            <a:ext cx="266273" cy="26627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517136" y="34381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kern="0" spc="8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</a:t>
            </a:r>
            <a:endParaRPr lang="en-US" sz="980" dirty="0"/>
          </a:p>
        </p:txBody>
      </p:sp>
      <p:sp>
        <p:nvSpPr>
          <p:cNvPr id="30" name="Text 25"/>
          <p:cNvSpPr txBox="1"/>
          <p:nvPr/>
        </p:nvSpPr>
        <p:spPr>
          <a:xfrm>
            <a:off x="4535424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 support · connectors · cloud landing zone</a:t>
            </a:r>
            <a:endParaRPr lang="en-US" sz="1020" dirty="0"/>
          </a:p>
        </p:txBody>
      </p:sp>
      <p:sp>
        <p:nvSpPr>
          <p:cNvPr id="31" name="Shape 26"/>
          <p:cNvSpPr/>
          <p:nvPr/>
        </p:nvSpPr>
        <p:spPr>
          <a:xfrm>
            <a:off x="6089904" y="3657600"/>
            <a:ext cx="146304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6300216" y="2395728"/>
            <a:ext cx="1700784" cy="2578608"/>
          </a:xfrm>
          <a:prstGeom prst="roundRect">
            <a:avLst>
              <a:gd name="adj" fmla="val 86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885432" y="2651760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08327" y="2774655"/>
            <a:ext cx="266273" cy="266273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446520" y="34381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kern="0" spc="8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</a:t>
            </a:r>
            <a:endParaRPr lang="en-US" sz="980" dirty="0"/>
          </a:p>
        </p:txBody>
      </p:sp>
      <p:sp>
        <p:nvSpPr>
          <p:cNvPr id="36" name="Text 30"/>
          <p:cNvSpPr txBox="1"/>
          <p:nvPr/>
        </p:nvSpPr>
        <p:spPr>
          <a:xfrm>
            <a:off x="6464808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· security · performance · UAT support</a:t>
            </a:r>
            <a:endParaRPr lang="en-US" sz="1020" dirty="0"/>
          </a:p>
        </p:txBody>
      </p:sp>
      <p:sp>
        <p:nvSpPr>
          <p:cNvPr id="37" name="Shape 31"/>
          <p:cNvSpPr/>
          <p:nvPr/>
        </p:nvSpPr>
        <p:spPr>
          <a:xfrm>
            <a:off x="8019288" y="3657600"/>
            <a:ext cx="146304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8229600" y="2395728"/>
            <a:ext cx="1700784" cy="2578608"/>
          </a:xfrm>
          <a:prstGeom prst="roundRect">
            <a:avLst>
              <a:gd name="adj" fmla="val 86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8814816" y="2651760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37711" y="2774655"/>
            <a:ext cx="266273" cy="266273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375904" y="34381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kern="0" spc="8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</a:t>
            </a:r>
            <a:endParaRPr lang="en-US" sz="980" dirty="0"/>
          </a:p>
        </p:txBody>
      </p:sp>
      <p:sp>
        <p:nvSpPr>
          <p:cNvPr id="42" name="Text 35"/>
          <p:cNvSpPr txBox="1"/>
          <p:nvPr/>
        </p:nvSpPr>
        <p:spPr>
          <a:xfrm>
            <a:off x="8394192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Cutover · release command · hypercare</a:t>
            </a:r>
            <a:endParaRPr lang="en-US" sz="1020" dirty="0"/>
          </a:p>
        </p:txBody>
      </p:sp>
      <p:sp>
        <p:nvSpPr>
          <p:cNvPr id="43" name="Shape 36"/>
          <p:cNvSpPr/>
          <p:nvPr/>
        </p:nvSpPr>
        <p:spPr>
          <a:xfrm>
            <a:off x="9948672" y="3657600"/>
            <a:ext cx="146304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10158984" y="2395728"/>
            <a:ext cx="1700784" cy="2578608"/>
          </a:xfrm>
          <a:prstGeom prst="roundRect">
            <a:avLst>
              <a:gd name="adj" fmla="val 860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10744200" y="2651760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867095" y="2774655"/>
            <a:ext cx="266273" cy="266273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0305288" y="3438144"/>
            <a:ext cx="1408176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80" b="1" kern="0" spc="80" dirty="0">
                <a:solidFill>
                  <a:srgbClr val="FF9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</a:t>
            </a:r>
            <a:endParaRPr lang="en-US" sz="980" dirty="0"/>
          </a:p>
        </p:txBody>
      </p:sp>
      <p:sp>
        <p:nvSpPr>
          <p:cNvPr id="48" name="Text 40"/>
          <p:cNvSpPr txBox="1"/>
          <p:nvPr/>
        </p:nvSpPr>
        <p:spPr>
          <a:xfrm>
            <a:off x="10323576" y="3840480"/>
            <a:ext cx="13716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response · upgrades · health reviews</a:t>
            </a:r>
            <a:endParaRPr lang="en-US" sz="1020" dirty="0"/>
          </a:p>
        </p:txBody>
      </p:sp>
      <p:sp>
        <p:nvSpPr>
          <p:cNvPr id="49" name="Shape 41"/>
          <p:cNvSpPr/>
          <p:nvPr/>
        </p:nvSpPr>
        <p:spPr>
          <a:xfrm>
            <a:off x="822960" y="5266944"/>
            <a:ext cx="10469880" cy="603504"/>
          </a:xfrm>
          <a:prstGeom prst="roundRect">
            <a:avLst>
              <a:gd name="adj" fmla="val 25758"/>
            </a:avLst>
          </a:prstGeom>
          <a:solidFill>
            <a:srgbClr val="11253A"/>
          </a:solidFill>
          <a:ln w="12700">
            <a:solidFill>
              <a:srgbClr val="F6C85F">
                <a:alpha val="6500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1143000" y="5449824"/>
            <a:ext cx="98298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named Customer Success Manager and Solution Architect preserve context across the complete lifecycle.</a:t>
            </a:r>
            <a:endParaRPr lang="en-US" sz="13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PROJEXCARE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TIERS MATCHED TO BUSINESS CRITICALITY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Clear response targets. Clear ownership. Clear escalation.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Exact service levels are contractually defined in the order form and aligned to the certified deployment profile.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6656" y="2286000"/>
            <a:ext cx="3383280" cy="3639312"/>
          </a:xfrm>
          <a:prstGeom prst="roundRect">
            <a:avLst>
              <a:gd name="adj" fmla="val 5405"/>
            </a:avLst>
          </a:prstGeom>
          <a:solidFill>
            <a:srgbClr val="0D1A29"/>
          </a:solidFill>
          <a:ln w="12700">
            <a:solidFill>
              <a:srgbClr val="45E2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481328" y="2523744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07111D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1554480" y="254203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BUSINESS-HOURS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932688" y="307238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</a:t>
            </a:r>
            <a:endParaRPr lang="en-US" sz="1800" dirty="0"/>
          </a:p>
        </p:txBody>
      </p:sp>
      <p:pic>
        <p:nvPicPr>
          <p:cNvPr id="18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3675888"/>
            <a:ext cx="146304" cy="146304"/>
          </a:xfrm>
          <a:prstGeom prst="rect">
            <a:avLst/>
          </a:prstGeom>
        </p:spPr>
      </p:pic>
      <p:sp>
        <p:nvSpPr>
          <p:cNvPr id="19" name="Text 16"/>
          <p:cNvSpPr txBox="1"/>
          <p:nvPr/>
        </p:nvSpPr>
        <p:spPr>
          <a:xfrm>
            <a:off x="1243584" y="36210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8×5 support channel</a:t>
            </a:r>
            <a:endParaRPr lang="en-US" sz="1050" dirty="0"/>
          </a:p>
        </p:txBody>
      </p:sp>
      <p:pic>
        <p:nvPicPr>
          <p:cNvPr id="20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4050792"/>
            <a:ext cx="146304" cy="146304"/>
          </a:xfrm>
          <a:prstGeom prst="rect">
            <a:avLst/>
          </a:prstGeom>
        </p:spPr>
      </p:pic>
      <p:sp>
        <p:nvSpPr>
          <p:cNvPr id="21" name="Text 17"/>
          <p:cNvSpPr txBox="1"/>
          <p:nvPr/>
        </p:nvSpPr>
        <p:spPr>
          <a:xfrm>
            <a:off x="1243584" y="39959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target: 4 hours</a:t>
            </a:r>
            <a:endParaRPr lang="en-US" sz="1050" dirty="0"/>
          </a:p>
        </p:txBody>
      </p:sp>
      <p:pic>
        <p:nvPicPr>
          <p:cNvPr id="22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4425696"/>
            <a:ext cx="146304" cy="146304"/>
          </a:xfrm>
          <a:prstGeom prst="rect">
            <a:avLst/>
          </a:prstGeom>
        </p:spPr>
      </p:pic>
      <p:sp>
        <p:nvSpPr>
          <p:cNvPr id="23" name="Text 18"/>
          <p:cNvSpPr txBox="1"/>
          <p:nvPr/>
        </p:nvSpPr>
        <p:spPr>
          <a:xfrm>
            <a:off x="1243584" y="4370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and upgrade guidance</a:t>
            </a:r>
            <a:endParaRPr lang="en-US" sz="1050" dirty="0"/>
          </a:p>
        </p:txBody>
      </p:sp>
      <p:pic>
        <p:nvPicPr>
          <p:cNvPr id="2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4800600"/>
            <a:ext cx="146304" cy="146304"/>
          </a:xfrm>
          <a:prstGeom prst="rect">
            <a:avLst/>
          </a:prstGeom>
        </p:spPr>
      </p:pic>
      <p:sp>
        <p:nvSpPr>
          <p:cNvPr id="25" name="Text 19"/>
          <p:cNvSpPr txBox="1"/>
          <p:nvPr/>
        </p:nvSpPr>
        <p:spPr>
          <a:xfrm>
            <a:off x="1243584" y="474573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knowledge base</a:t>
            </a:r>
            <a:endParaRPr lang="en-US" sz="1050" dirty="0"/>
          </a:p>
        </p:txBody>
      </p:sp>
      <p:pic>
        <p:nvPicPr>
          <p:cNvPr id="2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005840" y="5175504"/>
            <a:ext cx="146304" cy="146304"/>
          </a:xfrm>
          <a:prstGeom prst="rect">
            <a:avLst/>
          </a:prstGeom>
        </p:spPr>
      </p:pic>
      <p:sp>
        <p:nvSpPr>
          <p:cNvPr id="27" name="Text 20"/>
          <p:cNvSpPr txBox="1"/>
          <p:nvPr/>
        </p:nvSpPr>
        <p:spPr>
          <a:xfrm>
            <a:off x="1243584" y="51206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service summary</a:t>
            </a:r>
            <a:endParaRPr lang="en-US" sz="1050" dirty="0"/>
          </a:p>
        </p:txBody>
      </p:sp>
      <p:sp>
        <p:nvSpPr>
          <p:cNvPr id="28" name="Shape 21"/>
          <p:cNvSpPr/>
          <p:nvPr/>
        </p:nvSpPr>
        <p:spPr>
          <a:xfrm>
            <a:off x="4443984" y="2286000"/>
            <a:ext cx="3383280" cy="3639312"/>
          </a:xfrm>
          <a:prstGeom prst="roundRect">
            <a:avLst>
              <a:gd name="adj" fmla="val 5405"/>
            </a:avLst>
          </a:prstGeom>
          <a:solidFill>
            <a:srgbClr val="0D1A29"/>
          </a:solidFill>
          <a:ln w="12700">
            <a:solidFill>
              <a:srgbClr val="4D8C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9" name="Shape 22"/>
          <p:cNvSpPr/>
          <p:nvPr/>
        </p:nvSpPr>
        <p:spPr>
          <a:xfrm>
            <a:off x="5248656" y="2523744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07111D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30" name="Text 23"/>
          <p:cNvSpPr txBox="1"/>
          <p:nvPr/>
        </p:nvSpPr>
        <p:spPr>
          <a:xfrm>
            <a:off x="5321808" y="254203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24×7 P1</a:t>
            </a:r>
            <a:endParaRPr lang="en-US" sz="850" dirty="0"/>
          </a:p>
        </p:txBody>
      </p:sp>
      <p:sp>
        <p:nvSpPr>
          <p:cNvPr id="31" name="Text 24"/>
          <p:cNvSpPr txBox="1"/>
          <p:nvPr/>
        </p:nvSpPr>
        <p:spPr>
          <a:xfrm>
            <a:off x="4700016" y="307238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</a:t>
            </a:r>
            <a:endParaRPr lang="en-US" sz="1800" dirty="0"/>
          </a:p>
        </p:txBody>
      </p:sp>
      <p:pic>
        <p:nvPicPr>
          <p:cNvPr id="3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3675888"/>
            <a:ext cx="146304" cy="146304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5010912" y="36210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target: 1 hour</a:t>
            </a:r>
            <a:endParaRPr lang="en-US" sz="1050" dirty="0"/>
          </a:p>
        </p:txBody>
      </p:sp>
      <p:pic>
        <p:nvPicPr>
          <p:cNvPr id="34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4050792"/>
            <a:ext cx="146304" cy="146304"/>
          </a:xfrm>
          <a:prstGeom prst="rect">
            <a:avLst/>
          </a:prstGeom>
        </p:spPr>
      </p:pic>
      <p:sp>
        <p:nvSpPr>
          <p:cNvPr id="35" name="Text 26"/>
          <p:cNvSpPr txBox="1"/>
          <p:nvPr/>
        </p:nvSpPr>
        <p:spPr>
          <a:xfrm>
            <a:off x="5010912" y="39959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Customer Success Manager</a:t>
            </a:r>
            <a:endParaRPr lang="en-US" sz="1050" dirty="0"/>
          </a:p>
        </p:txBody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4425696"/>
            <a:ext cx="146304" cy="146304"/>
          </a:xfrm>
          <a:prstGeom prst="rect">
            <a:avLst/>
          </a:prstGeom>
        </p:spPr>
      </p:pic>
      <p:sp>
        <p:nvSpPr>
          <p:cNvPr id="37" name="Text 27"/>
          <p:cNvSpPr txBox="1"/>
          <p:nvPr/>
        </p:nvSpPr>
        <p:spPr>
          <a:xfrm>
            <a:off x="5010912" y="4370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architecture reviews</a:t>
            </a:r>
            <a:endParaRPr lang="en-US" sz="1050" dirty="0"/>
          </a:p>
        </p:txBody>
      </p:sp>
      <p:pic>
        <p:nvPicPr>
          <p:cNvPr id="38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4800600"/>
            <a:ext cx="146304" cy="146304"/>
          </a:xfrm>
          <a:prstGeom prst="rect">
            <a:avLst/>
          </a:prstGeom>
        </p:spPr>
      </p:pic>
      <p:sp>
        <p:nvSpPr>
          <p:cNvPr id="39" name="Text 28"/>
          <p:cNvSpPr txBox="1"/>
          <p:nvPr/>
        </p:nvSpPr>
        <p:spPr>
          <a:xfrm>
            <a:off x="5010912" y="474573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Monthly service health review</a:t>
            </a:r>
            <a:endParaRPr lang="en-US" sz="1050" dirty="0"/>
          </a:p>
        </p:txBody>
      </p:sp>
      <p:pic>
        <p:nvPicPr>
          <p:cNvPr id="40" name="Image 9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773168" y="5175504"/>
            <a:ext cx="146304" cy="146304"/>
          </a:xfrm>
          <a:prstGeom prst="rect">
            <a:avLst/>
          </a:prstGeom>
        </p:spPr>
      </p:pic>
      <p:sp>
        <p:nvSpPr>
          <p:cNvPr id="41" name="Text 29"/>
          <p:cNvSpPr txBox="1"/>
          <p:nvPr/>
        </p:nvSpPr>
        <p:spPr>
          <a:xfrm>
            <a:off x="5010912" y="51206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Coordinated release support</a:t>
            </a:r>
            <a:endParaRPr lang="en-US" sz="1050" dirty="0"/>
          </a:p>
        </p:txBody>
      </p:sp>
      <p:sp>
        <p:nvSpPr>
          <p:cNvPr id="42" name="Shape 30"/>
          <p:cNvSpPr/>
          <p:nvPr/>
        </p:nvSpPr>
        <p:spPr>
          <a:xfrm>
            <a:off x="8211312" y="2286000"/>
            <a:ext cx="3383280" cy="3639312"/>
          </a:xfrm>
          <a:prstGeom prst="roundRect">
            <a:avLst>
              <a:gd name="adj" fmla="val 5405"/>
            </a:avLst>
          </a:prstGeom>
          <a:solidFill>
            <a:srgbClr val="11253A"/>
          </a:solidFill>
          <a:ln w="20320">
            <a:solidFill>
              <a:srgbClr val="F6C85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3" name="Shape 31"/>
          <p:cNvSpPr/>
          <p:nvPr/>
        </p:nvSpPr>
        <p:spPr>
          <a:xfrm>
            <a:off x="9015984" y="2523744"/>
            <a:ext cx="1773936" cy="292608"/>
          </a:xfrm>
          <a:prstGeom prst="roundRect">
            <a:avLst>
              <a:gd name="adj" fmla="val 50000"/>
            </a:avLst>
          </a:prstGeom>
          <a:solidFill>
            <a:srgbClr val="07111D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44" name="Text 32"/>
          <p:cNvSpPr txBox="1"/>
          <p:nvPr/>
        </p:nvSpPr>
        <p:spPr>
          <a:xfrm>
            <a:off x="9089136" y="2542032"/>
            <a:ext cx="162763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15-MINUTE P1</a:t>
            </a:r>
            <a:endParaRPr lang="en-US" sz="850" dirty="0"/>
          </a:p>
        </p:txBody>
      </p:sp>
      <p:sp>
        <p:nvSpPr>
          <p:cNvPr id="45" name="Text 33"/>
          <p:cNvSpPr txBox="1"/>
          <p:nvPr/>
        </p:nvSpPr>
        <p:spPr>
          <a:xfrm>
            <a:off x="8467344" y="3072384"/>
            <a:ext cx="28712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 CRITICAL</a:t>
            </a:r>
            <a:endParaRPr lang="en-US" sz="1800" dirty="0"/>
          </a:p>
        </p:txBody>
      </p:sp>
      <p:pic>
        <p:nvPicPr>
          <p:cNvPr id="46" name="Image 1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0496" y="3675888"/>
            <a:ext cx="146304" cy="146304"/>
          </a:xfrm>
          <a:prstGeom prst="rect">
            <a:avLst/>
          </a:prstGeom>
        </p:spPr>
      </p:pic>
      <p:sp>
        <p:nvSpPr>
          <p:cNvPr id="47" name="Text 34"/>
          <p:cNvSpPr txBox="1"/>
          <p:nvPr/>
        </p:nvSpPr>
        <p:spPr>
          <a:xfrm>
            <a:off x="8778240" y="3621024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24×7 P1 incident command</a:t>
            </a:r>
            <a:endParaRPr lang="en-US" sz="1050" dirty="0"/>
          </a:p>
        </p:txBody>
      </p:sp>
      <p:pic>
        <p:nvPicPr>
          <p:cNvPr id="48" name="Image 1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0496" y="4050792"/>
            <a:ext cx="146304" cy="146304"/>
          </a:xfrm>
          <a:prstGeom prst="rect">
            <a:avLst/>
          </a:prstGeom>
        </p:spPr>
      </p:pic>
      <p:sp>
        <p:nvSpPr>
          <p:cNvPr id="49" name="Text 35"/>
          <p:cNvSpPr txBox="1"/>
          <p:nvPr/>
        </p:nvSpPr>
        <p:spPr>
          <a:xfrm>
            <a:off x="8778240" y="3995928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Technical Account Lead</a:t>
            </a:r>
            <a:endParaRPr lang="en-US" sz="1050" dirty="0"/>
          </a:p>
        </p:txBody>
      </p:sp>
      <p:pic>
        <p:nvPicPr>
          <p:cNvPr id="50" name="Image 1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0496" y="4425696"/>
            <a:ext cx="146304" cy="146304"/>
          </a:xfrm>
          <a:prstGeom prst="rect">
            <a:avLst/>
          </a:prstGeom>
        </p:spPr>
      </p:pic>
      <p:sp>
        <p:nvSpPr>
          <p:cNvPr id="51" name="Text 36"/>
          <p:cNvSpPr txBox="1"/>
          <p:nvPr/>
        </p:nvSpPr>
        <p:spPr>
          <a:xfrm>
            <a:off x="8778240" y="4370832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Resident Architect option</a:t>
            </a:r>
            <a:endParaRPr lang="en-US" sz="1050" dirty="0"/>
          </a:p>
        </p:txBody>
      </p:sp>
      <p:pic>
        <p:nvPicPr>
          <p:cNvPr id="52" name="Image 1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0496" y="4800600"/>
            <a:ext cx="146304" cy="146304"/>
          </a:xfrm>
          <a:prstGeom prst="rect">
            <a:avLst/>
          </a:prstGeom>
        </p:spPr>
      </p:pic>
      <p:sp>
        <p:nvSpPr>
          <p:cNvPr id="53" name="Text 37"/>
          <p:cNvSpPr txBox="1"/>
          <p:nvPr/>
        </p:nvSpPr>
        <p:spPr>
          <a:xfrm>
            <a:off x="8778240" y="4745736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Proactive monitoring &amp; launch command</a:t>
            </a:r>
            <a:endParaRPr lang="en-US" sz="1050" dirty="0"/>
          </a:p>
        </p:txBody>
      </p:sp>
      <p:pic>
        <p:nvPicPr>
          <p:cNvPr id="54" name="Image 1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540496" y="5175504"/>
            <a:ext cx="146304" cy="146304"/>
          </a:xfrm>
          <a:prstGeom prst="rect">
            <a:avLst/>
          </a:prstGeom>
        </p:spPr>
      </p:pic>
      <p:sp>
        <p:nvSpPr>
          <p:cNvPr id="55" name="Text 38"/>
          <p:cNvSpPr txBox="1"/>
          <p:nvPr/>
        </p:nvSpPr>
        <p:spPr>
          <a:xfrm>
            <a:off x="8778240" y="5120640"/>
            <a:ext cx="239572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DR / game-day and executive review</a:t>
            </a:r>
            <a:endParaRPr lang="en-US" sz="1050" dirty="0"/>
          </a:p>
        </p:txBody>
      </p:sp>
      <p:sp>
        <p:nvSpPr>
          <p:cNvPr id="56" name="Text 39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Benchmark context: Snowflake Premier 1-hour Sev1; AWS and Google premium enterprise support advertise up to 15-minute critical response.</a:t>
            </a:r>
            <a:endParaRPr lang="en-US" sz="68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INCIDENT RESPONSE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P1 RESPONSE DESIGNED FOR DECISIVE, TRANSPARENT RECOVERY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Incident command is a practiced, disciplined operating capability.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Mission-critical customers receive one bridge, one incident commander, one timeline and a structured path from containment through prevention.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12064" y="2377440"/>
            <a:ext cx="1682496" cy="2514600"/>
          </a:xfrm>
          <a:prstGeom prst="roundRect">
            <a:avLst>
              <a:gd name="adj" fmla="val 869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76656" y="25328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F9A66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76656" y="25420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9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33856" y="2523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Declare</a:t>
            </a:r>
            <a:endParaRPr lang="en-US" sz="1330" dirty="0"/>
          </a:p>
        </p:txBody>
      </p:sp>
      <p:sp>
        <p:nvSpPr>
          <p:cNvPr id="18" name="Text 16"/>
          <p:cNvSpPr txBox="1"/>
          <p:nvPr/>
        </p:nvSpPr>
        <p:spPr>
          <a:xfrm>
            <a:off x="676656" y="2944368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Severity confirmed, bridge opened, owners paged.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2203704" y="358444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2432304" y="2377440"/>
            <a:ext cx="1682496" cy="2514600"/>
          </a:xfrm>
          <a:prstGeom prst="roundRect">
            <a:avLst>
              <a:gd name="adj" fmla="val 869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2596896" y="25328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F718A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2596896" y="25420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718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3054096" y="2523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Stabilize</a:t>
            </a:r>
            <a:endParaRPr lang="en-US" sz="1330" dirty="0"/>
          </a:p>
        </p:txBody>
      </p:sp>
      <p:sp>
        <p:nvSpPr>
          <p:cNvPr id="24" name="Text 22"/>
          <p:cNvSpPr txBox="1"/>
          <p:nvPr/>
        </p:nvSpPr>
        <p:spPr>
          <a:xfrm>
            <a:off x="2596896" y="2944368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Protect data and restore the safest viable service path.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4123944" y="358444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4352544" y="2377440"/>
            <a:ext cx="1682496" cy="2514600"/>
          </a:xfrm>
          <a:prstGeom prst="roundRect">
            <a:avLst>
              <a:gd name="adj" fmla="val 869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4517136" y="25328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517136" y="25420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4974336" y="2523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Diagnose</a:t>
            </a:r>
            <a:endParaRPr lang="en-US" sz="1330" dirty="0"/>
          </a:p>
        </p:txBody>
      </p:sp>
      <p:sp>
        <p:nvSpPr>
          <p:cNvPr id="30" name="Text 28"/>
          <p:cNvSpPr txBox="1"/>
          <p:nvPr/>
        </p:nvSpPr>
        <p:spPr>
          <a:xfrm>
            <a:off x="4517136" y="2944368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Correlate release, trace, dependency and customer context.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6044184" y="358444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6272784" y="2377440"/>
            <a:ext cx="1682496" cy="2514600"/>
          </a:xfrm>
          <a:prstGeom prst="roundRect">
            <a:avLst>
              <a:gd name="adj" fmla="val 869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437376" y="25328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6437376" y="25420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6894576" y="2523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Recover</a:t>
            </a:r>
            <a:endParaRPr lang="en-US" sz="1330" dirty="0"/>
          </a:p>
        </p:txBody>
      </p:sp>
      <p:sp>
        <p:nvSpPr>
          <p:cNvPr id="36" name="Text 34"/>
          <p:cNvSpPr txBox="1"/>
          <p:nvPr/>
        </p:nvSpPr>
        <p:spPr>
          <a:xfrm>
            <a:off x="6437376" y="2944368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Validate service, backlog, data integrity and user journey.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7964424" y="358444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8" name="Shape 36"/>
          <p:cNvSpPr/>
          <p:nvPr/>
        </p:nvSpPr>
        <p:spPr>
          <a:xfrm>
            <a:off x="8193024" y="2377440"/>
            <a:ext cx="1682496" cy="2514600"/>
          </a:xfrm>
          <a:prstGeom prst="roundRect">
            <a:avLst>
              <a:gd name="adj" fmla="val 869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7"/>
          <p:cNvSpPr/>
          <p:nvPr/>
        </p:nvSpPr>
        <p:spPr>
          <a:xfrm>
            <a:off x="8357616" y="25328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357616" y="25420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1000" dirty="0"/>
          </a:p>
        </p:txBody>
      </p:sp>
      <p:sp>
        <p:nvSpPr>
          <p:cNvPr id="41" name="Text 39"/>
          <p:cNvSpPr txBox="1"/>
          <p:nvPr/>
        </p:nvSpPr>
        <p:spPr>
          <a:xfrm>
            <a:off x="8814816" y="2523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Communicate</a:t>
            </a:r>
            <a:endParaRPr lang="en-US" sz="1330" dirty="0"/>
          </a:p>
        </p:txBody>
      </p:sp>
      <p:sp>
        <p:nvSpPr>
          <p:cNvPr id="42" name="Text 40"/>
          <p:cNvSpPr txBox="1"/>
          <p:nvPr/>
        </p:nvSpPr>
        <p:spPr>
          <a:xfrm>
            <a:off x="8357616" y="2944368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and technical updates at agreed cadence.</a:t>
            </a:r>
            <a:endParaRPr lang="en-US" sz="1080" dirty="0"/>
          </a:p>
        </p:txBody>
      </p:sp>
      <p:sp>
        <p:nvSpPr>
          <p:cNvPr id="43" name="Shape 41"/>
          <p:cNvSpPr/>
          <p:nvPr/>
        </p:nvSpPr>
        <p:spPr>
          <a:xfrm>
            <a:off x="9884664" y="3584448"/>
            <a:ext cx="164592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44" name="Shape 42"/>
          <p:cNvSpPr/>
          <p:nvPr/>
        </p:nvSpPr>
        <p:spPr>
          <a:xfrm>
            <a:off x="10113264" y="2377440"/>
            <a:ext cx="1682496" cy="2514600"/>
          </a:xfrm>
          <a:prstGeom prst="roundRect">
            <a:avLst>
              <a:gd name="adj" fmla="val 869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43"/>
          <p:cNvSpPr/>
          <p:nvPr/>
        </p:nvSpPr>
        <p:spPr>
          <a:xfrm>
            <a:off x="10277856" y="2532888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10277856" y="2542032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1000" dirty="0"/>
          </a:p>
        </p:txBody>
      </p:sp>
      <p:sp>
        <p:nvSpPr>
          <p:cNvPr id="47" name="Text 45"/>
          <p:cNvSpPr txBox="1"/>
          <p:nvPr/>
        </p:nvSpPr>
        <p:spPr>
          <a:xfrm>
            <a:off x="10735056" y="2523744"/>
            <a:ext cx="90525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Prevent</a:t>
            </a:r>
            <a:endParaRPr lang="en-US" sz="1330" dirty="0"/>
          </a:p>
        </p:txBody>
      </p:sp>
      <p:sp>
        <p:nvSpPr>
          <p:cNvPr id="48" name="Text 46"/>
          <p:cNvSpPr txBox="1"/>
          <p:nvPr/>
        </p:nvSpPr>
        <p:spPr>
          <a:xfrm>
            <a:off x="10277856" y="2944368"/>
            <a:ext cx="135331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Root cause, corrective actions and certification updates.</a:t>
            </a:r>
            <a:endParaRPr lang="en-US" sz="1080" dirty="0"/>
          </a:p>
        </p:txBody>
      </p:sp>
      <p:sp>
        <p:nvSpPr>
          <p:cNvPr id="49" name="Shape 47"/>
          <p:cNvSpPr/>
          <p:nvPr/>
        </p:nvSpPr>
        <p:spPr>
          <a:xfrm>
            <a:off x="1005840" y="5266944"/>
            <a:ext cx="10168128" cy="621792"/>
          </a:xfrm>
          <a:prstGeom prst="roundRect">
            <a:avLst>
              <a:gd name="adj" fmla="val 26471"/>
            </a:avLst>
          </a:prstGeom>
          <a:solidFill>
            <a:srgbClr val="11253A"/>
          </a:solidFill>
          <a:ln w="12700">
            <a:solidFill>
              <a:srgbClr val="FF9A66">
                <a:alpha val="65000"/>
              </a:srgbClr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1316736" y="5440680"/>
            <a:ext cx="954633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8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Customer-facing outputs: incident timeline · status cadence · recovery confirmation · post-incident report · prevention backlog</a:t>
            </a:r>
            <a:endParaRPr lang="en-US" sz="128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TEAM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NAMED TEAM AROUND EVERY PRODUCTION CUSTOMER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Accountability is designed into the relationship.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customer always knows who owns commercial success, architecture, release quality, operations and escalation.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03504" y="2258568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03504" y="2258568"/>
            <a:ext cx="50292" cy="969264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68096" y="241401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4657" y="2510577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80160" y="2386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Director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68096" y="27889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Executive relationship · commercial outcomes</a:t>
            </a:r>
            <a:endParaRPr lang="en-US" sz="970" dirty="0"/>
          </a:p>
        </p:txBody>
      </p:sp>
      <p:sp>
        <p:nvSpPr>
          <p:cNvPr id="20" name="Shape 17"/>
          <p:cNvSpPr/>
          <p:nvPr/>
        </p:nvSpPr>
        <p:spPr>
          <a:xfrm>
            <a:off x="4334256" y="2258568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34256" y="2258568"/>
            <a:ext cx="50292" cy="969264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498848" y="241401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595409" y="2510577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10912" y="2386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Success Manager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498848" y="27889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Adoption · service reviews · value realization</a:t>
            </a:r>
            <a:endParaRPr lang="en-US" sz="970" dirty="0"/>
          </a:p>
        </p:txBody>
      </p:sp>
      <p:sp>
        <p:nvSpPr>
          <p:cNvPr id="26" name="Shape 22"/>
          <p:cNvSpPr/>
          <p:nvPr/>
        </p:nvSpPr>
        <p:spPr>
          <a:xfrm>
            <a:off x="8065008" y="2258568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65008" y="2258568"/>
            <a:ext cx="50292" cy="969264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29600" y="241401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26161" y="2510577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41664" y="238658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Solution / Resident Architect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29600" y="2788920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· integration · roadmap</a:t>
            </a:r>
            <a:endParaRPr lang="en-US" sz="970" dirty="0"/>
          </a:p>
        </p:txBody>
      </p:sp>
      <p:sp>
        <p:nvSpPr>
          <p:cNvPr id="32" name="Shape 27"/>
          <p:cNvSpPr/>
          <p:nvPr/>
        </p:nvSpPr>
        <p:spPr>
          <a:xfrm>
            <a:off x="603504" y="3429000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03504" y="3429000"/>
            <a:ext cx="50292" cy="969264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68096" y="35844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64657" y="3681009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80160" y="35570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&amp; Certification Lead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68096" y="39593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 gates · evidence · compatibility</a:t>
            </a:r>
            <a:endParaRPr lang="en-US" sz="970" dirty="0"/>
          </a:p>
        </p:txBody>
      </p:sp>
      <p:sp>
        <p:nvSpPr>
          <p:cNvPr id="38" name="Shape 32"/>
          <p:cNvSpPr/>
          <p:nvPr/>
        </p:nvSpPr>
        <p:spPr>
          <a:xfrm>
            <a:off x="4334256" y="3429000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334256" y="3429000"/>
            <a:ext cx="50292" cy="969264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498848" y="35844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595409" y="3681009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10912" y="35570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Duty Manager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498848" y="39593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Cases · prioritization · escalation</a:t>
            </a:r>
            <a:endParaRPr lang="en-US" sz="970" dirty="0"/>
          </a:p>
        </p:txBody>
      </p:sp>
      <p:sp>
        <p:nvSpPr>
          <p:cNvPr id="44" name="Shape 37"/>
          <p:cNvSpPr/>
          <p:nvPr/>
        </p:nvSpPr>
        <p:spPr>
          <a:xfrm>
            <a:off x="8065008" y="3429000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065008" y="3429000"/>
            <a:ext cx="50292" cy="969264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29600" y="35844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26161" y="3681009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41664" y="35570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Incident Commander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29600" y="3959352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Critical incident leadership and communication</a:t>
            </a:r>
            <a:endParaRPr lang="en-US" sz="970" dirty="0"/>
          </a:p>
        </p:txBody>
      </p:sp>
      <p:sp>
        <p:nvSpPr>
          <p:cNvPr id="50" name="Shape 42"/>
          <p:cNvSpPr/>
          <p:nvPr/>
        </p:nvSpPr>
        <p:spPr>
          <a:xfrm>
            <a:off x="603504" y="4599432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03504" y="4599432"/>
            <a:ext cx="50292" cy="969264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768096" y="47548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64657" y="4851441"/>
            <a:ext cx="209215" cy="20921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280160" y="47274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SRE / Cloud Engineer</a:t>
            </a:r>
            <a:endParaRPr lang="en-US" sz="1450" dirty="0"/>
          </a:p>
        </p:txBody>
      </p:sp>
      <p:sp>
        <p:nvSpPr>
          <p:cNvPr id="55" name="Text 46"/>
          <p:cNvSpPr txBox="1"/>
          <p:nvPr/>
        </p:nvSpPr>
        <p:spPr>
          <a:xfrm>
            <a:off x="768096" y="512978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Reliability · telemetry · capacity · recovery</a:t>
            </a:r>
            <a:endParaRPr lang="en-US" sz="970" dirty="0"/>
          </a:p>
        </p:txBody>
      </p:sp>
      <p:sp>
        <p:nvSpPr>
          <p:cNvPr id="56" name="Shape 47"/>
          <p:cNvSpPr/>
          <p:nvPr/>
        </p:nvSpPr>
        <p:spPr>
          <a:xfrm>
            <a:off x="4334256" y="4599432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334256" y="4599432"/>
            <a:ext cx="50292" cy="969264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4498848" y="47548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595409" y="4851441"/>
            <a:ext cx="209215" cy="209215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5010912" y="47274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Engineering Lead</a:t>
            </a:r>
            <a:endParaRPr lang="en-US" sz="1450" dirty="0"/>
          </a:p>
        </p:txBody>
      </p:sp>
      <p:sp>
        <p:nvSpPr>
          <p:cNvPr id="61" name="Text 51"/>
          <p:cNvSpPr txBox="1"/>
          <p:nvPr/>
        </p:nvSpPr>
        <p:spPr>
          <a:xfrm>
            <a:off x="4498848" y="512978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Defect correction · patches · roadmap input</a:t>
            </a:r>
            <a:endParaRPr lang="en-US" sz="970" dirty="0"/>
          </a:p>
        </p:txBody>
      </p:sp>
      <p:sp>
        <p:nvSpPr>
          <p:cNvPr id="62" name="Shape 52"/>
          <p:cNvSpPr/>
          <p:nvPr/>
        </p:nvSpPr>
        <p:spPr>
          <a:xfrm>
            <a:off x="8065008" y="4599432"/>
            <a:ext cx="3401568" cy="969264"/>
          </a:xfrm>
          <a:prstGeom prst="roundRect">
            <a:avLst>
              <a:gd name="adj" fmla="val 16038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8065008" y="4599432"/>
            <a:ext cx="50292" cy="969264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8229600" y="475488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26161" y="4851441"/>
            <a:ext cx="209215" cy="209215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8741664" y="472744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&amp; Privacy Lead</a:t>
            </a:r>
            <a:endParaRPr lang="en-US" sz="1450" dirty="0"/>
          </a:p>
        </p:txBody>
      </p:sp>
      <p:sp>
        <p:nvSpPr>
          <p:cNvPr id="67" name="Text 56"/>
          <p:cNvSpPr txBox="1"/>
          <p:nvPr/>
        </p:nvSpPr>
        <p:spPr>
          <a:xfrm>
            <a:off x="8229600" y="5129784"/>
            <a:ext cx="307238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response · privacy · assurance</a:t>
            </a:r>
            <a:endParaRPr lang="en-US" sz="970" dirty="0"/>
          </a:p>
        </p:txBody>
      </p:sp>
      <p:sp>
        <p:nvSpPr>
          <p:cNvPr id="68" name="Shape 57"/>
          <p:cNvSpPr/>
          <p:nvPr/>
        </p:nvSpPr>
        <p:spPr>
          <a:xfrm>
            <a:off x="2862072" y="5833872"/>
            <a:ext cx="644652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36D4C0">
                <a:alpha val="70000"/>
              </a:srgbClr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2935224" y="5852160"/>
            <a:ext cx="6300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6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CUSTOMER PLAN · ONE SERVICE CADENCE · ONE ESCALATION TREE</a:t>
            </a:r>
            <a:endParaRPr lang="en-US" sz="8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MODELS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 FLEXIBILITY WITH ONE COHERENT ARCHITECTURE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Pay for the operating model you choose.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customer can combine subscription, usage and services while retaining one capability contract and one support relationship.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75488" y="2286000"/>
            <a:ext cx="2103120" cy="3310128"/>
          </a:xfrm>
          <a:prstGeom prst="roundRect">
            <a:avLst>
              <a:gd name="adj" fmla="val 782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261872" y="256032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89156" y="2687604"/>
            <a:ext cx="275783" cy="27578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0080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SDK subscription</a:t>
            </a:r>
            <a:endParaRPr lang="en-US" sz="1400" dirty="0"/>
          </a:p>
        </p:txBody>
      </p:sp>
      <p:sp>
        <p:nvSpPr>
          <p:cNvPr id="18" name="Text 15"/>
          <p:cNvSpPr txBox="1"/>
          <p:nvPr/>
        </p:nvSpPr>
        <p:spPr>
          <a:xfrm>
            <a:off x="658368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Versioned package rights, release channel, updates, compatibility and support.</a:t>
            </a:r>
            <a:endParaRPr lang="en-US" sz="1030" dirty="0"/>
          </a:p>
        </p:txBody>
      </p:sp>
      <p:sp>
        <p:nvSpPr>
          <p:cNvPr id="19" name="Shape 16"/>
          <p:cNvSpPr/>
          <p:nvPr/>
        </p:nvSpPr>
        <p:spPr>
          <a:xfrm>
            <a:off x="749808" y="50840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822960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 CAPABILITY PACK / YEAR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2798064" y="2286000"/>
            <a:ext cx="2103120" cy="3310128"/>
          </a:xfrm>
          <a:prstGeom prst="roundRect">
            <a:avLst>
              <a:gd name="adj" fmla="val 782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Shape 19"/>
          <p:cNvSpPr/>
          <p:nvPr/>
        </p:nvSpPr>
        <p:spPr>
          <a:xfrm>
            <a:off x="3584448" y="256032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711732" y="2687604"/>
            <a:ext cx="275783" cy="275783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2962656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Hosted API consumption</a:t>
            </a:r>
            <a:endParaRPr lang="en-US" sz="1400" dirty="0"/>
          </a:p>
        </p:txBody>
      </p:sp>
      <p:sp>
        <p:nvSpPr>
          <p:cNvPr id="25" name="Text 21"/>
          <p:cNvSpPr txBox="1"/>
          <p:nvPr/>
        </p:nvSpPr>
        <p:spPr>
          <a:xfrm>
            <a:off x="2980944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Managed runtime, SLA, observability and usage-based billing.</a:t>
            </a:r>
            <a:endParaRPr lang="en-US" sz="1030" dirty="0"/>
          </a:p>
        </p:txBody>
      </p:sp>
      <p:sp>
        <p:nvSpPr>
          <p:cNvPr id="26" name="Shape 22"/>
          <p:cNvSpPr/>
          <p:nvPr/>
        </p:nvSpPr>
        <p:spPr>
          <a:xfrm>
            <a:off x="3072384" y="50840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27" name="Text 23"/>
          <p:cNvSpPr txBox="1"/>
          <p:nvPr/>
        </p:nvSpPr>
        <p:spPr>
          <a:xfrm>
            <a:off x="3145536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+ USAGE</a:t>
            </a:r>
            <a:endParaRPr lang="en-US" sz="850" dirty="0"/>
          </a:p>
        </p:txBody>
      </p:sp>
      <p:sp>
        <p:nvSpPr>
          <p:cNvPr id="28" name="Shape 24"/>
          <p:cNvSpPr/>
          <p:nvPr/>
        </p:nvSpPr>
        <p:spPr>
          <a:xfrm>
            <a:off x="5120640" y="2286000"/>
            <a:ext cx="2103120" cy="3310128"/>
          </a:xfrm>
          <a:prstGeom prst="roundRect">
            <a:avLst>
              <a:gd name="adj" fmla="val 782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9" name="Shape 25"/>
          <p:cNvSpPr/>
          <p:nvPr/>
        </p:nvSpPr>
        <p:spPr>
          <a:xfrm>
            <a:off x="5907024" y="256032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3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034308" y="2687604"/>
            <a:ext cx="275783" cy="275783"/>
          </a:xfrm>
          <a:prstGeom prst="rect">
            <a:avLst/>
          </a:prstGeom>
        </p:spPr>
      </p:pic>
      <p:sp>
        <p:nvSpPr>
          <p:cNvPr id="31" name="Text 26"/>
          <p:cNvSpPr txBox="1"/>
          <p:nvPr/>
        </p:nvSpPr>
        <p:spPr>
          <a:xfrm>
            <a:off x="5285232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platform</a:t>
            </a:r>
            <a:endParaRPr lang="en-US" sz="1400" dirty="0"/>
          </a:p>
        </p:txBody>
      </p:sp>
      <p:sp>
        <p:nvSpPr>
          <p:cNvPr id="32" name="Text 27"/>
          <p:cNvSpPr txBox="1"/>
          <p:nvPr/>
        </p:nvSpPr>
        <p:spPr>
          <a:xfrm>
            <a:off x="5303520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Portfolio access, tenant controls, private catalog and deployment profiles.</a:t>
            </a:r>
            <a:endParaRPr lang="en-US" sz="1030" dirty="0"/>
          </a:p>
        </p:txBody>
      </p:sp>
      <p:sp>
        <p:nvSpPr>
          <p:cNvPr id="33" name="Shape 28"/>
          <p:cNvSpPr/>
          <p:nvPr/>
        </p:nvSpPr>
        <p:spPr>
          <a:xfrm>
            <a:off x="5394960" y="50840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34" name="Text 29"/>
          <p:cNvSpPr txBox="1"/>
          <p:nvPr/>
        </p:nvSpPr>
        <p:spPr>
          <a:xfrm>
            <a:off x="5468112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ANNUAL COMMIT</a:t>
            </a:r>
            <a:endParaRPr lang="en-US" sz="850" dirty="0"/>
          </a:p>
        </p:txBody>
      </p:sp>
      <p:sp>
        <p:nvSpPr>
          <p:cNvPr id="35" name="Shape 30"/>
          <p:cNvSpPr/>
          <p:nvPr/>
        </p:nvSpPr>
        <p:spPr>
          <a:xfrm>
            <a:off x="7443216" y="2286000"/>
            <a:ext cx="2103120" cy="3310128"/>
          </a:xfrm>
          <a:prstGeom prst="roundRect">
            <a:avLst>
              <a:gd name="adj" fmla="val 782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6" name="Shape 31"/>
          <p:cNvSpPr/>
          <p:nvPr/>
        </p:nvSpPr>
        <p:spPr>
          <a:xfrm>
            <a:off x="8229600" y="256032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3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356884" y="2687604"/>
            <a:ext cx="275783" cy="275783"/>
          </a:xfrm>
          <a:prstGeom prst="rect">
            <a:avLst/>
          </a:prstGeom>
        </p:spPr>
      </p:pic>
      <p:sp>
        <p:nvSpPr>
          <p:cNvPr id="38" name="Text 32"/>
          <p:cNvSpPr txBox="1"/>
          <p:nvPr/>
        </p:nvSpPr>
        <p:spPr>
          <a:xfrm>
            <a:off x="7607808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solution</a:t>
            </a:r>
            <a:endParaRPr lang="en-US" sz="1400" dirty="0"/>
          </a:p>
        </p:txBody>
      </p:sp>
      <p:sp>
        <p:nvSpPr>
          <p:cNvPr id="39" name="Text 33"/>
          <p:cNvSpPr txBox="1"/>
          <p:nvPr/>
        </p:nvSpPr>
        <p:spPr>
          <a:xfrm>
            <a:off x="7626096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multi-capability application for an agreed business outcome.</a:t>
            </a:r>
            <a:endParaRPr lang="en-US" sz="1030" dirty="0"/>
          </a:p>
        </p:txBody>
      </p:sp>
      <p:sp>
        <p:nvSpPr>
          <p:cNvPr id="40" name="Shape 34"/>
          <p:cNvSpPr/>
          <p:nvPr/>
        </p:nvSpPr>
        <p:spPr>
          <a:xfrm>
            <a:off x="7717536" y="50840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41" name="Text 35"/>
          <p:cNvSpPr txBox="1"/>
          <p:nvPr/>
        </p:nvSpPr>
        <p:spPr>
          <a:xfrm>
            <a:off x="7790688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IMPLEMENTATION + RUN</a:t>
            </a:r>
            <a:endParaRPr lang="en-US" sz="850" dirty="0"/>
          </a:p>
        </p:txBody>
      </p:sp>
      <p:sp>
        <p:nvSpPr>
          <p:cNvPr id="42" name="Shape 36"/>
          <p:cNvSpPr/>
          <p:nvPr/>
        </p:nvSpPr>
        <p:spPr>
          <a:xfrm>
            <a:off x="9765792" y="2286000"/>
            <a:ext cx="2103120" cy="3310128"/>
          </a:xfrm>
          <a:prstGeom prst="roundRect">
            <a:avLst>
              <a:gd name="adj" fmla="val 782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3" name="Shape 37"/>
          <p:cNvSpPr/>
          <p:nvPr/>
        </p:nvSpPr>
        <p:spPr>
          <a:xfrm>
            <a:off x="10552176" y="2560320"/>
            <a:ext cx="530352" cy="530352"/>
          </a:xfrm>
          <a:prstGeom prst="roundRect">
            <a:avLst>
              <a:gd name="adj" fmla="val 31034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44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679460" y="2687604"/>
            <a:ext cx="275783" cy="275783"/>
          </a:xfrm>
          <a:prstGeom prst="rect">
            <a:avLst/>
          </a:prstGeom>
        </p:spPr>
      </p:pic>
      <p:sp>
        <p:nvSpPr>
          <p:cNvPr id="45" name="Text 38"/>
          <p:cNvSpPr txBox="1"/>
          <p:nvPr/>
        </p:nvSpPr>
        <p:spPr>
          <a:xfrm>
            <a:off x="9930384" y="3401568"/>
            <a:ext cx="177393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Premium support</a:t>
            </a:r>
            <a:endParaRPr lang="en-US" sz="1400" dirty="0"/>
          </a:p>
        </p:txBody>
      </p:sp>
      <p:sp>
        <p:nvSpPr>
          <p:cNvPr id="46" name="Text 39"/>
          <p:cNvSpPr txBox="1"/>
          <p:nvPr/>
        </p:nvSpPr>
        <p:spPr>
          <a:xfrm>
            <a:off x="9948672" y="4096512"/>
            <a:ext cx="1737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24×7, mission-critical response, resident architecture and proactive operations.</a:t>
            </a:r>
            <a:endParaRPr lang="en-US" sz="1030" dirty="0"/>
          </a:p>
        </p:txBody>
      </p:sp>
      <p:sp>
        <p:nvSpPr>
          <p:cNvPr id="47" name="Shape 40"/>
          <p:cNvSpPr/>
          <p:nvPr/>
        </p:nvSpPr>
        <p:spPr>
          <a:xfrm>
            <a:off x="10040112" y="5084064"/>
            <a:ext cx="155448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48" name="Text 41"/>
          <p:cNvSpPr txBox="1"/>
          <p:nvPr/>
        </p:nvSpPr>
        <p:spPr>
          <a:xfrm>
            <a:off x="10113264" y="5102352"/>
            <a:ext cx="14081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TIER / RETAINER</a:t>
            </a:r>
            <a:endParaRPr lang="en-US" sz="850" dirty="0"/>
          </a:p>
        </p:txBody>
      </p:sp>
      <p:sp>
        <p:nvSpPr>
          <p:cNvPr id="49" name="Text 42"/>
          <p:cNvSpPr txBox="1"/>
          <p:nvPr/>
        </p:nvSpPr>
        <p:spPr>
          <a:xfrm>
            <a:off x="1024128" y="5870448"/>
            <a:ext cx="1013155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providers and premium dependencies can be customer-owned (BYOK) or passed through transparently under the hosted model.</a:t>
            </a:r>
            <a:endParaRPr lang="en-US" sz="11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VALUE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SHIFT ENGINEERING SPEND TOWARD DIFFERENTIATION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Certified reuse changes the cost curve.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reduces repeated foundation work and recurring QA/operations setup, while preserving customer ownership of unique workflows, data and experience.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8368" y="2304288"/>
            <a:ext cx="5102352" cy="3310128"/>
          </a:xfrm>
          <a:prstGeom prst="roundRect">
            <a:avLst>
              <a:gd name="adj" fmla="val 4972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914400" y="2578608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8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TRADITIONAL FEATURE BUILD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3090672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1060" dirty="0"/>
          </a:p>
        </p:txBody>
      </p:sp>
      <p:sp>
        <p:nvSpPr>
          <p:cNvPr id="17" name="Shape 15"/>
          <p:cNvSpPr/>
          <p:nvPr/>
        </p:nvSpPr>
        <p:spPr>
          <a:xfrm>
            <a:off x="4059936" y="3099816"/>
            <a:ext cx="950976" cy="16459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25384B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059936" y="3099816"/>
            <a:ext cx="950976" cy="164592"/>
          </a:xfrm>
          <a:prstGeom prst="roundRect">
            <a:avLst>
              <a:gd name="adj" fmla="val 50000"/>
            </a:avLst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074920" y="3044952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25%</a:t>
            </a:r>
            <a:endParaRPr lang="en-US" sz="960" dirty="0"/>
          </a:p>
        </p:txBody>
      </p:sp>
      <p:sp>
        <p:nvSpPr>
          <p:cNvPr id="20" name="Text 18"/>
          <p:cNvSpPr txBox="1"/>
          <p:nvPr/>
        </p:nvSpPr>
        <p:spPr>
          <a:xfrm>
            <a:off x="1005840" y="3529584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&amp; contracts</a:t>
            </a:r>
            <a:endParaRPr lang="en-US" sz="1060" dirty="0"/>
          </a:p>
        </p:txBody>
      </p:sp>
      <p:sp>
        <p:nvSpPr>
          <p:cNvPr id="21" name="Shape 19"/>
          <p:cNvSpPr/>
          <p:nvPr/>
        </p:nvSpPr>
        <p:spPr>
          <a:xfrm>
            <a:off x="4059936" y="3538728"/>
            <a:ext cx="950976" cy="16459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25384B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059936" y="3538728"/>
            <a:ext cx="684703" cy="164592"/>
          </a:xfrm>
          <a:prstGeom prst="roundRect">
            <a:avLst>
              <a:gd name="adj" fmla="val 50000"/>
            </a:avLst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5074920" y="3483864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18%</a:t>
            </a:r>
            <a:endParaRPr lang="en-US" sz="960" dirty="0"/>
          </a:p>
        </p:txBody>
      </p:sp>
      <p:sp>
        <p:nvSpPr>
          <p:cNvPr id="24" name="Text 22"/>
          <p:cNvSpPr txBox="1"/>
          <p:nvPr/>
        </p:nvSpPr>
        <p:spPr>
          <a:xfrm>
            <a:off x="1005840" y="3968496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QA &amp; security validation</a:t>
            </a:r>
            <a:endParaRPr lang="en-US" sz="1060" dirty="0"/>
          </a:p>
        </p:txBody>
      </p:sp>
      <p:sp>
        <p:nvSpPr>
          <p:cNvPr id="25" name="Shape 23"/>
          <p:cNvSpPr/>
          <p:nvPr/>
        </p:nvSpPr>
        <p:spPr>
          <a:xfrm>
            <a:off x="4059936" y="3977640"/>
            <a:ext cx="950976" cy="16459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25384B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059936" y="3977640"/>
            <a:ext cx="836859" cy="164592"/>
          </a:xfrm>
          <a:prstGeom prst="roundRect">
            <a:avLst>
              <a:gd name="adj" fmla="val 50000"/>
            </a:avLst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074920" y="3922776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22%</a:t>
            </a:r>
            <a:endParaRPr lang="en-US" sz="96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4407408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/ operations</a:t>
            </a:r>
            <a:endParaRPr lang="en-US" sz="1060" dirty="0"/>
          </a:p>
        </p:txBody>
      </p:sp>
      <p:sp>
        <p:nvSpPr>
          <p:cNvPr id="29" name="Shape 27"/>
          <p:cNvSpPr/>
          <p:nvPr/>
        </p:nvSpPr>
        <p:spPr>
          <a:xfrm>
            <a:off x="4059936" y="4416552"/>
            <a:ext cx="950976" cy="16459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25384B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059936" y="4416552"/>
            <a:ext cx="760781" cy="164592"/>
          </a:xfrm>
          <a:prstGeom prst="roundRect">
            <a:avLst>
              <a:gd name="adj" fmla="val 50000"/>
            </a:avLst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074920" y="4361688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20%</a:t>
            </a:r>
            <a:endParaRPr lang="en-US" sz="960" dirty="0"/>
          </a:p>
        </p:txBody>
      </p:sp>
      <p:sp>
        <p:nvSpPr>
          <p:cNvPr id="32" name="Text 30"/>
          <p:cNvSpPr txBox="1"/>
          <p:nvPr/>
        </p:nvSpPr>
        <p:spPr>
          <a:xfrm>
            <a:off x="1005840" y="4846320"/>
            <a:ext cx="31455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 &amp; support setup</a:t>
            </a:r>
            <a:endParaRPr lang="en-US" sz="1060" dirty="0"/>
          </a:p>
        </p:txBody>
      </p:sp>
      <p:sp>
        <p:nvSpPr>
          <p:cNvPr id="33" name="Shape 31"/>
          <p:cNvSpPr/>
          <p:nvPr/>
        </p:nvSpPr>
        <p:spPr>
          <a:xfrm>
            <a:off x="4059936" y="4855464"/>
            <a:ext cx="950976" cy="16459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25384B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4059936" y="4855464"/>
            <a:ext cx="570586" cy="164592"/>
          </a:xfrm>
          <a:prstGeom prst="roundRect">
            <a:avLst>
              <a:gd name="adj" fmla="val 50000"/>
            </a:avLst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074920" y="4800600"/>
            <a:ext cx="40233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15%</a:t>
            </a:r>
            <a:endParaRPr lang="en-US" sz="960" dirty="0"/>
          </a:p>
        </p:txBody>
      </p:sp>
      <p:sp>
        <p:nvSpPr>
          <p:cNvPr id="36" name="Shape 34"/>
          <p:cNvSpPr/>
          <p:nvPr/>
        </p:nvSpPr>
        <p:spPr>
          <a:xfrm>
            <a:off x="6199632" y="2304288"/>
            <a:ext cx="5102352" cy="3310128"/>
          </a:xfrm>
          <a:prstGeom prst="roundRect">
            <a:avLst>
              <a:gd name="adj" fmla="val 4972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7" name="Text 35"/>
          <p:cNvSpPr txBox="1"/>
          <p:nvPr/>
        </p:nvSpPr>
        <p:spPr>
          <a:xfrm>
            <a:off x="6455664" y="2578608"/>
            <a:ext cx="45902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kern="0" spc="8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PROJEXCLOUD-ENABLED DELIVERY</a:t>
            </a:r>
            <a:endParaRPr lang="en-US" sz="1000" dirty="0"/>
          </a:p>
        </p:txBody>
      </p:sp>
      <p:sp>
        <p:nvSpPr>
          <p:cNvPr id="38" name="Shape 36"/>
          <p:cNvSpPr/>
          <p:nvPr/>
        </p:nvSpPr>
        <p:spPr>
          <a:xfrm>
            <a:off x="6565392" y="3163824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9" name="Text 37"/>
          <p:cNvSpPr/>
          <p:nvPr/>
        </p:nvSpPr>
        <p:spPr>
          <a:xfrm>
            <a:off x="6711696" y="3054096"/>
            <a:ext cx="4197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certified capabilities </a:t>
            </a:r>
            <a:r>
              <a:rPr lang="en-US" sz="11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Avoid rebuilding common platform and business functions.</a:t>
            </a:r>
            <a:endParaRPr lang="en-US" sz="1140" dirty="0"/>
          </a:p>
        </p:txBody>
      </p:sp>
      <p:sp>
        <p:nvSpPr>
          <p:cNvPr id="40" name="Shape 38"/>
          <p:cNvSpPr/>
          <p:nvPr/>
        </p:nvSpPr>
        <p:spPr>
          <a:xfrm>
            <a:off x="6565392" y="3648456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6711696" y="3538728"/>
            <a:ext cx="4197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Reuse assurance </a:t>
            </a:r>
            <a:r>
              <a:rPr lang="en-US" sz="11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Adopt established test, security, observability and support controls.</a:t>
            </a:r>
            <a:endParaRPr lang="en-US" sz="1140" dirty="0"/>
          </a:p>
        </p:txBody>
      </p:sp>
      <p:sp>
        <p:nvSpPr>
          <p:cNvPr id="42" name="Shape 40"/>
          <p:cNvSpPr/>
          <p:nvPr/>
        </p:nvSpPr>
        <p:spPr>
          <a:xfrm>
            <a:off x="6565392" y="4133088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6711696" y="4023360"/>
            <a:ext cx="4197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Focus customer teams </a:t>
            </a:r>
            <a:r>
              <a:rPr lang="en-US" sz="11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Invest more of the roadmap in differentiated process, data and UX.</a:t>
            </a:r>
            <a:endParaRPr lang="en-US" sz="1140" dirty="0"/>
          </a:p>
        </p:txBody>
      </p:sp>
      <p:sp>
        <p:nvSpPr>
          <p:cNvPr id="44" name="Shape 42"/>
          <p:cNvSpPr/>
          <p:nvPr/>
        </p:nvSpPr>
        <p:spPr>
          <a:xfrm>
            <a:off x="6565392" y="4617720"/>
            <a:ext cx="68580" cy="68580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6711696" y="4507992"/>
            <a:ext cx="4197096" cy="46634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Choose operating economics </a:t>
            </a:r>
            <a:r>
              <a:rPr lang="en-US" sz="11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License, consume or host according to workload economics.</a:t>
            </a:r>
            <a:endParaRPr lang="en-US" sz="1140" dirty="0"/>
          </a:p>
        </p:txBody>
      </p:sp>
      <p:sp>
        <p:nvSpPr>
          <p:cNvPr id="46" name="Shape 44"/>
          <p:cNvSpPr/>
          <p:nvPr/>
        </p:nvSpPr>
        <p:spPr>
          <a:xfrm>
            <a:off x="1572768" y="5824728"/>
            <a:ext cx="251460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70859A">
                <a:alpha val="70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1645920" y="5843016"/>
            <a:ext cx="23682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ILLUSTRATIVE COST ALLOCATION</a:t>
            </a:r>
            <a:endParaRPr lang="en-US" sz="850" dirty="0"/>
          </a:p>
        </p:txBody>
      </p:sp>
      <p:sp>
        <p:nvSpPr>
          <p:cNvPr id="48" name="Text 46"/>
          <p:cNvSpPr txBox="1"/>
          <p:nvPr/>
        </p:nvSpPr>
        <p:spPr>
          <a:xfrm>
            <a:off x="4251960" y="5815584"/>
            <a:ext cx="64922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business case is finalized in the blueprint using the customer’s own team cost, schedule, risk and usage assumptions.</a:t>
            </a:r>
            <a:endParaRPr lang="en-US" sz="103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BUYER OUTCOMES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PLATFORM. DIFFERENT VALUE FOR EVERY STAKEHOLDER.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buying coalition sees a shared outcome through its own lens.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aligns executive speed, product differentiation, engineering efficiency, security control and operational accountability.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2340864"/>
            <a:ext cx="3383280" cy="1316736"/>
          </a:xfrm>
          <a:prstGeom prst="roundRect">
            <a:avLst>
              <a:gd name="adj" fmla="val 1180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40080" y="2340864"/>
            <a:ext cx="50292" cy="1316736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804672" y="249631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01233" y="2592873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316736" y="2468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CIO / CTO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804672" y="287121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Accelerate portfolio delivery while retaining architecture and vendor control.</a:t>
            </a:r>
            <a:endParaRPr lang="en-US" sz="1070" dirty="0"/>
          </a:p>
        </p:txBody>
      </p:sp>
      <p:sp>
        <p:nvSpPr>
          <p:cNvPr id="20" name="Shape 17"/>
          <p:cNvSpPr/>
          <p:nvPr/>
        </p:nvSpPr>
        <p:spPr>
          <a:xfrm>
            <a:off x="4370832" y="2340864"/>
            <a:ext cx="3383280" cy="1316736"/>
          </a:xfrm>
          <a:prstGeom prst="roundRect">
            <a:avLst>
              <a:gd name="adj" fmla="val 1180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70832" y="2340864"/>
            <a:ext cx="50292" cy="1316736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35424" y="249631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1985" y="2592873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47488" y="2468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 leader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35424" y="287121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Launch differentiated workflows with foundational capabilities ready from the start.</a:t>
            </a:r>
            <a:endParaRPr lang="en-US" sz="1070" dirty="0"/>
          </a:p>
        </p:txBody>
      </p:sp>
      <p:sp>
        <p:nvSpPr>
          <p:cNvPr id="26" name="Shape 22"/>
          <p:cNvSpPr/>
          <p:nvPr/>
        </p:nvSpPr>
        <p:spPr>
          <a:xfrm>
            <a:off x="8101584" y="2340864"/>
            <a:ext cx="3383280" cy="1316736"/>
          </a:xfrm>
          <a:prstGeom prst="roundRect">
            <a:avLst>
              <a:gd name="adj" fmla="val 1180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101584" y="2340864"/>
            <a:ext cx="50292" cy="1316736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66176" y="249631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62737" y="2592873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78240" y="246888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leader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66176" y="287121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Reduce undifferentiated build, integration and release effort.</a:t>
            </a:r>
            <a:endParaRPr lang="en-US" sz="1070" dirty="0"/>
          </a:p>
        </p:txBody>
      </p:sp>
      <p:sp>
        <p:nvSpPr>
          <p:cNvPr id="32" name="Shape 27"/>
          <p:cNvSpPr/>
          <p:nvPr/>
        </p:nvSpPr>
        <p:spPr>
          <a:xfrm>
            <a:off x="640080" y="3895344"/>
            <a:ext cx="3383280" cy="1316736"/>
          </a:xfrm>
          <a:prstGeom prst="roundRect">
            <a:avLst>
              <a:gd name="adj" fmla="val 1180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40080" y="3895344"/>
            <a:ext cx="50292" cy="1316736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804672" y="40507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01233" y="4147353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316736" y="4023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CISO / DPO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804672" y="442569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Keep sensitive workloads in approved boundaries with evidence and support.</a:t>
            </a:r>
            <a:endParaRPr lang="en-US" sz="1070" dirty="0"/>
          </a:p>
        </p:txBody>
      </p:sp>
      <p:sp>
        <p:nvSpPr>
          <p:cNvPr id="38" name="Shape 32"/>
          <p:cNvSpPr/>
          <p:nvPr/>
        </p:nvSpPr>
        <p:spPr>
          <a:xfrm>
            <a:off x="4370832" y="3895344"/>
            <a:ext cx="3383280" cy="1316736"/>
          </a:xfrm>
          <a:prstGeom prst="roundRect">
            <a:avLst>
              <a:gd name="adj" fmla="val 1180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370832" y="3895344"/>
            <a:ext cx="50292" cy="1316736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35424" y="40507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31985" y="4147353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47488" y="4023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COO / CFO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35424" y="442569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Convert fixed engineering burden into reusable, transparent capability economics.</a:t>
            </a:r>
            <a:endParaRPr lang="en-US" sz="1070" dirty="0"/>
          </a:p>
        </p:txBody>
      </p:sp>
      <p:sp>
        <p:nvSpPr>
          <p:cNvPr id="44" name="Shape 37"/>
          <p:cNvSpPr/>
          <p:nvPr/>
        </p:nvSpPr>
        <p:spPr>
          <a:xfrm>
            <a:off x="8101584" y="3895344"/>
            <a:ext cx="3383280" cy="1316736"/>
          </a:xfrm>
          <a:prstGeom prst="roundRect">
            <a:avLst>
              <a:gd name="adj" fmla="val 1180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101584" y="3895344"/>
            <a:ext cx="50292" cy="1316736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66176" y="40507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62737" y="4147353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78240" y="4023360"/>
            <a:ext cx="2560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SMB owner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66176" y="4425696"/>
            <a:ext cx="30540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 a tailored operating system instead of stitching together many disconnected tools.</a:t>
            </a:r>
            <a:endParaRPr lang="en-US" sz="1070" dirty="0"/>
          </a:p>
        </p:txBody>
      </p:sp>
      <p:sp>
        <p:nvSpPr>
          <p:cNvPr id="50" name="Shape 42"/>
          <p:cNvSpPr/>
          <p:nvPr/>
        </p:nvSpPr>
        <p:spPr>
          <a:xfrm>
            <a:off x="1188720" y="5596128"/>
            <a:ext cx="9784080" cy="502920"/>
          </a:xfrm>
          <a:prstGeom prst="roundRect">
            <a:avLst>
              <a:gd name="adj" fmla="val 29091"/>
            </a:avLst>
          </a:prstGeom>
          <a:solidFill>
            <a:srgbClr val="11253A"/>
          </a:solidFill>
          <a:ln w="12700">
            <a:solidFill>
              <a:srgbClr val="45E2FF">
                <a:alpha val="65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435608" y="5733288"/>
            <a:ext cx="92811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proof: a working blueprint, certified release, measurable operating model and clear path to scale.</a:t>
            </a:r>
            <a:endParaRPr lang="en-US" sz="125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FIT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WHERE PROJEXCLOUD CREATES THE STRONGEST VALUE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High-value fit occurs when speed, integration, ownership and assurance matter together.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entry point can be one workflow, one capability opportunity or one modernization overlay.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33172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331720"/>
            <a:ext cx="50292" cy="1325880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258372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acceleration mandate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86207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Teams need to move faster while preserving release confidence.</a:t>
            </a:r>
            <a:endParaRPr lang="en-US" sz="1060" dirty="0"/>
          </a:p>
        </p:txBody>
      </p:sp>
      <p:sp>
        <p:nvSpPr>
          <p:cNvPr id="20" name="Shape 17"/>
          <p:cNvSpPr/>
          <p:nvPr/>
        </p:nvSpPr>
        <p:spPr>
          <a:xfrm>
            <a:off x="4352544" y="233172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2331720"/>
            <a:ext cx="50292" cy="1325880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17136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697" y="258372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disconnected tools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17136" y="286207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context is fragmented across apps, subscriptions and manual handoffs.</a:t>
            </a:r>
            <a:endParaRPr lang="en-US" sz="1060" dirty="0"/>
          </a:p>
        </p:txBody>
      </p:sp>
      <p:sp>
        <p:nvSpPr>
          <p:cNvPr id="26" name="Shape 22"/>
          <p:cNvSpPr/>
          <p:nvPr/>
        </p:nvSpPr>
        <p:spPr>
          <a:xfrm>
            <a:off x="8083296" y="233172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83296" y="2331720"/>
            <a:ext cx="50292" cy="1325880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4449" y="2583729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59952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Existing system, new capability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86207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core platform must remain while AI, automation or mobile workflows are added.</a:t>
            </a:r>
            <a:endParaRPr lang="en-US" sz="1060" dirty="0"/>
          </a:p>
        </p:txBody>
      </p:sp>
      <p:sp>
        <p:nvSpPr>
          <p:cNvPr id="32" name="Shape 27"/>
          <p:cNvSpPr/>
          <p:nvPr/>
        </p:nvSpPr>
        <p:spPr>
          <a:xfrm>
            <a:off x="621792" y="388620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21792" y="3886200"/>
            <a:ext cx="50292" cy="1325880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45" y="4138209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98448" y="40142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/ residency need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86384" y="441655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Workloads or data must run in customer-controlled or sovereign environments.</a:t>
            </a:r>
            <a:endParaRPr lang="en-US" sz="1060" dirty="0"/>
          </a:p>
        </p:txBody>
      </p:sp>
      <p:sp>
        <p:nvSpPr>
          <p:cNvPr id="38" name="Shape 32"/>
          <p:cNvSpPr/>
          <p:nvPr/>
        </p:nvSpPr>
        <p:spPr>
          <a:xfrm>
            <a:off x="4352544" y="388620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352544" y="3886200"/>
            <a:ext cx="50292" cy="132588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17136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3697" y="4138209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29200" y="40142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Development capacity pressure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17136" y="441655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Internal teams must focus on differentiated product and customer experience.</a:t>
            </a:r>
            <a:endParaRPr lang="en-US" sz="1060" dirty="0"/>
          </a:p>
        </p:txBody>
      </p:sp>
      <p:sp>
        <p:nvSpPr>
          <p:cNvPr id="44" name="Shape 37"/>
          <p:cNvSpPr/>
          <p:nvPr/>
        </p:nvSpPr>
        <p:spPr>
          <a:xfrm>
            <a:off x="8083296" y="388620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083296" y="3886200"/>
            <a:ext cx="50292" cy="1325880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47888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4449" y="4138209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59952" y="40142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accountability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47888" y="441655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6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buyer gains a named team, SLA and evidence alongside code access.</a:t>
            </a:r>
            <a:endParaRPr lang="en-US" sz="1060" dirty="0"/>
          </a:p>
        </p:txBody>
      </p:sp>
      <p:sp>
        <p:nvSpPr>
          <p:cNvPr id="50" name="Shape 42"/>
          <p:cNvSpPr/>
          <p:nvPr/>
        </p:nvSpPr>
        <p:spPr>
          <a:xfrm>
            <a:off x="3017520" y="5669280"/>
            <a:ext cx="614476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36D4C0">
                <a:alpha val="70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3090672" y="5687568"/>
            <a:ext cx="599846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36D4C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· MID-MARKET · GROWTH SMB · SOFTWARE PARTNERS</a:t>
            </a:r>
            <a:endParaRPr lang="en-US" sz="8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JOURNEY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CONTROLLED PATH FROM DISCUSSION TO PRODUCTION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Prove value early; expand with evidence.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blueprint creates a precise capability bill of materials, target architecture, success measures, commercial model and release plan.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03504" y="2395728"/>
            <a:ext cx="2578608" cy="3127248"/>
          </a:xfrm>
          <a:prstGeom prst="roundRect">
            <a:avLst>
              <a:gd name="adj" fmla="val 638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804672" y="26151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5E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0–10</a:t>
            </a:r>
            <a:endParaRPr lang="en-US" sz="2400" dirty="0"/>
          </a:p>
        </p:txBody>
      </p:sp>
      <p:sp>
        <p:nvSpPr>
          <p:cNvPr id="16" name="Shape 14"/>
          <p:cNvSpPr/>
          <p:nvPr/>
        </p:nvSpPr>
        <p:spPr>
          <a:xfrm>
            <a:off x="950976" y="3191256"/>
            <a:ext cx="1883664" cy="0"/>
          </a:xfrm>
          <a:prstGeom prst="line">
            <a:avLst/>
          </a:prstGeom>
          <a:noFill/>
          <a:ln w="25400">
            <a:solidFill>
              <a:srgbClr val="45E2FF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 txBox="1"/>
          <p:nvPr/>
        </p:nvSpPr>
        <p:spPr>
          <a:xfrm>
            <a:off x="804672" y="34015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Outcome blueprint</a:t>
            </a:r>
            <a:endParaRPr lang="en-US" sz="1520" dirty="0"/>
          </a:p>
        </p:txBody>
      </p:sp>
      <p:sp>
        <p:nvSpPr>
          <p:cNvPr id="18" name="Text 16"/>
          <p:cNvSpPr txBox="1"/>
          <p:nvPr/>
        </p:nvSpPr>
        <p:spPr>
          <a:xfrm>
            <a:off x="877824" y="3986784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workflow · target outcome · integration map · capability BOM · deployment profile · value case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3200400" y="3822192"/>
            <a:ext cx="182880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38144" y="2395728"/>
            <a:ext cx="2578608" cy="3127248"/>
          </a:xfrm>
          <a:prstGeom prst="roundRect">
            <a:avLst>
              <a:gd name="adj" fmla="val 638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3639312" y="26151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B29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11–30</a:t>
            </a:r>
            <a:endParaRPr lang="en-US" sz="2400" dirty="0"/>
          </a:p>
        </p:txBody>
      </p:sp>
      <p:sp>
        <p:nvSpPr>
          <p:cNvPr id="22" name="Shape 20"/>
          <p:cNvSpPr/>
          <p:nvPr/>
        </p:nvSpPr>
        <p:spPr>
          <a:xfrm>
            <a:off x="3785616" y="3191256"/>
            <a:ext cx="1883664" cy="0"/>
          </a:xfrm>
          <a:prstGeom prst="line">
            <a:avLst/>
          </a:prstGeom>
          <a:noFill/>
          <a:ln w="25400">
            <a:solidFill>
              <a:srgbClr val="B29CFF"/>
            </a:solidFill>
            <a:prstDash val="solid"/>
            <a:headEnd type="none"/>
            <a:tailEnd type="none"/>
          </a:ln>
        </p:spPr>
      </p:sp>
      <p:sp>
        <p:nvSpPr>
          <p:cNvPr id="23" name="Text 21"/>
          <p:cNvSpPr txBox="1"/>
          <p:nvPr/>
        </p:nvSpPr>
        <p:spPr>
          <a:xfrm>
            <a:off x="3639312" y="34015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Working proof</a:t>
            </a:r>
            <a:endParaRPr lang="en-US" sz="1520" dirty="0"/>
          </a:p>
        </p:txBody>
      </p:sp>
      <p:sp>
        <p:nvSpPr>
          <p:cNvPr id="24" name="Text 22"/>
          <p:cNvSpPr txBox="1"/>
          <p:nvPr/>
        </p:nvSpPr>
        <p:spPr>
          <a:xfrm>
            <a:off x="3712464" y="3986784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Configured workflow · representative data · architecture validation · demo · decision log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6035040" y="3822192"/>
            <a:ext cx="182880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272784" y="2395728"/>
            <a:ext cx="2578608" cy="3127248"/>
          </a:xfrm>
          <a:prstGeom prst="roundRect">
            <a:avLst>
              <a:gd name="adj" fmla="val 638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Text 25"/>
          <p:cNvSpPr txBox="1"/>
          <p:nvPr/>
        </p:nvSpPr>
        <p:spPr>
          <a:xfrm>
            <a:off x="6473952" y="26151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4D8C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31–60</a:t>
            </a:r>
            <a:endParaRPr lang="en-US" sz="2400" dirty="0"/>
          </a:p>
        </p:txBody>
      </p:sp>
      <p:sp>
        <p:nvSpPr>
          <p:cNvPr id="28" name="Shape 26"/>
          <p:cNvSpPr/>
          <p:nvPr/>
        </p:nvSpPr>
        <p:spPr>
          <a:xfrm>
            <a:off x="6620256" y="3191256"/>
            <a:ext cx="1883664" cy="0"/>
          </a:xfrm>
          <a:prstGeom prst="line">
            <a:avLst/>
          </a:prstGeom>
          <a:noFill/>
          <a:ln w="25400">
            <a:solidFill>
              <a:srgbClr val="4D8CFF"/>
            </a:solidFill>
            <a:prstDash val="solid"/>
            <a:headEnd type="none"/>
            <a:tailEnd type="none"/>
          </a:ln>
        </p:spPr>
      </p:sp>
      <p:sp>
        <p:nvSpPr>
          <p:cNvPr id="29" name="Text 27"/>
          <p:cNvSpPr txBox="1"/>
          <p:nvPr/>
        </p:nvSpPr>
        <p:spPr>
          <a:xfrm>
            <a:off x="6473952" y="34015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Integrated pilot</a:t>
            </a:r>
            <a:endParaRPr lang="en-US" sz="1520" dirty="0"/>
          </a:p>
        </p:txBody>
      </p:sp>
      <p:sp>
        <p:nvSpPr>
          <p:cNvPr id="30" name="Text 28"/>
          <p:cNvSpPr txBox="1"/>
          <p:nvPr/>
        </p:nvSpPr>
        <p:spPr>
          <a:xfrm>
            <a:off x="6547104" y="3986784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systems · security review · test automation · UAT · operations rehearsal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8869680" y="3822192"/>
            <a:ext cx="182880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07424" y="2395728"/>
            <a:ext cx="2578608" cy="3127248"/>
          </a:xfrm>
          <a:prstGeom prst="roundRect">
            <a:avLst>
              <a:gd name="adj" fmla="val 6383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Text 31"/>
          <p:cNvSpPr txBox="1"/>
          <p:nvPr/>
        </p:nvSpPr>
        <p:spPr>
          <a:xfrm>
            <a:off x="9308592" y="2615184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52D6A4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61–90</a:t>
            </a:r>
            <a:endParaRPr lang="en-US" sz="2400" dirty="0"/>
          </a:p>
        </p:txBody>
      </p:sp>
      <p:sp>
        <p:nvSpPr>
          <p:cNvPr id="34" name="Shape 32"/>
          <p:cNvSpPr/>
          <p:nvPr/>
        </p:nvSpPr>
        <p:spPr>
          <a:xfrm>
            <a:off x="9454896" y="3191256"/>
            <a:ext cx="1883664" cy="0"/>
          </a:xfrm>
          <a:prstGeom prst="line">
            <a:avLst/>
          </a:prstGeom>
          <a:noFill/>
          <a:ln w="25400">
            <a:solidFill>
              <a:srgbClr val="52D6A4"/>
            </a:solidFill>
            <a:prstDash val="solid"/>
            <a:headEnd type="none"/>
            <a:tailEnd type="none"/>
          </a:ln>
        </p:spPr>
      </p:sp>
      <p:sp>
        <p:nvSpPr>
          <p:cNvPr id="35" name="Text 33"/>
          <p:cNvSpPr txBox="1"/>
          <p:nvPr/>
        </p:nvSpPr>
        <p:spPr>
          <a:xfrm>
            <a:off x="9308592" y="3401568"/>
            <a:ext cx="2176272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launch</a:t>
            </a:r>
            <a:endParaRPr lang="en-US" sz="1520" dirty="0"/>
          </a:p>
        </p:txBody>
      </p:sp>
      <p:sp>
        <p:nvSpPr>
          <p:cNvPr id="36" name="Text 34"/>
          <p:cNvSpPr txBox="1"/>
          <p:nvPr/>
        </p:nvSpPr>
        <p:spPr>
          <a:xfrm>
            <a:off x="9381744" y="3986784"/>
            <a:ext cx="2029968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release · cutover · hypercare · SLA · service review · expansion roadmap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1188720" y="5852160"/>
            <a:ext cx="98298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Typical target sequence. The blueprint establishes the committed schedule, dependencies and customer responsibilities.</a:t>
            </a:r>
            <a:endParaRPr lang="en-US" sz="105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BLUEPRINT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32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 CLAIMS MODERNIZATION OVERLAY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Preserve the core. Transform the journey around it.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can connect existing policy, claims, telephony and partner systems while adding digital intake, AI assistance, evidence, workflow and customer communication.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84632" y="2322576"/>
            <a:ext cx="1719072" cy="2011680"/>
          </a:xfrm>
          <a:prstGeom prst="roundRect">
            <a:avLst>
              <a:gd name="adj" fmla="val 851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088136" y="257860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211031" y="2701503"/>
            <a:ext cx="266273" cy="26627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649224" y="33832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intake</a:t>
            </a:r>
            <a:endParaRPr lang="en-US" sz="1250" dirty="0"/>
          </a:p>
        </p:txBody>
      </p:sp>
      <p:sp>
        <p:nvSpPr>
          <p:cNvPr id="18" name="Text 15"/>
          <p:cNvSpPr txBox="1"/>
          <p:nvPr/>
        </p:nvSpPr>
        <p:spPr>
          <a:xfrm>
            <a:off x="649224" y="37490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· mobile · voice · SMS</a:t>
            </a:r>
            <a:endParaRPr lang="en-US" sz="970" dirty="0"/>
          </a:p>
        </p:txBody>
      </p:sp>
      <p:sp>
        <p:nvSpPr>
          <p:cNvPr id="19" name="Shape 16"/>
          <p:cNvSpPr/>
          <p:nvPr/>
        </p:nvSpPr>
        <p:spPr>
          <a:xfrm>
            <a:off x="2212848" y="3419856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7"/>
          <p:cNvSpPr/>
          <p:nvPr/>
        </p:nvSpPr>
        <p:spPr>
          <a:xfrm>
            <a:off x="2423160" y="2322576"/>
            <a:ext cx="1719072" cy="2011680"/>
          </a:xfrm>
          <a:prstGeom prst="roundRect">
            <a:avLst>
              <a:gd name="adj" fmla="val 851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3026664" y="257860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2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49559" y="2701503"/>
            <a:ext cx="266273" cy="266273"/>
          </a:xfrm>
          <a:prstGeom prst="rect">
            <a:avLst/>
          </a:prstGeom>
        </p:spPr>
      </p:pic>
      <p:sp>
        <p:nvSpPr>
          <p:cNvPr id="23" name="Text 19"/>
          <p:cNvSpPr txBox="1"/>
          <p:nvPr/>
        </p:nvSpPr>
        <p:spPr>
          <a:xfrm>
            <a:off x="2587752" y="33832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1250" dirty="0"/>
          </a:p>
        </p:txBody>
      </p:sp>
      <p:sp>
        <p:nvSpPr>
          <p:cNvPr id="24" name="Text 20"/>
          <p:cNvSpPr txBox="1"/>
          <p:nvPr/>
        </p:nvSpPr>
        <p:spPr>
          <a:xfrm>
            <a:off x="2587752" y="37490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Images · video · documents · watermark</a:t>
            </a:r>
            <a:endParaRPr lang="en-US" sz="970" dirty="0"/>
          </a:p>
        </p:txBody>
      </p:sp>
      <p:sp>
        <p:nvSpPr>
          <p:cNvPr id="25" name="Shape 21"/>
          <p:cNvSpPr/>
          <p:nvPr/>
        </p:nvSpPr>
        <p:spPr>
          <a:xfrm>
            <a:off x="4151376" y="3419856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2"/>
          <p:cNvSpPr/>
          <p:nvPr/>
        </p:nvSpPr>
        <p:spPr>
          <a:xfrm>
            <a:off x="4361688" y="2322576"/>
            <a:ext cx="1719072" cy="2011680"/>
          </a:xfrm>
          <a:prstGeom prst="roundRect">
            <a:avLst>
              <a:gd name="adj" fmla="val 851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4965192" y="257860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088087" y="2701503"/>
            <a:ext cx="266273" cy="266273"/>
          </a:xfrm>
          <a:prstGeom prst="rect">
            <a:avLst/>
          </a:prstGeom>
        </p:spPr>
      </p:pic>
      <p:sp>
        <p:nvSpPr>
          <p:cNvPr id="29" name="Text 24"/>
          <p:cNvSpPr txBox="1"/>
          <p:nvPr/>
        </p:nvSpPr>
        <p:spPr>
          <a:xfrm>
            <a:off x="4526280" y="33832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&amp; consent</a:t>
            </a:r>
            <a:endParaRPr lang="en-US" sz="1250" dirty="0"/>
          </a:p>
        </p:txBody>
      </p:sp>
      <p:sp>
        <p:nvSpPr>
          <p:cNvPr id="30" name="Text 25"/>
          <p:cNvSpPr txBox="1"/>
          <p:nvPr/>
        </p:nvSpPr>
        <p:spPr>
          <a:xfrm>
            <a:off x="4526280" y="37490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Claimant · policy · purpose · access</a:t>
            </a:r>
            <a:endParaRPr lang="en-US" sz="970" dirty="0"/>
          </a:p>
        </p:txBody>
      </p:sp>
      <p:sp>
        <p:nvSpPr>
          <p:cNvPr id="31" name="Shape 26"/>
          <p:cNvSpPr/>
          <p:nvPr/>
        </p:nvSpPr>
        <p:spPr>
          <a:xfrm>
            <a:off x="6089904" y="3419856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27"/>
          <p:cNvSpPr/>
          <p:nvPr/>
        </p:nvSpPr>
        <p:spPr>
          <a:xfrm>
            <a:off x="6300216" y="2322576"/>
            <a:ext cx="1719072" cy="2011680"/>
          </a:xfrm>
          <a:prstGeom prst="roundRect">
            <a:avLst>
              <a:gd name="adj" fmla="val 851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903720" y="257860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3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7026615" y="2701503"/>
            <a:ext cx="266273" cy="266273"/>
          </a:xfrm>
          <a:prstGeom prst="rect">
            <a:avLst/>
          </a:prstGeom>
        </p:spPr>
      </p:pic>
      <p:sp>
        <p:nvSpPr>
          <p:cNvPr id="35" name="Text 29"/>
          <p:cNvSpPr txBox="1"/>
          <p:nvPr/>
        </p:nvSpPr>
        <p:spPr>
          <a:xfrm>
            <a:off x="6464808" y="33832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assistance</a:t>
            </a:r>
            <a:endParaRPr lang="en-US" sz="1250" dirty="0"/>
          </a:p>
        </p:txBody>
      </p:sp>
      <p:sp>
        <p:nvSpPr>
          <p:cNvPr id="36" name="Text 30"/>
          <p:cNvSpPr txBox="1"/>
          <p:nvPr/>
        </p:nvSpPr>
        <p:spPr>
          <a:xfrm>
            <a:off x="6464808" y="37490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Classification · extraction · summarization</a:t>
            </a:r>
            <a:endParaRPr lang="en-US" sz="970" dirty="0"/>
          </a:p>
        </p:txBody>
      </p:sp>
      <p:sp>
        <p:nvSpPr>
          <p:cNvPr id="37" name="Shape 31"/>
          <p:cNvSpPr/>
          <p:nvPr/>
        </p:nvSpPr>
        <p:spPr>
          <a:xfrm>
            <a:off x="8028432" y="3419856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8" name="Shape 32"/>
          <p:cNvSpPr/>
          <p:nvPr/>
        </p:nvSpPr>
        <p:spPr>
          <a:xfrm>
            <a:off x="8238744" y="2322576"/>
            <a:ext cx="1719072" cy="2011680"/>
          </a:xfrm>
          <a:prstGeom prst="roundRect">
            <a:avLst>
              <a:gd name="adj" fmla="val 851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8842248" y="257860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40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965143" y="2701503"/>
            <a:ext cx="266273" cy="266273"/>
          </a:xfrm>
          <a:prstGeom prst="rect">
            <a:avLst/>
          </a:prstGeom>
        </p:spPr>
      </p:pic>
      <p:sp>
        <p:nvSpPr>
          <p:cNvPr id="41" name="Text 34"/>
          <p:cNvSpPr txBox="1"/>
          <p:nvPr/>
        </p:nvSpPr>
        <p:spPr>
          <a:xfrm>
            <a:off x="8403336" y="33832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1250" dirty="0"/>
          </a:p>
        </p:txBody>
      </p:sp>
      <p:sp>
        <p:nvSpPr>
          <p:cNvPr id="42" name="Text 35"/>
          <p:cNvSpPr txBox="1"/>
          <p:nvPr/>
        </p:nvSpPr>
        <p:spPr>
          <a:xfrm>
            <a:off x="8403336" y="37490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Review · approval · partner handoff</a:t>
            </a:r>
            <a:endParaRPr lang="en-US" sz="970" dirty="0"/>
          </a:p>
        </p:txBody>
      </p:sp>
      <p:sp>
        <p:nvSpPr>
          <p:cNvPr id="43" name="Shape 36"/>
          <p:cNvSpPr/>
          <p:nvPr/>
        </p:nvSpPr>
        <p:spPr>
          <a:xfrm>
            <a:off x="9966960" y="3419856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44" name="Shape 37"/>
          <p:cNvSpPr/>
          <p:nvPr/>
        </p:nvSpPr>
        <p:spPr>
          <a:xfrm>
            <a:off x="10177272" y="2322576"/>
            <a:ext cx="1719072" cy="2011680"/>
          </a:xfrm>
          <a:prstGeom prst="roundRect">
            <a:avLst>
              <a:gd name="adj" fmla="val 851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10780776" y="2578608"/>
            <a:ext cx="512064" cy="512064"/>
          </a:xfrm>
          <a:prstGeom prst="roundRect">
            <a:avLst>
              <a:gd name="adj" fmla="val 32143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6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0903671" y="2701503"/>
            <a:ext cx="266273" cy="266273"/>
          </a:xfrm>
          <a:prstGeom prst="rect">
            <a:avLst/>
          </a:prstGeom>
        </p:spPr>
      </p:pic>
      <p:sp>
        <p:nvSpPr>
          <p:cNvPr id="47" name="Text 39"/>
          <p:cNvSpPr txBox="1"/>
          <p:nvPr/>
        </p:nvSpPr>
        <p:spPr>
          <a:xfrm>
            <a:off x="10341864" y="3383280"/>
            <a:ext cx="138988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Settlement</a:t>
            </a:r>
            <a:endParaRPr lang="en-US" sz="1250" dirty="0"/>
          </a:p>
        </p:txBody>
      </p:sp>
      <p:sp>
        <p:nvSpPr>
          <p:cNvPr id="48" name="Text 40"/>
          <p:cNvSpPr txBox="1"/>
          <p:nvPr/>
        </p:nvSpPr>
        <p:spPr>
          <a:xfrm>
            <a:off x="10341864" y="3749040"/>
            <a:ext cx="138988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Notification · payment · audit evidence</a:t>
            </a:r>
            <a:endParaRPr lang="en-US" sz="970" dirty="0"/>
          </a:p>
        </p:txBody>
      </p:sp>
      <p:sp>
        <p:nvSpPr>
          <p:cNvPr id="49" name="Shape 41"/>
          <p:cNvSpPr/>
          <p:nvPr/>
        </p:nvSpPr>
        <p:spPr>
          <a:xfrm>
            <a:off x="621792" y="4681728"/>
            <a:ext cx="5266944" cy="1078992"/>
          </a:xfrm>
          <a:prstGeom prst="roundRect">
            <a:avLst>
              <a:gd name="adj" fmla="val 15254"/>
            </a:avLst>
          </a:prstGeom>
          <a:solidFill>
            <a:srgbClr val="11253A"/>
          </a:solidFill>
          <a:ln w="12700">
            <a:solidFill>
              <a:srgbClr val="4D8CFF">
                <a:alpha val="65000"/>
              </a:srgbClr>
            </a:solidFill>
            <a:prstDash val="solid"/>
          </a:ln>
        </p:spPr>
      </p:sp>
      <p:sp>
        <p:nvSpPr>
          <p:cNvPr id="50" name="Text 42"/>
          <p:cNvSpPr txBox="1"/>
          <p:nvPr/>
        </p:nvSpPr>
        <p:spPr>
          <a:xfrm>
            <a:off x="896112" y="4892040"/>
            <a:ext cx="2423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Suggested capability composition</a:t>
            </a:r>
            <a:endParaRPr lang="en-US" sz="1250" dirty="0"/>
          </a:p>
        </p:txBody>
      </p:sp>
      <p:sp>
        <p:nvSpPr>
          <p:cNvPr id="51" name="Text 43"/>
          <p:cNvSpPr txBox="1"/>
          <p:nvPr/>
        </p:nvSpPr>
        <p:spPr>
          <a:xfrm>
            <a:off x="896112" y="5257800"/>
            <a:ext cx="4608576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consent · media · OCR/AI gateway · workflow · notifications · payments · audit</a:t>
            </a:r>
            <a:endParaRPr lang="en-US" sz="1070" dirty="0"/>
          </a:p>
        </p:txBody>
      </p:sp>
      <p:sp>
        <p:nvSpPr>
          <p:cNvPr id="52" name="Shape 44"/>
          <p:cNvSpPr/>
          <p:nvPr/>
        </p:nvSpPr>
        <p:spPr>
          <a:xfrm>
            <a:off x="6172200" y="4681728"/>
            <a:ext cx="5266944" cy="1078992"/>
          </a:xfrm>
          <a:prstGeom prst="roundRect">
            <a:avLst>
              <a:gd name="adj" fmla="val 1525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3" name="Text 45"/>
          <p:cNvSpPr txBox="1"/>
          <p:nvPr/>
        </p:nvSpPr>
        <p:spPr>
          <a:xfrm>
            <a:off x="6446520" y="489204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value</a:t>
            </a:r>
            <a:endParaRPr lang="en-US" sz="1250" dirty="0"/>
          </a:p>
        </p:txBody>
      </p:sp>
      <p:sp>
        <p:nvSpPr>
          <p:cNvPr id="54" name="Text 46"/>
          <p:cNvSpPr txBox="1"/>
          <p:nvPr/>
        </p:nvSpPr>
        <p:spPr>
          <a:xfrm>
            <a:off x="6446520" y="5230368"/>
            <a:ext cx="460857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Less manual re-keying · faster claim cycle · stronger evidence · consistent partner integration · improved claimant experience</a:t>
            </a:r>
            <a:endParaRPr lang="en-US" sz="107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BLUEPRINT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CONTRACTOR AND FIELD-SERVICE OPERATING SYSTEM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From lead to cash in one connected workflow.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tailored application can unify CRM, estimating, dispatch, field capture, customer approvals, invoicing and payment—while remaining owned and extensible by the business.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493776" y="2468880"/>
            <a:ext cx="1719072" cy="1408176"/>
          </a:xfrm>
          <a:prstGeom prst="roundRect">
            <a:avLst>
              <a:gd name="adj" fmla="val 1039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640080" y="26334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950" dirty="0"/>
          </a:p>
        </p:txBody>
      </p:sp>
      <p:sp>
        <p:nvSpPr>
          <p:cNvPr id="16" name="Text 14"/>
          <p:cNvSpPr txBox="1"/>
          <p:nvPr/>
        </p:nvSpPr>
        <p:spPr>
          <a:xfrm>
            <a:off x="640080" y="29169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33192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· campaign · scoring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2231136" y="3172968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2432304" y="2468880"/>
            <a:ext cx="1719072" cy="1408176"/>
          </a:xfrm>
          <a:prstGeom prst="roundRect">
            <a:avLst>
              <a:gd name="adj" fmla="val 1039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0" name="Text 18"/>
          <p:cNvSpPr txBox="1"/>
          <p:nvPr/>
        </p:nvSpPr>
        <p:spPr>
          <a:xfrm>
            <a:off x="2578608" y="26334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2578608" y="29169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2578608" y="33192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Geo · measure · pricing</a:t>
            </a:r>
            <a:endParaRPr lang="en-US" sz="950" dirty="0"/>
          </a:p>
        </p:txBody>
      </p:sp>
      <p:sp>
        <p:nvSpPr>
          <p:cNvPr id="23" name="Shape 21"/>
          <p:cNvSpPr/>
          <p:nvPr/>
        </p:nvSpPr>
        <p:spPr>
          <a:xfrm>
            <a:off x="4169664" y="3172968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370832" y="2468880"/>
            <a:ext cx="1719072" cy="1408176"/>
          </a:xfrm>
          <a:prstGeom prst="roundRect">
            <a:avLst>
              <a:gd name="adj" fmla="val 1039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5" name="Text 23"/>
          <p:cNvSpPr txBox="1"/>
          <p:nvPr/>
        </p:nvSpPr>
        <p:spPr>
          <a:xfrm>
            <a:off x="4517136" y="26334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950" dirty="0"/>
          </a:p>
        </p:txBody>
      </p:sp>
      <p:sp>
        <p:nvSpPr>
          <p:cNvPr id="26" name="Text 24"/>
          <p:cNvSpPr txBox="1"/>
          <p:nvPr/>
        </p:nvSpPr>
        <p:spPr>
          <a:xfrm>
            <a:off x="4517136" y="29169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</a:t>
            </a:r>
            <a:endParaRPr lang="en-US" sz="1400" dirty="0"/>
          </a:p>
        </p:txBody>
      </p:sp>
      <p:sp>
        <p:nvSpPr>
          <p:cNvPr id="27" name="Text 25"/>
          <p:cNvSpPr txBox="1"/>
          <p:nvPr/>
        </p:nvSpPr>
        <p:spPr>
          <a:xfrm>
            <a:off x="4517136" y="33192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request · dispatch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6108192" y="3172968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6309360" y="2468880"/>
            <a:ext cx="1719072" cy="1408176"/>
          </a:xfrm>
          <a:prstGeom prst="roundRect">
            <a:avLst>
              <a:gd name="adj" fmla="val 1039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0" name="Text 28"/>
          <p:cNvSpPr txBox="1"/>
          <p:nvPr/>
        </p:nvSpPr>
        <p:spPr>
          <a:xfrm>
            <a:off x="6455664" y="26334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F9A6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950" dirty="0"/>
          </a:p>
        </p:txBody>
      </p:sp>
      <p:sp>
        <p:nvSpPr>
          <p:cNvPr id="31" name="Text 29"/>
          <p:cNvSpPr txBox="1"/>
          <p:nvPr/>
        </p:nvSpPr>
        <p:spPr>
          <a:xfrm>
            <a:off x="6455664" y="29169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Perform</a:t>
            </a:r>
            <a:endParaRPr lang="en-US" sz="1400" dirty="0"/>
          </a:p>
        </p:txBody>
      </p:sp>
      <p:sp>
        <p:nvSpPr>
          <p:cNvPr id="32" name="Text 30"/>
          <p:cNvSpPr txBox="1"/>
          <p:nvPr/>
        </p:nvSpPr>
        <p:spPr>
          <a:xfrm>
            <a:off x="6455664" y="33192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· camera · scanner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8046720" y="3172968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4" name="Shape 32"/>
          <p:cNvSpPr/>
          <p:nvPr/>
        </p:nvSpPr>
        <p:spPr>
          <a:xfrm>
            <a:off x="8247888" y="2468880"/>
            <a:ext cx="1719072" cy="1408176"/>
          </a:xfrm>
          <a:prstGeom prst="roundRect">
            <a:avLst>
              <a:gd name="adj" fmla="val 1039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5" name="Text 33"/>
          <p:cNvSpPr txBox="1"/>
          <p:nvPr/>
        </p:nvSpPr>
        <p:spPr>
          <a:xfrm>
            <a:off x="8394192" y="26334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05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394192" y="29169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Prove</a:t>
            </a:r>
            <a:endParaRPr lang="en-US" sz="1400" dirty="0"/>
          </a:p>
        </p:txBody>
      </p:sp>
      <p:sp>
        <p:nvSpPr>
          <p:cNvPr id="37" name="Text 35"/>
          <p:cNvSpPr txBox="1"/>
          <p:nvPr/>
        </p:nvSpPr>
        <p:spPr>
          <a:xfrm>
            <a:off x="8394192" y="33192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Watermark · evidence · approval</a:t>
            </a:r>
            <a:endParaRPr lang="en-US" sz="950" dirty="0"/>
          </a:p>
        </p:txBody>
      </p:sp>
      <p:sp>
        <p:nvSpPr>
          <p:cNvPr id="38" name="Shape 36"/>
          <p:cNvSpPr/>
          <p:nvPr/>
        </p:nvSpPr>
        <p:spPr>
          <a:xfrm>
            <a:off x="9985248" y="3172968"/>
            <a:ext cx="15544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9" name="Shape 37"/>
          <p:cNvSpPr/>
          <p:nvPr/>
        </p:nvSpPr>
        <p:spPr>
          <a:xfrm>
            <a:off x="10186416" y="2468880"/>
            <a:ext cx="1719072" cy="1408176"/>
          </a:xfrm>
          <a:prstGeom prst="roundRect">
            <a:avLst>
              <a:gd name="adj" fmla="val 10390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0" name="Text 38"/>
          <p:cNvSpPr txBox="1"/>
          <p:nvPr/>
        </p:nvSpPr>
        <p:spPr>
          <a:xfrm>
            <a:off x="10332720" y="2633472"/>
            <a:ext cx="31089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06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10332720" y="2916936"/>
            <a:ext cx="142646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Collect</a:t>
            </a:r>
            <a:endParaRPr lang="en-US" sz="1400" dirty="0"/>
          </a:p>
        </p:txBody>
      </p:sp>
      <p:sp>
        <p:nvSpPr>
          <p:cNvPr id="42" name="Text 40"/>
          <p:cNvSpPr txBox="1"/>
          <p:nvPr/>
        </p:nvSpPr>
        <p:spPr>
          <a:xfrm>
            <a:off x="10332720" y="3319272"/>
            <a:ext cx="142646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 · payment · notification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621792" y="4352544"/>
            <a:ext cx="2542032" cy="1188720"/>
          </a:xfrm>
          <a:prstGeom prst="roundRect">
            <a:avLst>
              <a:gd name="adj" fmla="val 1307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4" name="Shape 42"/>
          <p:cNvSpPr/>
          <p:nvPr/>
        </p:nvSpPr>
        <p:spPr>
          <a:xfrm>
            <a:off x="621792" y="4352544"/>
            <a:ext cx="50292" cy="1188720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786384" y="45079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4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4604553"/>
            <a:ext cx="209215" cy="209215"/>
          </a:xfrm>
          <a:prstGeom prst="rect">
            <a:avLst/>
          </a:prstGeom>
        </p:spPr>
      </p:pic>
      <p:sp>
        <p:nvSpPr>
          <p:cNvPr id="47" name="Text 44"/>
          <p:cNvSpPr txBox="1"/>
          <p:nvPr/>
        </p:nvSpPr>
        <p:spPr>
          <a:xfrm>
            <a:off x="1298448" y="448056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customer record</a:t>
            </a:r>
            <a:endParaRPr lang="en-US" sz="1450" dirty="0"/>
          </a:p>
        </p:txBody>
      </p:sp>
      <p:sp>
        <p:nvSpPr>
          <p:cNvPr id="48" name="Text 45"/>
          <p:cNvSpPr txBox="1"/>
          <p:nvPr/>
        </p:nvSpPr>
        <p:spPr>
          <a:xfrm>
            <a:off x="786384" y="488289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interaction and job connected.</a:t>
            </a:r>
            <a:endParaRPr lang="en-US" sz="980" dirty="0"/>
          </a:p>
        </p:txBody>
      </p:sp>
      <p:sp>
        <p:nvSpPr>
          <p:cNvPr id="49" name="Shape 46"/>
          <p:cNvSpPr/>
          <p:nvPr/>
        </p:nvSpPr>
        <p:spPr>
          <a:xfrm>
            <a:off x="3438144" y="4352544"/>
            <a:ext cx="2542032" cy="1188720"/>
          </a:xfrm>
          <a:prstGeom prst="roundRect">
            <a:avLst>
              <a:gd name="adj" fmla="val 1307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0" name="Shape 47"/>
          <p:cNvSpPr/>
          <p:nvPr/>
        </p:nvSpPr>
        <p:spPr>
          <a:xfrm>
            <a:off x="3438144" y="4352544"/>
            <a:ext cx="50292" cy="1188720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51" name="Shape 48"/>
          <p:cNvSpPr/>
          <p:nvPr/>
        </p:nvSpPr>
        <p:spPr>
          <a:xfrm>
            <a:off x="3602736" y="45079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52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699297" y="4604553"/>
            <a:ext cx="209215" cy="209215"/>
          </a:xfrm>
          <a:prstGeom prst="rect">
            <a:avLst/>
          </a:prstGeom>
        </p:spPr>
      </p:pic>
      <p:sp>
        <p:nvSpPr>
          <p:cNvPr id="53" name="Text 49"/>
          <p:cNvSpPr txBox="1"/>
          <p:nvPr/>
        </p:nvSpPr>
        <p:spPr>
          <a:xfrm>
            <a:off x="4114800" y="448056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field experience</a:t>
            </a:r>
            <a:endParaRPr lang="en-US" sz="1450" dirty="0"/>
          </a:p>
        </p:txBody>
      </p:sp>
      <p:sp>
        <p:nvSpPr>
          <p:cNvPr id="54" name="Text 50"/>
          <p:cNvSpPr txBox="1"/>
          <p:nvPr/>
        </p:nvSpPr>
        <p:spPr>
          <a:xfrm>
            <a:off x="3602736" y="488289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Offline-aware mobile capture and sync.</a:t>
            </a:r>
            <a:endParaRPr lang="en-US" sz="980" dirty="0"/>
          </a:p>
        </p:txBody>
      </p:sp>
      <p:sp>
        <p:nvSpPr>
          <p:cNvPr id="55" name="Shape 51"/>
          <p:cNvSpPr/>
          <p:nvPr/>
        </p:nvSpPr>
        <p:spPr>
          <a:xfrm>
            <a:off x="6254496" y="4352544"/>
            <a:ext cx="2542032" cy="1188720"/>
          </a:xfrm>
          <a:prstGeom prst="roundRect">
            <a:avLst>
              <a:gd name="adj" fmla="val 1307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56" name="Shape 52"/>
          <p:cNvSpPr/>
          <p:nvPr/>
        </p:nvSpPr>
        <p:spPr>
          <a:xfrm>
            <a:off x="6254496" y="4352544"/>
            <a:ext cx="50292" cy="1188720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57" name="Shape 53"/>
          <p:cNvSpPr/>
          <p:nvPr/>
        </p:nvSpPr>
        <p:spPr>
          <a:xfrm>
            <a:off x="6419088" y="45079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58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6515649" y="4604553"/>
            <a:ext cx="209215" cy="209215"/>
          </a:xfrm>
          <a:prstGeom prst="rect">
            <a:avLst/>
          </a:prstGeom>
        </p:spPr>
      </p:pic>
      <p:sp>
        <p:nvSpPr>
          <p:cNvPr id="59" name="Text 54"/>
          <p:cNvSpPr txBox="1"/>
          <p:nvPr/>
        </p:nvSpPr>
        <p:spPr>
          <a:xfrm>
            <a:off x="6931152" y="448056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evidence trail</a:t>
            </a:r>
            <a:endParaRPr lang="en-US" sz="1450" dirty="0"/>
          </a:p>
        </p:txBody>
      </p:sp>
      <p:sp>
        <p:nvSpPr>
          <p:cNvPr id="60" name="Text 55"/>
          <p:cNvSpPr txBox="1"/>
          <p:nvPr/>
        </p:nvSpPr>
        <p:spPr>
          <a:xfrm>
            <a:off x="6419088" y="488289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Time, location, media, approval and audit.</a:t>
            </a:r>
            <a:endParaRPr lang="en-US" sz="980" dirty="0"/>
          </a:p>
        </p:txBody>
      </p:sp>
      <p:sp>
        <p:nvSpPr>
          <p:cNvPr id="61" name="Shape 56"/>
          <p:cNvSpPr/>
          <p:nvPr/>
        </p:nvSpPr>
        <p:spPr>
          <a:xfrm>
            <a:off x="9070848" y="4352544"/>
            <a:ext cx="2542032" cy="1188720"/>
          </a:xfrm>
          <a:prstGeom prst="roundRect">
            <a:avLst>
              <a:gd name="adj" fmla="val 13077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2" name="Shape 57"/>
          <p:cNvSpPr/>
          <p:nvPr/>
        </p:nvSpPr>
        <p:spPr>
          <a:xfrm>
            <a:off x="9070848" y="4352544"/>
            <a:ext cx="50292" cy="118872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63" name="Shape 58"/>
          <p:cNvSpPr/>
          <p:nvPr/>
        </p:nvSpPr>
        <p:spPr>
          <a:xfrm>
            <a:off x="9235440" y="450799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64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9332001" y="4604553"/>
            <a:ext cx="209215" cy="209215"/>
          </a:xfrm>
          <a:prstGeom prst="rect">
            <a:avLst/>
          </a:prstGeom>
        </p:spPr>
      </p:pic>
      <p:sp>
        <p:nvSpPr>
          <p:cNvPr id="65" name="Text 59"/>
          <p:cNvSpPr txBox="1"/>
          <p:nvPr/>
        </p:nvSpPr>
        <p:spPr>
          <a:xfrm>
            <a:off x="9747504" y="4480560"/>
            <a:ext cx="17190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revenue loop</a:t>
            </a:r>
            <a:endParaRPr lang="en-US" sz="1450" dirty="0"/>
          </a:p>
        </p:txBody>
      </p:sp>
      <p:sp>
        <p:nvSpPr>
          <p:cNvPr id="66" name="Text 60"/>
          <p:cNvSpPr txBox="1"/>
          <p:nvPr/>
        </p:nvSpPr>
        <p:spPr>
          <a:xfrm>
            <a:off x="9235440" y="4882896"/>
            <a:ext cx="22128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Quote, invoice, payment and follow-up.</a:t>
            </a:r>
            <a:endParaRPr lang="en-US" sz="98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BLUEPRINT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 AND PROVIDER-NETWORK WORKFLOW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Move quickly while keeping sensitive data and purpose controls close.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can run identity, consent, secure data, workflow and AI capabilities in a customer-controlled environment, integrating with existing clinical and administrative systems.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286000"/>
            <a:ext cx="3657600" cy="3401568"/>
          </a:xfrm>
          <a:prstGeom prst="roundRect">
            <a:avLst>
              <a:gd name="adj" fmla="val 5108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5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874520" y="2651760"/>
            <a:ext cx="1170432" cy="1170432"/>
          </a:xfrm>
          <a:prstGeom prst="rect">
            <a:avLst/>
          </a:prstGeom>
        </p:spPr>
      </p:pic>
      <p:sp>
        <p:nvSpPr>
          <p:cNvPr id="16" name="Text 13"/>
          <p:cNvSpPr txBox="1"/>
          <p:nvPr/>
        </p:nvSpPr>
        <p:spPr>
          <a:xfrm>
            <a:off x="1188720" y="4005072"/>
            <a:ext cx="2523744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CLOUD</a:t>
            </a:r>
            <a:endParaRPr lang="en-US" sz="1500" dirty="0"/>
          </a:p>
        </p:txBody>
      </p:sp>
      <p:sp>
        <p:nvSpPr>
          <p:cNvPr id="17" name="Shape 14"/>
          <p:cNvSpPr/>
          <p:nvPr/>
        </p:nvSpPr>
        <p:spPr>
          <a:xfrm>
            <a:off x="1115568" y="4498848"/>
            <a:ext cx="1325880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1188720" y="4517136"/>
            <a:ext cx="117957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PRIVATE NETWORK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2578608" y="4498848"/>
            <a:ext cx="786384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2651760" y="4517136"/>
            <a:ext cx="640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BYOK</a:t>
            </a:r>
            <a:endParaRPr lang="en-US" sz="850" dirty="0"/>
          </a:p>
        </p:txBody>
      </p:sp>
      <p:sp>
        <p:nvSpPr>
          <p:cNvPr id="21" name="Shape 18"/>
          <p:cNvSpPr/>
          <p:nvPr/>
        </p:nvSpPr>
        <p:spPr>
          <a:xfrm>
            <a:off x="1426464" y="4992624"/>
            <a:ext cx="1143000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499616" y="5010912"/>
            <a:ext cx="99669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RESIDENCY</a:t>
            </a:r>
            <a:endParaRPr lang="en-US" sz="850" dirty="0"/>
          </a:p>
        </p:txBody>
      </p:sp>
      <p:sp>
        <p:nvSpPr>
          <p:cNvPr id="23" name="Shape 20"/>
          <p:cNvSpPr/>
          <p:nvPr/>
        </p:nvSpPr>
        <p:spPr>
          <a:xfrm>
            <a:off x="2688336" y="4992624"/>
            <a:ext cx="841248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2761488" y="5010912"/>
            <a:ext cx="6949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</a:t>
            </a:r>
            <a:endParaRPr lang="en-US" sz="850" dirty="0"/>
          </a:p>
        </p:txBody>
      </p:sp>
      <p:sp>
        <p:nvSpPr>
          <p:cNvPr id="25" name="Shape 22"/>
          <p:cNvSpPr/>
          <p:nvPr/>
        </p:nvSpPr>
        <p:spPr>
          <a:xfrm>
            <a:off x="4645152" y="2286000"/>
            <a:ext cx="3108960" cy="941832"/>
          </a:xfrm>
          <a:prstGeom prst="roundRect">
            <a:avLst>
              <a:gd name="adj" fmla="val 1650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6" name="Shape 23"/>
          <p:cNvSpPr/>
          <p:nvPr/>
        </p:nvSpPr>
        <p:spPr>
          <a:xfrm>
            <a:off x="4645152" y="2286000"/>
            <a:ext cx="50292" cy="94183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7" name="Shape 24"/>
          <p:cNvSpPr/>
          <p:nvPr/>
        </p:nvSpPr>
        <p:spPr>
          <a:xfrm>
            <a:off x="4809744" y="24414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8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906305" y="2538009"/>
            <a:ext cx="209215" cy="209215"/>
          </a:xfrm>
          <a:prstGeom prst="rect">
            <a:avLst/>
          </a:prstGeom>
        </p:spPr>
      </p:pic>
      <p:sp>
        <p:nvSpPr>
          <p:cNvPr id="29" name="Text 25"/>
          <p:cNvSpPr txBox="1"/>
          <p:nvPr/>
        </p:nvSpPr>
        <p:spPr>
          <a:xfrm>
            <a:off x="5321808" y="24140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Patient / member identity</a:t>
            </a:r>
            <a:endParaRPr lang="en-US" sz="1450" dirty="0"/>
          </a:p>
        </p:txBody>
      </p:sp>
      <p:sp>
        <p:nvSpPr>
          <p:cNvPr id="30" name="Text 26"/>
          <p:cNvSpPr txBox="1"/>
          <p:nvPr/>
        </p:nvSpPr>
        <p:spPr>
          <a:xfrm>
            <a:off x="4809744" y="2816352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resolution and relationship-aware access.</a:t>
            </a:r>
            <a:endParaRPr lang="en-US" sz="930" dirty="0"/>
          </a:p>
        </p:txBody>
      </p:sp>
      <p:sp>
        <p:nvSpPr>
          <p:cNvPr id="31" name="Shape 27"/>
          <p:cNvSpPr/>
          <p:nvPr/>
        </p:nvSpPr>
        <p:spPr>
          <a:xfrm>
            <a:off x="8046720" y="2286000"/>
            <a:ext cx="3108960" cy="941832"/>
          </a:xfrm>
          <a:prstGeom prst="roundRect">
            <a:avLst>
              <a:gd name="adj" fmla="val 1650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2" name="Shape 28"/>
          <p:cNvSpPr/>
          <p:nvPr/>
        </p:nvSpPr>
        <p:spPr>
          <a:xfrm>
            <a:off x="8046720" y="2286000"/>
            <a:ext cx="50292" cy="94183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3" name="Shape 29"/>
          <p:cNvSpPr/>
          <p:nvPr/>
        </p:nvSpPr>
        <p:spPr>
          <a:xfrm>
            <a:off x="8211312" y="24414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34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07873" y="2538009"/>
            <a:ext cx="209215" cy="209215"/>
          </a:xfrm>
          <a:prstGeom prst="rect">
            <a:avLst/>
          </a:prstGeom>
        </p:spPr>
      </p:pic>
      <p:sp>
        <p:nvSpPr>
          <p:cNvPr id="35" name="Text 30"/>
          <p:cNvSpPr txBox="1"/>
          <p:nvPr/>
        </p:nvSpPr>
        <p:spPr>
          <a:xfrm>
            <a:off x="8723376" y="2414016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Consent &amp; purpose</a:t>
            </a:r>
            <a:endParaRPr lang="en-US" sz="1450" dirty="0"/>
          </a:p>
        </p:txBody>
      </p:sp>
      <p:sp>
        <p:nvSpPr>
          <p:cNvPr id="36" name="Text 31"/>
          <p:cNvSpPr txBox="1"/>
          <p:nvPr/>
        </p:nvSpPr>
        <p:spPr>
          <a:xfrm>
            <a:off x="8211312" y="2816352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Purpose-bound processing and revocation evidence.</a:t>
            </a:r>
            <a:endParaRPr lang="en-US" sz="930" dirty="0"/>
          </a:p>
        </p:txBody>
      </p:sp>
      <p:sp>
        <p:nvSpPr>
          <p:cNvPr id="37" name="Shape 32"/>
          <p:cNvSpPr/>
          <p:nvPr/>
        </p:nvSpPr>
        <p:spPr>
          <a:xfrm>
            <a:off x="4645152" y="3410712"/>
            <a:ext cx="3108960" cy="941832"/>
          </a:xfrm>
          <a:prstGeom prst="roundRect">
            <a:avLst>
              <a:gd name="adj" fmla="val 1650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8" name="Shape 33"/>
          <p:cNvSpPr/>
          <p:nvPr/>
        </p:nvSpPr>
        <p:spPr>
          <a:xfrm>
            <a:off x="4645152" y="3410712"/>
            <a:ext cx="50292" cy="941832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9" name="Shape 34"/>
          <p:cNvSpPr/>
          <p:nvPr/>
        </p:nvSpPr>
        <p:spPr>
          <a:xfrm>
            <a:off x="4809744" y="356616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0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906305" y="3662721"/>
            <a:ext cx="209215" cy="209215"/>
          </a:xfrm>
          <a:prstGeom prst="rect">
            <a:avLst/>
          </a:prstGeom>
        </p:spPr>
      </p:pic>
      <p:sp>
        <p:nvSpPr>
          <p:cNvPr id="41" name="Text 35"/>
          <p:cNvSpPr txBox="1"/>
          <p:nvPr/>
        </p:nvSpPr>
        <p:spPr>
          <a:xfrm>
            <a:off x="5321808" y="3538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intake</a:t>
            </a:r>
            <a:endParaRPr lang="en-US" sz="1450" dirty="0"/>
          </a:p>
        </p:txBody>
      </p:sp>
      <p:sp>
        <p:nvSpPr>
          <p:cNvPr id="42" name="Text 36"/>
          <p:cNvSpPr txBox="1"/>
          <p:nvPr/>
        </p:nvSpPr>
        <p:spPr>
          <a:xfrm>
            <a:off x="4809744" y="3941064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Capture, classify, extract and route securely.</a:t>
            </a:r>
            <a:endParaRPr lang="en-US" sz="930" dirty="0"/>
          </a:p>
        </p:txBody>
      </p:sp>
      <p:sp>
        <p:nvSpPr>
          <p:cNvPr id="43" name="Shape 37"/>
          <p:cNvSpPr/>
          <p:nvPr/>
        </p:nvSpPr>
        <p:spPr>
          <a:xfrm>
            <a:off x="8046720" y="3410712"/>
            <a:ext cx="3108960" cy="941832"/>
          </a:xfrm>
          <a:prstGeom prst="roundRect">
            <a:avLst>
              <a:gd name="adj" fmla="val 1650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44" name="Shape 38"/>
          <p:cNvSpPr/>
          <p:nvPr/>
        </p:nvSpPr>
        <p:spPr>
          <a:xfrm>
            <a:off x="8046720" y="3410712"/>
            <a:ext cx="50292" cy="94183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5" name="Shape 39"/>
          <p:cNvSpPr/>
          <p:nvPr/>
        </p:nvSpPr>
        <p:spPr>
          <a:xfrm>
            <a:off x="8211312" y="356616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46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307873" y="3662721"/>
            <a:ext cx="209215" cy="209215"/>
          </a:xfrm>
          <a:prstGeom prst="rect">
            <a:avLst/>
          </a:prstGeom>
        </p:spPr>
      </p:pic>
      <p:sp>
        <p:nvSpPr>
          <p:cNvPr id="47" name="Text 40"/>
          <p:cNvSpPr txBox="1"/>
          <p:nvPr/>
        </p:nvSpPr>
        <p:spPr>
          <a:xfrm>
            <a:off x="8723376" y="3538728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Care / admin workflow</a:t>
            </a:r>
            <a:endParaRPr lang="en-US" sz="1450" dirty="0"/>
          </a:p>
        </p:txBody>
      </p:sp>
      <p:sp>
        <p:nvSpPr>
          <p:cNvPr id="48" name="Text 41"/>
          <p:cNvSpPr txBox="1"/>
          <p:nvPr/>
        </p:nvSpPr>
        <p:spPr>
          <a:xfrm>
            <a:off x="8211312" y="3941064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Tasks, approvals, notifications and escalation.</a:t>
            </a:r>
            <a:endParaRPr lang="en-US" sz="930" dirty="0"/>
          </a:p>
        </p:txBody>
      </p:sp>
      <p:sp>
        <p:nvSpPr>
          <p:cNvPr id="49" name="Shape 42"/>
          <p:cNvSpPr/>
          <p:nvPr/>
        </p:nvSpPr>
        <p:spPr>
          <a:xfrm>
            <a:off x="4645152" y="4535424"/>
            <a:ext cx="3108960" cy="941832"/>
          </a:xfrm>
          <a:prstGeom prst="roundRect">
            <a:avLst>
              <a:gd name="adj" fmla="val 1650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50" name="Shape 43"/>
          <p:cNvSpPr/>
          <p:nvPr/>
        </p:nvSpPr>
        <p:spPr>
          <a:xfrm>
            <a:off x="4645152" y="4535424"/>
            <a:ext cx="50292" cy="94183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51" name="Shape 44"/>
          <p:cNvSpPr/>
          <p:nvPr/>
        </p:nvSpPr>
        <p:spPr>
          <a:xfrm>
            <a:off x="4809744" y="469087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52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906305" y="4787433"/>
            <a:ext cx="209215" cy="209215"/>
          </a:xfrm>
          <a:prstGeom prst="rect">
            <a:avLst/>
          </a:prstGeom>
        </p:spPr>
      </p:pic>
      <p:sp>
        <p:nvSpPr>
          <p:cNvPr id="53" name="Text 45"/>
          <p:cNvSpPr txBox="1"/>
          <p:nvPr/>
        </p:nvSpPr>
        <p:spPr>
          <a:xfrm>
            <a:off x="5321808" y="4663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assistance</a:t>
            </a:r>
            <a:endParaRPr lang="en-US" sz="1450" dirty="0"/>
          </a:p>
        </p:txBody>
      </p:sp>
      <p:sp>
        <p:nvSpPr>
          <p:cNvPr id="54" name="Text 46"/>
          <p:cNvSpPr txBox="1"/>
          <p:nvPr/>
        </p:nvSpPr>
        <p:spPr>
          <a:xfrm>
            <a:off x="4809744" y="5065776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Customer-approved models, RAG, redaction and trace.</a:t>
            </a:r>
            <a:endParaRPr lang="en-US" sz="930" dirty="0"/>
          </a:p>
        </p:txBody>
      </p:sp>
      <p:sp>
        <p:nvSpPr>
          <p:cNvPr id="55" name="Shape 47"/>
          <p:cNvSpPr/>
          <p:nvPr/>
        </p:nvSpPr>
        <p:spPr>
          <a:xfrm>
            <a:off x="8046720" y="4535424"/>
            <a:ext cx="3108960" cy="941832"/>
          </a:xfrm>
          <a:prstGeom prst="roundRect">
            <a:avLst>
              <a:gd name="adj" fmla="val 1650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56" name="Shape 48"/>
          <p:cNvSpPr/>
          <p:nvPr/>
        </p:nvSpPr>
        <p:spPr>
          <a:xfrm>
            <a:off x="8046720" y="4535424"/>
            <a:ext cx="50292" cy="94183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57" name="Shape 49"/>
          <p:cNvSpPr/>
          <p:nvPr/>
        </p:nvSpPr>
        <p:spPr>
          <a:xfrm>
            <a:off x="8211312" y="4690872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58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307873" y="4787433"/>
            <a:ext cx="209215" cy="209215"/>
          </a:xfrm>
          <a:prstGeom prst="rect">
            <a:avLst/>
          </a:prstGeom>
        </p:spPr>
      </p:pic>
      <p:sp>
        <p:nvSpPr>
          <p:cNvPr id="59" name="Text 50"/>
          <p:cNvSpPr txBox="1"/>
          <p:nvPr/>
        </p:nvSpPr>
        <p:spPr>
          <a:xfrm>
            <a:off x="8723376" y="4663440"/>
            <a:ext cx="2286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 &amp; operations</a:t>
            </a:r>
            <a:endParaRPr lang="en-US" sz="1450" dirty="0"/>
          </a:p>
        </p:txBody>
      </p:sp>
      <p:sp>
        <p:nvSpPr>
          <p:cNvPr id="60" name="Text 51"/>
          <p:cNvSpPr txBox="1"/>
          <p:nvPr/>
        </p:nvSpPr>
        <p:spPr>
          <a:xfrm>
            <a:off x="8211312" y="5065776"/>
            <a:ext cx="2779776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3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Audit, telemetry, runbooks and P1 support.</a:t>
            </a:r>
            <a:endParaRPr lang="en-US" sz="93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BLUEPRINT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 DEALER AND SERVICE NETWORK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connected experience across sales, service, inspection and payment.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can give a dealer group, service chain or specialty operator a tailored system while preserving existing platforms and prior investments.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58368" y="2322576"/>
            <a:ext cx="2560320" cy="2999232"/>
          </a:xfrm>
          <a:prstGeom prst="roundRect">
            <a:avLst>
              <a:gd name="adj" fmla="val 6429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1645920" y="2596896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16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781983" y="2732959"/>
            <a:ext cx="294803" cy="294803"/>
          </a:xfrm>
          <a:prstGeom prst="rect">
            <a:avLst/>
          </a:prstGeom>
        </p:spPr>
      </p:pic>
      <p:sp>
        <p:nvSpPr>
          <p:cNvPr id="17" name="Text 14"/>
          <p:cNvSpPr txBox="1"/>
          <p:nvPr/>
        </p:nvSpPr>
        <p:spPr>
          <a:xfrm>
            <a:off x="886968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Acquire</a:t>
            </a:r>
            <a:endParaRPr lang="en-US" sz="1600" dirty="0"/>
          </a:p>
        </p:txBody>
      </p:sp>
      <p:sp>
        <p:nvSpPr>
          <p:cNvPr id="18" name="Shape 15"/>
          <p:cNvSpPr/>
          <p:nvPr/>
        </p:nvSpPr>
        <p:spPr>
          <a:xfrm>
            <a:off x="1024128" y="3968496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1133856" y="4087368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252728" y="40005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capture</a:t>
            </a:r>
            <a:endParaRPr lang="en-US" sz="860" dirty="0"/>
          </a:p>
        </p:txBody>
      </p:sp>
      <p:sp>
        <p:nvSpPr>
          <p:cNvPr id="21" name="Shape 18"/>
          <p:cNvSpPr/>
          <p:nvPr/>
        </p:nvSpPr>
        <p:spPr>
          <a:xfrm>
            <a:off x="1024128" y="4306824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1133856" y="4425696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3" name="Text 20"/>
          <p:cNvSpPr txBox="1"/>
          <p:nvPr/>
        </p:nvSpPr>
        <p:spPr>
          <a:xfrm>
            <a:off x="1252728" y="43388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Campaigns</a:t>
            </a:r>
            <a:endParaRPr lang="en-US" sz="860" dirty="0"/>
          </a:p>
        </p:txBody>
      </p:sp>
      <p:sp>
        <p:nvSpPr>
          <p:cNvPr id="24" name="Shape 21"/>
          <p:cNvSpPr/>
          <p:nvPr/>
        </p:nvSpPr>
        <p:spPr>
          <a:xfrm>
            <a:off x="1024128" y="4645152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1133856" y="4764024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252728" y="467715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Scoring</a:t>
            </a:r>
            <a:endParaRPr lang="en-US" sz="860" dirty="0"/>
          </a:p>
        </p:txBody>
      </p:sp>
      <p:sp>
        <p:nvSpPr>
          <p:cNvPr id="27" name="Shape 24"/>
          <p:cNvSpPr/>
          <p:nvPr/>
        </p:nvSpPr>
        <p:spPr>
          <a:xfrm>
            <a:off x="1024128" y="4983480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8" name="Shape 25"/>
          <p:cNvSpPr/>
          <p:nvPr/>
        </p:nvSpPr>
        <p:spPr>
          <a:xfrm>
            <a:off x="1133856" y="5102352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252728" y="501548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Appointment</a:t>
            </a:r>
            <a:endParaRPr lang="en-US" sz="860" dirty="0"/>
          </a:p>
        </p:txBody>
      </p:sp>
      <p:sp>
        <p:nvSpPr>
          <p:cNvPr id="30" name="Shape 27"/>
          <p:cNvSpPr/>
          <p:nvPr/>
        </p:nvSpPr>
        <p:spPr>
          <a:xfrm>
            <a:off x="3236976" y="3803904"/>
            <a:ext cx="20116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1" name="Shape 28"/>
          <p:cNvSpPr/>
          <p:nvPr/>
        </p:nvSpPr>
        <p:spPr>
          <a:xfrm>
            <a:off x="3511296" y="2322576"/>
            <a:ext cx="2560320" cy="2999232"/>
          </a:xfrm>
          <a:prstGeom prst="roundRect">
            <a:avLst>
              <a:gd name="adj" fmla="val 6429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4498848" y="2596896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3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34911" y="2732959"/>
            <a:ext cx="294803" cy="294803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3739896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Inspect</a:t>
            </a:r>
            <a:endParaRPr lang="en-US" sz="1600" dirty="0"/>
          </a:p>
        </p:txBody>
      </p:sp>
      <p:sp>
        <p:nvSpPr>
          <p:cNvPr id="35" name="Shape 31"/>
          <p:cNvSpPr/>
          <p:nvPr/>
        </p:nvSpPr>
        <p:spPr>
          <a:xfrm>
            <a:off x="3877056" y="3968496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6" name="Shape 32"/>
          <p:cNvSpPr/>
          <p:nvPr/>
        </p:nvSpPr>
        <p:spPr>
          <a:xfrm>
            <a:off x="3986784" y="4087368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7" name="Text 33"/>
          <p:cNvSpPr txBox="1"/>
          <p:nvPr/>
        </p:nvSpPr>
        <p:spPr>
          <a:xfrm>
            <a:off x="4105656" y="40005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VIN / identity</a:t>
            </a:r>
            <a:endParaRPr lang="en-US" sz="860" dirty="0"/>
          </a:p>
        </p:txBody>
      </p:sp>
      <p:sp>
        <p:nvSpPr>
          <p:cNvPr id="38" name="Shape 34"/>
          <p:cNvSpPr/>
          <p:nvPr/>
        </p:nvSpPr>
        <p:spPr>
          <a:xfrm>
            <a:off x="3877056" y="4306824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9" name="Shape 35"/>
          <p:cNvSpPr/>
          <p:nvPr/>
        </p:nvSpPr>
        <p:spPr>
          <a:xfrm>
            <a:off x="3986784" y="4425696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0" name="Text 36"/>
          <p:cNvSpPr txBox="1"/>
          <p:nvPr/>
        </p:nvSpPr>
        <p:spPr>
          <a:xfrm>
            <a:off x="4105656" y="43388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Camera / video</a:t>
            </a:r>
            <a:endParaRPr lang="en-US" sz="860" dirty="0"/>
          </a:p>
        </p:txBody>
      </p:sp>
      <p:sp>
        <p:nvSpPr>
          <p:cNvPr id="41" name="Shape 37"/>
          <p:cNvSpPr/>
          <p:nvPr/>
        </p:nvSpPr>
        <p:spPr>
          <a:xfrm>
            <a:off x="3877056" y="4645152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2" name="Shape 38"/>
          <p:cNvSpPr/>
          <p:nvPr/>
        </p:nvSpPr>
        <p:spPr>
          <a:xfrm>
            <a:off x="3986784" y="4764024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3" name="Text 39"/>
          <p:cNvSpPr txBox="1"/>
          <p:nvPr/>
        </p:nvSpPr>
        <p:spPr>
          <a:xfrm>
            <a:off x="4105656" y="467715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Diagnostic</a:t>
            </a:r>
            <a:endParaRPr lang="en-US" sz="860" dirty="0"/>
          </a:p>
        </p:txBody>
      </p:sp>
      <p:sp>
        <p:nvSpPr>
          <p:cNvPr id="44" name="Shape 40"/>
          <p:cNvSpPr/>
          <p:nvPr/>
        </p:nvSpPr>
        <p:spPr>
          <a:xfrm>
            <a:off x="3877056" y="4983480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5" name="Shape 41"/>
          <p:cNvSpPr/>
          <p:nvPr/>
        </p:nvSpPr>
        <p:spPr>
          <a:xfrm>
            <a:off x="3986784" y="5102352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Text 42"/>
          <p:cNvSpPr txBox="1"/>
          <p:nvPr/>
        </p:nvSpPr>
        <p:spPr>
          <a:xfrm>
            <a:off x="4105656" y="501548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Measurement</a:t>
            </a:r>
            <a:endParaRPr lang="en-US" sz="860" dirty="0"/>
          </a:p>
        </p:txBody>
      </p:sp>
      <p:sp>
        <p:nvSpPr>
          <p:cNvPr id="47" name="Shape 43"/>
          <p:cNvSpPr/>
          <p:nvPr/>
        </p:nvSpPr>
        <p:spPr>
          <a:xfrm>
            <a:off x="6089904" y="3803904"/>
            <a:ext cx="20116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48" name="Shape 44"/>
          <p:cNvSpPr/>
          <p:nvPr/>
        </p:nvSpPr>
        <p:spPr>
          <a:xfrm>
            <a:off x="6364224" y="2322576"/>
            <a:ext cx="2560320" cy="2999232"/>
          </a:xfrm>
          <a:prstGeom prst="roundRect">
            <a:avLst>
              <a:gd name="adj" fmla="val 6429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9" name="Shape 45"/>
          <p:cNvSpPr/>
          <p:nvPr/>
        </p:nvSpPr>
        <p:spPr>
          <a:xfrm>
            <a:off x="7351776" y="2596896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50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487839" y="2732959"/>
            <a:ext cx="294803" cy="294803"/>
          </a:xfrm>
          <a:prstGeom prst="rect">
            <a:avLst/>
          </a:prstGeom>
        </p:spPr>
      </p:pic>
      <p:sp>
        <p:nvSpPr>
          <p:cNvPr id="51" name="Text 46"/>
          <p:cNvSpPr txBox="1"/>
          <p:nvPr/>
        </p:nvSpPr>
        <p:spPr>
          <a:xfrm>
            <a:off x="6592824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</a:t>
            </a:r>
            <a:endParaRPr lang="en-US" sz="1600" dirty="0"/>
          </a:p>
        </p:txBody>
      </p:sp>
      <p:sp>
        <p:nvSpPr>
          <p:cNvPr id="52" name="Shape 47"/>
          <p:cNvSpPr/>
          <p:nvPr/>
        </p:nvSpPr>
        <p:spPr>
          <a:xfrm>
            <a:off x="6729984" y="3968496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3" name="Shape 48"/>
          <p:cNvSpPr/>
          <p:nvPr/>
        </p:nvSpPr>
        <p:spPr>
          <a:xfrm>
            <a:off x="6839712" y="4087368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54" name="Text 49"/>
          <p:cNvSpPr txBox="1"/>
          <p:nvPr/>
        </p:nvSpPr>
        <p:spPr>
          <a:xfrm>
            <a:off x="6958584" y="40005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Estimate</a:t>
            </a:r>
            <a:endParaRPr lang="en-US" sz="860" dirty="0"/>
          </a:p>
        </p:txBody>
      </p:sp>
      <p:sp>
        <p:nvSpPr>
          <p:cNvPr id="55" name="Shape 50"/>
          <p:cNvSpPr/>
          <p:nvPr/>
        </p:nvSpPr>
        <p:spPr>
          <a:xfrm>
            <a:off x="6729984" y="4306824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6" name="Shape 51"/>
          <p:cNvSpPr/>
          <p:nvPr/>
        </p:nvSpPr>
        <p:spPr>
          <a:xfrm>
            <a:off x="6839712" y="4425696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57" name="Text 52"/>
          <p:cNvSpPr txBox="1"/>
          <p:nvPr/>
        </p:nvSpPr>
        <p:spPr>
          <a:xfrm>
            <a:off x="6958584" y="43388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approval</a:t>
            </a:r>
            <a:endParaRPr lang="en-US" sz="860" dirty="0"/>
          </a:p>
        </p:txBody>
      </p:sp>
      <p:sp>
        <p:nvSpPr>
          <p:cNvPr id="58" name="Shape 53"/>
          <p:cNvSpPr/>
          <p:nvPr/>
        </p:nvSpPr>
        <p:spPr>
          <a:xfrm>
            <a:off x="6729984" y="4645152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59" name="Shape 54"/>
          <p:cNvSpPr/>
          <p:nvPr/>
        </p:nvSpPr>
        <p:spPr>
          <a:xfrm>
            <a:off x="6839712" y="4764024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60" name="Text 55"/>
          <p:cNvSpPr txBox="1"/>
          <p:nvPr/>
        </p:nvSpPr>
        <p:spPr>
          <a:xfrm>
            <a:off x="6958584" y="467715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Parts / partner</a:t>
            </a:r>
            <a:endParaRPr lang="en-US" sz="860" dirty="0"/>
          </a:p>
        </p:txBody>
      </p:sp>
      <p:sp>
        <p:nvSpPr>
          <p:cNvPr id="61" name="Shape 56"/>
          <p:cNvSpPr/>
          <p:nvPr/>
        </p:nvSpPr>
        <p:spPr>
          <a:xfrm>
            <a:off x="6729984" y="4983480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62" name="Shape 57"/>
          <p:cNvSpPr/>
          <p:nvPr/>
        </p:nvSpPr>
        <p:spPr>
          <a:xfrm>
            <a:off x="6839712" y="5102352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63" name="Text 58"/>
          <p:cNvSpPr txBox="1"/>
          <p:nvPr/>
        </p:nvSpPr>
        <p:spPr>
          <a:xfrm>
            <a:off x="6958584" y="501548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Workflow</a:t>
            </a:r>
            <a:endParaRPr lang="en-US" sz="860" dirty="0"/>
          </a:p>
        </p:txBody>
      </p:sp>
      <p:sp>
        <p:nvSpPr>
          <p:cNvPr id="64" name="Shape 59"/>
          <p:cNvSpPr/>
          <p:nvPr/>
        </p:nvSpPr>
        <p:spPr>
          <a:xfrm>
            <a:off x="8942832" y="3803904"/>
            <a:ext cx="20116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65" name="Shape 60"/>
          <p:cNvSpPr/>
          <p:nvPr/>
        </p:nvSpPr>
        <p:spPr>
          <a:xfrm>
            <a:off x="9217152" y="2322576"/>
            <a:ext cx="2560320" cy="2999232"/>
          </a:xfrm>
          <a:prstGeom prst="roundRect">
            <a:avLst>
              <a:gd name="adj" fmla="val 6429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66" name="Shape 61"/>
          <p:cNvSpPr/>
          <p:nvPr/>
        </p:nvSpPr>
        <p:spPr>
          <a:xfrm>
            <a:off x="10204704" y="2596896"/>
            <a:ext cx="566928" cy="566928"/>
          </a:xfrm>
          <a:prstGeom prst="roundRect">
            <a:avLst>
              <a:gd name="adj" fmla="val 29032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67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0340767" y="2732959"/>
            <a:ext cx="294803" cy="294803"/>
          </a:xfrm>
          <a:prstGeom prst="rect">
            <a:avLst/>
          </a:prstGeom>
        </p:spPr>
      </p:pic>
      <p:sp>
        <p:nvSpPr>
          <p:cNvPr id="68" name="Text 62"/>
          <p:cNvSpPr txBox="1"/>
          <p:nvPr/>
        </p:nvSpPr>
        <p:spPr>
          <a:xfrm>
            <a:off x="9445752" y="3456432"/>
            <a:ext cx="210312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6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Complete</a:t>
            </a:r>
            <a:endParaRPr lang="en-US" sz="1600" dirty="0"/>
          </a:p>
        </p:txBody>
      </p:sp>
      <p:sp>
        <p:nvSpPr>
          <p:cNvPr id="69" name="Shape 63"/>
          <p:cNvSpPr/>
          <p:nvPr/>
        </p:nvSpPr>
        <p:spPr>
          <a:xfrm>
            <a:off x="9582912" y="3968496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0" name="Shape 64"/>
          <p:cNvSpPr/>
          <p:nvPr/>
        </p:nvSpPr>
        <p:spPr>
          <a:xfrm>
            <a:off x="9692640" y="4087368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9811512" y="4000500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Evidence</a:t>
            </a:r>
            <a:endParaRPr lang="en-US" sz="860" dirty="0"/>
          </a:p>
        </p:txBody>
      </p:sp>
      <p:sp>
        <p:nvSpPr>
          <p:cNvPr id="72" name="Shape 66"/>
          <p:cNvSpPr/>
          <p:nvPr/>
        </p:nvSpPr>
        <p:spPr>
          <a:xfrm>
            <a:off x="9582912" y="4306824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3" name="Shape 67"/>
          <p:cNvSpPr/>
          <p:nvPr/>
        </p:nvSpPr>
        <p:spPr>
          <a:xfrm>
            <a:off x="9692640" y="4425696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4" name="Text 68"/>
          <p:cNvSpPr txBox="1"/>
          <p:nvPr/>
        </p:nvSpPr>
        <p:spPr>
          <a:xfrm>
            <a:off x="9811512" y="4338828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Invoice</a:t>
            </a:r>
            <a:endParaRPr lang="en-US" sz="860" dirty="0"/>
          </a:p>
        </p:txBody>
      </p:sp>
      <p:sp>
        <p:nvSpPr>
          <p:cNvPr id="75" name="Shape 69"/>
          <p:cNvSpPr/>
          <p:nvPr/>
        </p:nvSpPr>
        <p:spPr>
          <a:xfrm>
            <a:off x="9582912" y="4645152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6" name="Shape 70"/>
          <p:cNvSpPr/>
          <p:nvPr/>
        </p:nvSpPr>
        <p:spPr>
          <a:xfrm>
            <a:off x="9692640" y="4764024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77" name="Text 71"/>
          <p:cNvSpPr txBox="1"/>
          <p:nvPr/>
        </p:nvSpPr>
        <p:spPr>
          <a:xfrm>
            <a:off x="9811512" y="4677156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Payment</a:t>
            </a:r>
            <a:endParaRPr lang="en-US" sz="860" dirty="0"/>
          </a:p>
        </p:txBody>
      </p:sp>
      <p:sp>
        <p:nvSpPr>
          <p:cNvPr id="78" name="Shape 72"/>
          <p:cNvSpPr/>
          <p:nvPr/>
        </p:nvSpPr>
        <p:spPr>
          <a:xfrm>
            <a:off x="9582912" y="4983480"/>
            <a:ext cx="1828800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79" name="Shape 73"/>
          <p:cNvSpPr/>
          <p:nvPr/>
        </p:nvSpPr>
        <p:spPr>
          <a:xfrm>
            <a:off x="9692640" y="5102352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80" name="Text 74"/>
          <p:cNvSpPr txBox="1"/>
          <p:nvPr/>
        </p:nvSpPr>
        <p:spPr>
          <a:xfrm>
            <a:off x="9811512" y="5015484"/>
            <a:ext cx="15179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</a:t>
            </a:r>
            <a:endParaRPr lang="en-US" sz="860" dirty="0"/>
          </a:p>
        </p:txBody>
      </p:sp>
      <p:sp>
        <p:nvSpPr>
          <p:cNvPr id="81" name="Shape 75"/>
          <p:cNvSpPr/>
          <p:nvPr/>
        </p:nvSpPr>
        <p:spPr>
          <a:xfrm>
            <a:off x="1078992" y="5623560"/>
            <a:ext cx="10021824" cy="475488"/>
          </a:xfrm>
          <a:prstGeom prst="roundRect">
            <a:avLst>
              <a:gd name="adj" fmla="val 30769"/>
            </a:avLst>
          </a:prstGeom>
          <a:solidFill>
            <a:srgbClr val="11253A"/>
          </a:solidFill>
          <a:ln w="12700">
            <a:solidFill>
              <a:srgbClr val="4D8CFF">
                <a:alpha val="65000"/>
              </a:srgbClr>
            </a:solidFill>
            <a:prstDash val="solid"/>
          </a:ln>
        </p:spPr>
      </p:sp>
      <p:sp>
        <p:nvSpPr>
          <p:cNvPr id="82" name="Text 76"/>
          <p:cNvSpPr txBox="1"/>
          <p:nvPr/>
        </p:nvSpPr>
        <p:spPr>
          <a:xfrm>
            <a:off x="1353312" y="5751576"/>
            <a:ext cx="9473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outcome: a differentiated operating workflow, built around the group’s own sales and service know-how.</a:t>
            </a:r>
            <a:endParaRPr lang="en-US" sz="1250" dirty="0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INDUSTRY BLUEPRINT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PRODUCT AND SAAS ACCELERATION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Embed the platform capabilities your product needs while keeping focus on the differentiated product.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software company can use ProjexCloud as an internal capability layer for tenancy, identity, billing, webhooks, AI, audit and support.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76656" y="2331720"/>
            <a:ext cx="3931920" cy="3291840"/>
          </a:xfrm>
          <a:prstGeom prst="roundRect">
            <a:avLst>
              <a:gd name="adj" fmla="val 5556"/>
            </a:avLst>
          </a:prstGeom>
          <a:solidFill>
            <a:srgbClr val="11253A"/>
          </a:solidFill>
          <a:ln w="12700">
            <a:solidFill>
              <a:srgbClr val="B29C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Text 13"/>
          <p:cNvSpPr txBox="1"/>
          <p:nvPr/>
        </p:nvSpPr>
        <p:spPr>
          <a:xfrm>
            <a:off x="1097280" y="2670048"/>
            <a:ext cx="309067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DIFFERENTIATED PRODUCT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1261872" y="3273552"/>
            <a:ext cx="2761488" cy="1325880"/>
          </a:xfrm>
          <a:prstGeom prst="roundRect">
            <a:avLst>
              <a:gd name="adj" fmla="val 12414"/>
            </a:avLst>
          </a:prstGeom>
          <a:solidFill>
            <a:srgbClr val="0D1A29"/>
          </a:solidFill>
          <a:ln w="12700">
            <a:solidFill>
              <a:srgbClr val="45E2FF">
                <a:alpha val="6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1481328" y="3575304"/>
            <a:ext cx="232257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45E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Customer workflows</a:t>
            </a:r>
            <a:endParaRPr lang="en-US" sz="1900" dirty="0"/>
          </a:p>
          <a:p>
            <a:pPr marL="0" indent="0" algn="ctr">
              <a:lnSpc>
                <a:spcPct val="90000"/>
              </a:lnSpc>
              <a:buNone/>
            </a:pPr>
            <a:r>
              <a:rPr lang="en-US" sz="1900" b="1" dirty="0">
                <a:solidFill>
                  <a:srgbClr val="45E2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UX · data · domain logic</a:t>
            </a:r>
            <a:endParaRPr lang="en-US" sz="1900" dirty="0"/>
          </a:p>
        </p:txBody>
      </p:sp>
      <p:sp>
        <p:nvSpPr>
          <p:cNvPr id="18" name="Shape 16"/>
          <p:cNvSpPr/>
          <p:nvPr/>
        </p:nvSpPr>
        <p:spPr>
          <a:xfrm>
            <a:off x="1956816" y="4873752"/>
            <a:ext cx="1133856" cy="292608"/>
          </a:xfrm>
          <a:prstGeom prst="roundRect">
            <a:avLst>
              <a:gd name="adj" fmla="val 50000"/>
            </a:avLst>
          </a:prstGeom>
          <a:solidFill>
            <a:srgbClr val="0D1A29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2029968" y="4892040"/>
            <a:ext cx="987552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YOUR IP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4626864" y="3968496"/>
            <a:ext cx="548640" cy="0"/>
          </a:xfrm>
          <a:prstGeom prst="line">
            <a:avLst/>
          </a:prstGeom>
          <a:noFill/>
          <a:ln w="2286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5376672" y="2331720"/>
            <a:ext cx="6035040" cy="3291840"/>
          </a:xfrm>
          <a:prstGeom prst="roundRect">
            <a:avLst>
              <a:gd name="adj" fmla="val 555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5669280" y="2633472"/>
            <a:ext cx="54406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300" b="1" kern="0" spc="7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EMBEDDED CAPABILITY LAYER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687568" y="3218688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797296" y="3337560"/>
            <a:ext cx="64008" cy="6400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5916168" y="325069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lifecycle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8385048" y="3218688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8494776" y="3337560"/>
            <a:ext cx="64008" cy="64008"/>
          </a:xfrm>
          <a:prstGeom prst="ellipse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13648" y="3250692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/ SSO</a:t>
            </a:r>
            <a:endParaRPr lang="en-US" sz="860" dirty="0"/>
          </a:p>
        </p:txBody>
      </p:sp>
      <p:sp>
        <p:nvSpPr>
          <p:cNvPr id="29" name="Shape 27"/>
          <p:cNvSpPr/>
          <p:nvPr/>
        </p:nvSpPr>
        <p:spPr>
          <a:xfrm>
            <a:off x="5687568" y="3712464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5797296" y="3831336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5916168" y="374446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Policy / consent</a:t>
            </a:r>
            <a:endParaRPr lang="en-US" sz="860" dirty="0"/>
          </a:p>
        </p:txBody>
      </p:sp>
      <p:sp>
        <p:nvSpPr>
          <p:cNvPr id="32" name="Shape 30"/>
          <p:cNvSpPr/>
          <p:nvPr/>
        </p:nvSpPr>
        <p:spPr>
          <a:xfrm>
            <a:off x="8385048" y="3712464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8494776" y="3831336"/>
            <a:ext cx="64008" cy="64008"/>
          </a:xfrm>
          <a:prstGeom prst="ellipse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613648" y="3744468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Billing / metering</a:t>
            </a:r>
            <a:endParaRPr lang="en-US" sz="860" dirty="0"/>
          </a:p>
        </p:txBody>
      </p:sp>
      <p:sp>
        <p:nvSpPr>
          <p:cNvPr id="35" name="Shape 33"/>
          <p:cNvSpPr/>
          <p:nvPr/>
        </p:nvSpPr>
        <p:spPr>
          <a:xfrm>
            <a:off x="5687568" y="4206240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5797296" y="4325112"/>
            <a:ext cx="64008" cy="64008"/>
          </a:xfrm>
          <a:prstGeom prst="ellipse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5916168" y="423824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Webhooks / events</a:t>
            </a:r>
            <a:endParaRPr lang="en-US" sz="860" dirty="0"/>
          </a:p>
        </p:txBody>
      </p:sp>
      <p:sp>
        <p:nvSpPr>
          <p:cNvPr id="38" name="Shape 36"/>
          <p:cNvSpPr/>
          <p:nvPr/>
        </p:nvSpPr>
        <p:spPr>
          <a:xfrm>
            <a:off x="8385048" y="4206240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494776" y="4325112"/>
            <a:ext cx="64008" cy="64008"/>
          </a:xfrm>
          <a:prstGeom prst="ellipse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8613648" y="4238244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gateway / agents</a:t>
            </a:r>
            <a:endParaRPr lang="en-US" sz="860" dirty="0"/>
          </a:p>
        </p:txBody>
      </p:sp>
      <p:sp>
        <p:nvSpPr>
          <p:cNvPr id="41" name="Shape 39"/>
          <p:cNvSpPr/>
          <p:nvPr/>
        </p:nvSpPr>
        <p:spPr>
          <a:xfrm>
            <a:off x="5687568" y="4700016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797296" y="4818888"/>
            <a:ext cx="64008" cy="64008"/>
          </a:xfrm>
          <a:prstGeom prst="ellipse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916168" y="473202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Audit / telemetry</a:t>
            </a:r>
            <a:endParaRPr lang="en-US" sz="860" dirty="0"/>
          </a:p>
        </p:txBody>
      </p:sp>
      <p:sp>
        <p:nvSpPr>
          <p:cNvPr id="44" name="Shape 42"/>
          <p:cNvSpPr/>
          <p:nvPr/>
        </p:nvSpPr>
        <p:spPr>
          <a:xfrm>
            <a:off x="8385048" y="4700016"/>
            <a:ext cx="2432304" cy="310896"/>
          </a:xfrm>
          <a:prstGeom prst="roundRect">
            <a:avLst>
              <a:gd name="adj" fmla="val 38235"/>
            </a:avLst>
          </a:prstGeom>
          <a:solidFill>
            <a:srgbClr val="11253A"/>
          </a:solidFill>
          <a:ln w="12700">
            <a:solidFill>
              <a:srgbClr val="25384B">
                <a:alpha val="8000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8494776" y="4818888"/>
            <a:ext cx="64008" cy="64008"/>
          </a:xfrm>
          <a:prstGeom prst="ellipse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8613648" y="4732020"/>
            <a:ext cx="212140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6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/ lifecycle</a:t>
            </a:r>
            <a:endParaRPr lang="en-US" sz="860" dirty="0"/>
          </a:p>
        </p:txBody>
      </p:sp>
      <p:sp>
        <p:nvSpPr>
          <p:cNvPr id="47" name="Text 45"/>
          <p:cNvSpPr txBox="1"/>
          <p:nvPr/>
        </p:nvSpPr>
        <p:spPr>
          <a:xfrm>
            <a:off x="1298448" y="5852160"/>
            <a:ext cx="9601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Result: faster roadmap delivery, consistent platform controls and a customer-facing SLA backed by one partner.</a:t>
            </a:r>
            <a:endParaRPr lang="en-US" sz="1200" dirty="0"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7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LIBRARY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37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GROWING LIBRARY OF SOLUTION BLUEPRINTS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Reusable composition patterns shorten discovery while preserving customer-specific design.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Each blueprint is a starting architecture and capability bill of materials, adapted to the customer’s workflow, systems and operating constraints.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231136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231136"/>
            <a:ext cx="50292" cy="98755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38658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2483145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3591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Insurance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76148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Claims · underwriting · partner workflow</a:t>
            </a:r>
            <a:endParaRPr lang="en-US" sz="980" dirty="0"/>
          </a:p>
        </p:txBody>
      </p:sp>
      <p:sp>
        <p:nvSpPr>
          <p:cNvPr id="20" name="Shape 17"/>
          <p:cNvSpPr/>
          <p:nvPr/>
        </p:nvSpPr>
        <p:spPr>
          <a:xfrm>
            <a:off x="4352544" y="2231136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1" name="Shape 18"/>
          <p:cNvSpPr/>
          <p:nvPr/>
        </p:nvSpPr>
        <p:spPr>
          <a:xfrm>
            <a:off x="4352544" y="2231136"/>
            <a:ext cx="50292" cy="98755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17136" y="238658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697" y="2483145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3591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Healthcare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17136" y="276148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Intake · identity · consent · coordination</a:t>
            </a:r>
            <a:endParaRPr lang="en-US" sz="980" dirty="0"/>
          </a:p>
        </p:txBody>
      </p:sp>
      <p:sp>
        <p:nvSpPr>
          <p:cNvPr id="26" name="Shape 22"/>
          <p:cNvSpPr/>
          <p:nvPr/>
        </p:nvSpPr>
        <p:spPr>
          <a:xfrm>
            <a:off x="8083296" y="2231136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7" name="Shape 23"/>
          <p:cNvSpPr/>
          <p:nvPr/>
        </p:nvSpPr>
        <p:spPr>
          <a:xfrm>
            <a:off x="8083296" y="2231136"/>
            <a:ext cx="50292" cy="987552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2386584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4449" y="2483145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59952" y="2359152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Construction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761488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· estimate · field proof · payment</a:t>
            </a:r>
            <a:endParaRPr lang="en-US" sz="980" dirty="0"/>
          </a:p>
        </p:txBody>
      </p:sp>
      <p:sp>
        <p:nvSpPr>
          <p:cNvPr id="32" name="Shape 27"/>
          <p:cNvSpPr/>
          <p:nvPr/>
        </p:nvSpPr>
        <p:spPr>
          <a:xfrm>
            <a:off x="621792" y="3410712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3" name="Shape 28"/>
          <p:cNvSpPr/>
          <p:nvPr/>
        </p:nvSpPr>
        <p:spPr>
          <a:xfrm>
            <a:off x="621792" y="3410712"/>
            <a:ext cx="50292" cy="98755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356616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45" y="3662721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98448" y="353872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Automotive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86384" y="394106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Sales · inspection · service · evidence</a:t>
            </a:r>
            <a:endParaRPr lang="en-US" sz="980" dirty="0"/>
          </a:p>
        </p:txBody>
      </p:sp>
      <p:sp>
        <p:nvSpPr>
          <p:cNvPr id="38" name="Shape 32"/>
          <p:cNvSpPr/>
          <p:nvPr/>
        </p:nvSpPr>
        <p:spPr>
          <a:xfrm>
            <a:off x="4352544" y="3410712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4352544" y="3410712"/>
            <a:ext cx="50292" cy="98755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17136" y="356616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3697" y="3662721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29200" y="353872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CRM / services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17136" y="394106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Lead · engagement · proposal · delivery</a:t>
            </a:r>
            <a:endParaRPr lang="en-US" sz="980" dirty="0"/>
          </a:p>
        </p:txBody>
      </p:sp>
      <p:sp>
        <p:nvSpPr>
          <p:cNvPr id="44" name="Shape 37"/>
          <p:cNvSpPr/>
          <p:nvPr/>
        </p:nvSpPr>
        <p:spPr>
          <a:xfrm>
            <a:off x="8083296" y="3410712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45" name="Shape 38"/>
          <p:cNvSpPr/>
          <p:nvPr/>
        </p:nvSpPr>
        <p:spPr>
          <a:xfrm>
            <a:off x="8083296" y="3410712"/>
            <a:ext cx="50292" cy="98755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47888" y="3566160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4449" y="3662721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59952" y="3538728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Education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47888" y="3941064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Enrollment · identity · content · engagement</a:t>
            </a:r>
            <a:endParaRPr lang="en-US" sz="980" dirty="0"/>
          </a:p>
        </p:txBody>
      </p:sp>
      <p:sp>
        <p:nvSpPr>
          <p:cNvPr id="50" name="Shape 42"/>
          <p:cNvSpPr/>
          <p:nvPr/>
        </p:nvSpPr>
        <p:spPr>
          <a:xfrm>
            <a:off x="621792" y="4590288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51" name="Shape 43"/>
          <p:cNvSpPr/>
          <p:nvPr/>
        </p:nvSpPr>
        <p:spPr>
          <a:xfrm>
            <a:off x="621792" y="4590288"/>
            <a:ext cx="50292" cy="987552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52" name="Shape 44"/>
          <p:cNvSpPr/>
          <p:nvPr/>
        </p:nvSpPr>
        <p:spPr>
          <a:xfrm>
            <a:off x="786384" y="4745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36D4C0"/>
            </a:solidFill>
            <a:prstDash val="solid"/>
          </a:ln>
        </p:spPr>
      </p:sp>
      <p:pic>
        <p:nvPicPr>
          <p:cNvPr id="53" name="Image 6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882945" y="4842297"/>
            <a:ext cx="209215" cy="209215"/>
          </a:xfrm>
          <a:prstGeom prst="rect">
            <a:avLst/>
          </a:prstGeom>
        </p:spPr>
      </p:pic>
      <p:sp>
        <p:nvSpPr>
          <p:cNvPr id="54" name="Text 45"/>
          <p:cNvSpPr txBox="1"/>
          <p:nvPr/>
        </p:nvSpPr>
        <p:spPr>
          <a:xfrm>
            <a:off x="1298448" y="47183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HR / recruitment</a:t>
            </a:r>
            <a:endParaRPr lang="en-US" sz="1450" dirty="0"/>
          </a:p>
        </p:txBody>
      </p:sp>
      <p:sp>
        <p:nvSpPr>
          <p:cNvPr id="55" name="Text 46"/>
          <p:cNvSpPr txBox="1"/>
          <p:nvPr/>
        </p:nvSpPr>
        <p:spPr>
          <a:xfrm>
            <a:off x="786384" y="512064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Candidate · approval · onboarding · evidence</a:t>
            </a:r>
            <a:endParaRPr lang="en-US" sz="980" dirty="0"/>
          </a:p>
        </p:txBody>
      </p:sp>
      <p:sp>
        <p:nvSpPr>
          <p:cNvPr id="56" name="Shape 47"/>
          <p:cNvSpPr/>
          <p:nvPr/>
        </p:nvSpPr>
        <p:spPr>
          <a:xfrm>
            <a:off x="4352544" y="4590288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57" name="Shape 48"/>
          <p:cNvSpPr/>
          <p:nvPr/>
        </p:nvSpPr>
        <p:spPr>
          <a:xfrm>
            <a:off x="4352544" y="4590288"/>
            <a:ext cx="50292" cy="98755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58" name="Shape 49"/>
          <p:cNvSpPr/>
          <p:nvPr/>
        </p:nvSpPr>
        <p:spPr>
          <a:xfrm>
            <a:off x="4517136" y="4745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59" name="Image 7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613697" y="4842297"/>
            <a:ext cx="209215" cy="209215"/>
          </a:xfrm>
          <a:prstGeom prst="rect">
            <a:avLst/>
          </a:prstGeom>
        </p:spPr>
      </p:pic>
      <p:sp>
        <p:nvSpPr>
          <p:cNvPr id="60" name="Text 50"/>
          <p:cNvSpPr txBox="1"/>
          <p:nvPr/>
        </p:nvSpPr>
        <p:spPr>
          <a:xfrm>
            <a:off x="5029200" y="47183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Device / IoT</a:t>
            </a:r>
            <a:endParaRPr lang="en-US" sz="1450" dirty="0"/>
          </a:p>
        </p:txBody>
      </p:sp>
      <p:sp>
        <p:nvSpPr>
          <p:cNvPr id="61" name="Text 51"/>
          <p:cNvSpPr txBox="1"/>
          <p:nvPr/>
        </p:nvSpPr>
        <p:spPr>
          <a:xfrm>
            <a:off x="4517136" y="512064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Identity · telemetry · workflow · support</a:t>
            </a:r>
            <a:endParaRPr lang="en-US" sz="980" dirty="0"/>
          </a:p>
        </p:txBody>
      </p:sp>
      <p:sp>
        <p:nvSpPr>
          <p:cNvPr id="62" name="Shape 52"/>
          <p:cNvSpPr/>
          <p:nvPr/>
        </p:nvSpPr>
        <p:spPr>
          <a:xfrm>
            <a:off x="8083296" y="4590288"/>
            <a:ext cx="3401568" cy="987552"/>
          </a:xfrm>
          <a:prstGeom prst="roundRect">
            <a:avLst>
              <a:gd name="adj" fmla="val 15741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63" name="Shape 53"/>
          <p:cNvSpPr/>
          <p:nvPr/>
        </p:nvSpPr>
        <p:spPr>
          <a:xfrm>
            <a:off x="8083296" y="4590288"/>
            <a:ext cx="50292" cy="98755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64" name="Shape 54"/>
          <p:cNvSpPr/>
          <p:nvPr/>
        </p:nvSpPr>
        <p:spPr>
          <a:xfrm>
            <a:off x="8247888" y="47457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65" name="Image 8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8344449" y="4842297"/>
            <a:ext cx="209215" cy="209215"/>
          </a:xfrm>
          <a:prstGeom prst="rect">
            <a:avLst/>
          </a:prstGeom>
        </p:spPr>
      </p:pic>
      <p:sp>
        <p:nvSpPr>
          <p:cNvPr id="66" name="Text 55"/>
          <p:cNvSpPr txBox="1"/>
          <p:nvPr/>
        </p:nvSpPr>
        <p:spPr>
          <a:xfrm>
            <a:off x="8759952" y="47183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Digital products</a:t>
            </a:r>
            <a:endParaRPr lang="en-US" sz="1450" dirty="0"/>
          </a:p>
        </p:txBody>
      </p:sp>
      <p:sp>
        <p:nvSpPr>
          <p:cNvPr id="67" name="Text 56"/>
          <p:cNvSpPr txBox="1"/>
          <p:nvPr/>
        </p:nvSpPr>
        <p:spPr>
          <a:xfrm>
            <a:off x="8247888" y="5120640"/>
            <a:ext cx="30723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Tenant · billing · AI · audit · support</a:t>
            </a:r>
            <a:endParaRPr lang="en-US" sz="980" dirty="0"/>
          </a:p>
        </p:txBody>
      </p:sp>
      <p:sp>
        <p:nvSpPr>
          <p:cNvPr id="68" name="Shape 57"/>
          <p:cNvSpPr/>
          <p:nvPr/>
        </p:nvSpPr>
        <p:spPr>
          <a:xfrm>
            <a:off x="3145536" y="5888736"/>
            <a:ext cx="5870448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69" name="Text 58"/>
          <p:cNvSpPr txBox="1"/>
          <p:nvPr/>
        </p:nvSpPr>
        <p:spPr>
          <a:xfrm>
            <a:off x="3218688" y="5907024"/>
            <a:ext cx="572414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 → CUSTOMER WORKFLOW → CERTIFIED RELEASE</a:t>
            </a:r>
            <a:endParaRPr lang="en-US" sz="850" dirty="0"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8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38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COMPLEMENTS THE MODERN API ECOSYSTEM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Different platforms solve different layers of the technology stack.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can integrate with model gateways, unified APIs, integration runtimes, API hubs and iPaaS—while adding supported business capabilities, deployment choice and lifecycle accountability.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267712"/>
            <a:ext cx="1627632" cy="420624"/>
          </a:xfrm>
          <a:prstGeom prst="roundRect">
            <a:avLst>
              <a:gd name="adj" fmla="val 17391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368296"/>
            <a:ext cx="14813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40" b="1" kern="0" spc="6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CATEGORY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2340864" y="2267712"/>
            <a:ext cx="2084832" cy="420624"/>
          </a:xfrm>
          <a:prstGeom prst="roundRect">
            <a:avLst>
              <a:gd name="adj" fmla="val 17391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414016" y="2368296"/>
            <a:ext cx="193852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6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EXAMPLES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4590288" y="2267712"/>
            <a:ext cx="2706624" cy="420624"/>
          </a:xfrm>
          <a:prstGeom prst="roundRect">
            <a:avLst>
              <a:gd name="adj" fmla="val 17391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4663440" y="2368296"/>
            <a:ext cx="2560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6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PRIMARY VALUE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7461504" y="2267712"/>
            <a:ext cx="4169664" cy="420624"/>
          </a:xfrm>
          <a:prstGeom prst="roundRect">
            <a:avLst>
              <a:gd name="adj" fmla="val 17391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534656" y="23682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6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ROLE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48640" y="2761488"/>
            <a:ext cx="1627632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40080" y="2834640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model access</a:t>
            </a:r>
            <a:endParaRPr lang="en-US" sz="940" dirty="0"/>
          </a:p>
        </p:txBody>
      </p:sp>
      <p:sp>
        <p:nvSpPr>
          <p:cNvPr id="24" name="Shape 22"/>
          <p:cNvSpPr/>
          <p:nvPr/>
        </p:nvSpPr>
        <p:spPr>
          <a:xfrm>
            <a:off x="2340864" y="2761488"/>
            <a:ext cx="2084832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32304" y="2834640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MuAPI · OpenRouter</a:t>
            </a:r>
            <a:endParaRPr lang="en-US" sz="940" dirty="0"/>
          </a:p>
        </p:txBody>
      </p:sp>
      <p:sp>
        <p:nvSpPr>
          <p:cNvPr id="26" name="Shape 24"/>
          <p:cNvSpPr/>
          <p:nvPr/>
        </p:nvSpPr>
        <p:spPr>
          <a:xfrm>
            <a:off x="4590288" y="2761488"/>
            <a:ext cx="2706624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4681728" y="2834640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Many models through one API</a:t>
            </a:r>
            <a:endParaRPr lang="en-US" sz="940" dirty="0"/>
          </a:p>
        </p:txBody>
      </p:sp>
      <p:sp>
        <p:nvSpPr>
          <p:cNvPr id="28" name="Shape 26"/>
          <p:cNvSpPr/>
          <p:nvPr/>
        </p:nvSpPr>
        <p:spPr>
          <a:xfrm>
            <a:off x="7461504" y="2761488"/>
            <a:ext cx="4169664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7552944" y="2834640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adds business workflow, policy, evidence, deployment and support around model use.</a:t>
            </a:r>
            <a:endParaRPr lang="en-US" sz="910" dirty="0"/>
          </a:p>
        </p:txBody>
      </p:sp>
      <p:sp>
        <p:nvSpPr>
          <p:cNvPr id="30" name="Shape 28"/>
          <p:cNvSpPr/>
          <p:nvPr/>
        </p:nvSpPr>
        <p:spPr>
          <a:xfrm>
            <a:off x="548640" y="3364992"/>
            <a:ext cx="1627632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40080" y="3438144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Unified SaaS APIs</a:t>
            </a:r>
            <a:endParaRPr lang="en-US" sz="940" dirty="0"/>
          </a:p>
        </p:txBody>
      </p:sp>
      <p:sp>
        <p:nvSpPr>
          <p:cNvPr id="32" name="Shape 30"/>
          <p:cNvSpPr/>
          <p:nvPr/>
        </p:nvSpPr>
        <p:spPr>
          <a:xfrm>
            <a:off x="2340864" y="3364992"/>
            <a:ext cx="2084832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432304" y="3438144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Merge</a:t>
            </a:r>
            <a:endParaRPr lang="en-US" sz="940" dirty="0"/>
          </a:p>
        </p:txBody>
      </p:sp>
      <p:sp>
        <p:nvSpPr>
          <p:cNvPr id="34" name="Shape 32"/>
          <p:cNvSpPr/>
          <p:nvPr/>
        </p:nvSpPr>
        <p:spPr>
          <a:xfrm>
            <a:off x="4590288" y="3364992"/>
            <a:ext cx="2706624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4681728" y="3438144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Normalized access across application categories</a:t>
            </a:r>
            <a:endParaRPr lang="en-US" sz="940" dirty="0"/>
          </a:p>
        </p:txBody>
      </p:sp>
      <p:sp>
        <p:nvSpPr>
          <p:cNvPr id="36" name="Shape 34"/>
          <p:cNvSpPr/>
          <p:nvPr/>
        </p:nvSpPr>
        <p:spPr>
          <a:xfrm>
            <a:off x="7461504" y="3364992"/>
            <a:ext cx="4169664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7552944" y="3438144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composes normalized data into certified business capabilities and vertical workflows.</a:t>
            </a:r>
            <a:endParaRPr lang="en-US" sz="910" dirty="0"/>
          </a:p>
        </p:txBody>
      </p:sp>
      <p:sp>
        <p:nvSpPr>
          <p:cNvPr id="38" name="Shape 36"/>
          <p:cNvSpPr/>
          <p:nvPr/>
        </p:nvSpPr>
        <p:spPr>
          <a:xfrm>
            <a:off x="548640" y="3968496"/>
            <a:ext cx="1627632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40080" y="4041648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Integration runtime</a:t>
            </a:r>
            <a:endParaRPr lang="en-US" sz="940" dirty="0"/>
          </a:p>
        </p:txBody>
      </p:sp>
      <p:sp>
        <p:nvSpPr>
          <p:cNvPr id="40" name="Shape 38"/>
          <p:cNvSpPr/>
          <p:nvPr/>
        </p:nvSpPr>
        <p:spPr>
          <a:xfrm>
            <a:off x="2340864" y="3968496"/>
            <a:ext cx="2084832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432304" y="4041648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Nango</a:t>
            </a:r>
            <a:endParaRPr lang="en-US" sz="940" dirty="0"/>
          </a:p>
        </p:txBody>
      </p:sp>
      <p:sp>
        <p:nvSpPr>
          <p:cNvPr id="42" name="Shape 40"/>
          <p:cNvSpPr/>
          <p:nvPr/>
        </p:nvSpPr>
        <p:spPr>
          <a:xfrm>
            <a:off x="4590288" y="3968496"/>
            <a:ext cx="2706624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4681728" y="4041648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Auth, sync, actions and self-hosting</a:t>
            </a:r>
            <a:endParaRPr lang="en-US" sz="940" dirty="0"/>
          </a:p>
        </p:txBody>
      </p:sp>
      <p:sp>
        <p:nvSpPr>
          <p:cNvPr id="44" name="Shape 42"/>
          <p:cNvSpPr/>
          <p:nvPr/>
        </p:nvSpPr>
        <p:spPr>
          <a:xfrm>
            <a:off x="7461504" y="3968496"/>
            <a:ext cx="4169664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7552944" y="4041648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uses or complements integration runtimes within an end-to-end supported solution.</a:t>
            </a:r>
            <a:endParaRPr lang="en-US" sz="910" dirty="0"/>
          </a:p>
        </p:txBody>
      </p:sp>
      <p:sp>
        <p:nvSpPr>
          <p:cNvPr id="46" name="Shape 44"/>
          <p:cNvSpPr/>
          <p:nvPr/>
        </p:nvSpPr>
        <p:spPr>
          <a:xfrm>
            <a:off x="548640" y="4572000"/>
            <a:ext cx="1627632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40080" y="4645152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hub / gateway</a:t>
            </a:r>
            <a:endParaRPr lang="en-US" sz="940" dirty="0"/>
          </a:p>
        </p:txBody>
      </p:sp>
      <p:sp>
        <p:nvSpPr>
          <p:cNvPr id="48" name="Shape 46"/>
          <p:cNvSpPr/>
          <p:nvPr/>
        </p:nvSpPr>
        <p:spPr>
          <a:xfrm>
            <a:off x="2340864" y="4572000"/>
            <a:ext cx="2084832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432304" y="4645152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RapidAPI · Kong</a:t>
            </a:r>
            <a:endParaRPr lang="en-US" sz="940" dirty="0"/>
          </a:p>
        </p:txBody>
      </p:sp>
      <p:sp>
        <p:nvSpPr>
          <p:cNvPr id="50" name="Shape 48"/>
          <p:cNvSpPr/>
          <p:nvPr/>
        </p:nvSpPr>
        <p:spPr>
          <a:xfrm>
            <a:off x="4590288" y="4572000"/>
            <a:ext cx="2706624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4681728" y="4645152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Discovery, access, traffic and monetization</a:t>
            </a:r>
            <a:endParaRPr lang="en-US" sz="940" dirty="0"/>
          </a:p>
        </p:txBody>
      </p:sp>
      <p:sp>
        <p:nvSpPr>
          <p:cNvPr id="52" name="Shape 50"/>
          <p:cNvSpPr/>
          <p:nvPr/>
        </p:nvSpPr>
        <p:spPr>
          <a:xfrm>
            <a:off x="7461504" y="4572000"/>
            <a:ext cx="4169664" cy="530352"/>
          </a:xfrm>
          <a:prstGeom prst="roundRect">
            <a:avLst>
              <a:gd name="adj" fmla="val 10345"/>
            </a:avLst>
          </a:prstGeom>
          <a:solidFill>
            <a:srgbClr val="11253A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7552944" y="4645152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supplies the certified capability products and customer operating model exposed through the hub.</a:t>
            </a:r>
            <a:endParaRPr lang="en-US" sz="910" dirty="0"/>
          </a:p>
        </p:txBody>
      </p:sp>
      <p:sp>
        <p:nvSpPr>
          <p:cNvPr id="54" name="Shape 52"/>
          <p:cNvSpPr/>
          <p:nvPr/>
        </p:nvSpPr>
        <p:spPr>
          <a:xfrm>
            <a:off x="548640" y="5175504"/>
            <a:ext cx="1627632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40080" y="5248656"/>
            <a:ext cx="14447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iPaaS / automation</a:t>
            </a:r>
            <a:endParaRPr lang="en-US" sz="940" dirty="0"/>
          </a:p>
        </p:txBody>
      </p:sp>
      <p:sp>
        <p:nvSpPr>
          <p:cNvPr id="56" name="Shape 54"/>
          <p:cNvSpPr/>
          <p:nvPr/>
        </p:nvSpPr>
        <p:spPr>
          <a:xfrm>
            <a:off x="2340864" y="5175504"/>
            <a:ext cx="2084832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432304" y="5248656"/>
            <a:ext cx="1901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MuleSoft · Workato · Boomi</a:t>
            </a:r>
            <a:endParaRPr lang="en-US" sz="940" dirty="0"/>
          </a:p>
        </p:txBody>
      </p:sp>
      <p:sp>
        <p:nvSpPr>
          <p:cNvPr id="58" name="Shape 56"/>
          <p:cNvSpPr/>
          <p:nvPr/>
        </p:nvSpPr>
        <p:spPr>
          <a:xfrm>
            <a:off x="4590288" y="5175504"/>
            <a:ext cx="2706624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4681728" y="5248656"/>
            <a:ext cx="252374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integration and workflow automation</a:t>
            </a:r>
            <a:endParaRPr lang="en-US" sz="940" dirty="0"/>
          </a:p>
        </p:txBody>
      </p:sp>
      <p:sp>
        <p:nvSpPr>
          <p:cNvPr id="60" name="Shape 58"/>
          <p:cNvSpPr/>
          <p:nvPr/>
        </p:nvSpPr>
        <p:spPr>
          <a:xfrm>
            <a:off x="7461504" y="5175504"/>
            <a:ext cx="4169664" cy="530352"/>
          </a:xfrm>
          <a:prstGeom prst="roundRect">
            <a:avLst>
              <a:gd name="adj" fmla="val 10345"/>
            </a:avLst>
          </a:prstGeom>
          <a:solidFill>
            <a:srgbClr val="0D1A29"/>
          </a:solidFill>
          <a:ln w="12700">
            <a:solidFill>
              <a:srgbClr val="25384B">
                <a:alpha val="55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7552944" y="5248656"/>
            <a:ext cx="398678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supplies reusable capability implementations and deployment profiles alongside orchestration.</a:t>
            </a:r>
            <a:endParaRPr lang="en-US" sz="910" dirty="0"/>
          </a:p>
        </p:txBody>
      </p:sp>
      <p:sp>
        <p:nvSpPr>
          <p:cNvPr id="62" name="Text 60"/>
          <p:cNvSpPr txBox="1"/>
          <p:nvPr/>
        </p:nvSpPr>
        <p:spPr>
          <a:xfrm>
            <a:off x="530352" y="6327648"/>
            <a:ext cx="10881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68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Sources: official product sites and documentation for MuAPI, OpenRouter, Merge, Nango, RapidAPI, Kong, MuleSoft, Workato and Boomi.</a:t>
            </a:r>
            <a:endParaRPr lang="en-US" sz="680" dirty="0"/>
          </a:p>
        </p:txBody>
      </p:sp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9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DIFFERENTIATION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39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WHY CUSTOMERS CHOOSE PROJEXCLOUD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The platform unifies choices typically distributed across vendors and teams.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differentiator is the complete commercial promise around composition, control and accountable operation.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331720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331720"/>
            <a:ext cx="50292" cy="1344168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258372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customer releases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862072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100% completion of mandatory gates for the agreed profile.</a:t>
            </a:r>
            <a:endParaRPr lang="en-US" sz="1050" dirty="0"/>
          </a:p>
        </p:txBody>
      </p:sp>
      <p:sp>
        <p:nvSpPr>
          <p:cNvPr id="20" name="Shape 17"/>
          <p:cNvSpPr/>
          <p:nvPr/>
        </p:nvSpPr>
        <p:spPr>
          <a:xfrm>
            <a:off x="4352544" y="2331720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2331720"/>
            <a:ext cx="50292" cy="1344168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17136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697" y="258372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 and API parity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17136" y="2862072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Consume hosted or deploy in your own cloud using the same capability contract.</a:t>
            </a:r>
            <a:endParaRPr lang="en-US" sz="1050" dirty="0"/>
          </a:p>
        </p:txBody>
      </p:sp>
      <p:sp>
        <p:nvSpPr>
          <p:cNvPr id="26" name="Shape 22"/>
          <p:cNvSpPr/>
          <p:nvPr/>
        </p:nvSpPr>
        <p:spPr>
          <a:xfrm>
            <a:off x="8083296" y="2331720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83296" y="2331720"/>
            <a:ext cx="50292" cy="1344168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4449" y="2583729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59952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Composable business capabilities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862072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Combine multiple capability families into customer-specific workflows.</a:t>
            </a:r>
            <a:endParaRPr lang="en-US" sz="1050" dirty="0"/>
          </a:p>
        </p:txBody>
      </p:sp>
      <p:sp>
        <p:nvSpPr>
          <p:cNvPr id="32" name="Shape 27"/>
          <p:cNvSpPr/>
          <p:nvPr/>
        </p:nvSpPr>
        <p:spPr>
          <a:xfrm>
            <a:off x="621792" y="3904488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21792" y="3904488"/>
            <a:ext cx="50292" cy="1344168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40599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45" y="4156497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98448" y="40325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Deployment sovereignty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86384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cloud, BYOK, private network, on-prem and sovereign profiles.</a:t>
            </a:r>
            <a:endParaRPr lang="en-US" sz="1050" dirty="0"/>
          </a:p>
        </p:txBody>
      </p:sp>
      <p:sp>
        <p:nvSpPr>
          <p:cNvPr id="38" name="Shape 32"/>
          <p:cNvSpPr/>
          <p:nvPr/>
        </p:nvSpPr>
        <p:spPr>
          <a:xfrm>
            <a:off x="4352544" y="3904488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352544" y="3904488"/>
            <a:ext cx="50292" cy="1344168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17136" y="40599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3697" y="4156497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29200" y="40325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Full-lifecycle support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17136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PoC, development, QA, UAT, launch, product, SRE and P1 response.</a:t>
            </a:r>
            <a:endParaRPr lang="en-US" sz="1050" dirty="0"/>
          </a:p>
        </p:txBody>
      </p:sp>
      <p:sp>
        <p:nvSpPr>
          <p:cNvPr id="44" name="Shape 37"/>
          <p:cNvSpPr/>
          <p:nvPr/>
        </p:nvSpPr>
        <p:spPr>
          <a:xfrm>
            <a:off x="8083296" y="3904488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083296" y="3904488"/>
            <a:ext cx="50292" cy="1344168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47888" y="40599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4449" y="4156497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59952" y="40325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Progressive ownership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47888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quickly, extend freely and move workloads as your strategy evolves.</a:t>
            </a:r>
            <a:endParaRPr lang="en-US" sz="1050" dirty="0"/>
          </a:p>
        </p:txBody>
      </p:sp>
      <p:sp>
        <p:nvSpPr>
          <p:cNvPr id="50" name="Shape 42"/>
          <p:cNvSpPr/>
          <p:nvPr/>
        </p:nvSpPr>
        <p:spPr>
          <a:xfrm>
            <a:off x="1170432" y="5632704"/>
            <a:ext cx="9857232" cy="502920"/>
          </a:xfrm>
          <a:prstGeom prst="roundRect">
            <a:avLst>
              <a:gd name="adj" fmla="val 29091"/>
            </a:avLst>
          </a:prstGeom>
          <a:solidFill>
            <a:srgbClr val="11253A"/>
          </a:solidFill>
          <a:ln w="12700">
            <a:solidFill>
              <a:srgbClr val="52D6A4">
                <a:alpha val="65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435608" y="5769864"/>
            <a:ext cx="9308592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One platform to build faster, preserve control and stand confidently behind the production outcome.</a:t>
            </a:r>
            <a:endParaRPr lang="en-US" sz="1270" dirty="0"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0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PROCUREMENT READINESS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40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CUSTOMER TRUST PACKAGE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Make architecture, security, procurement and operations review straightforward.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exact package is tailored to deployment and support tier, with sensitive implementation evidence shared under appropriate confidentiality.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33172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331720"/>
            <a:ext cx="50292" cy="1325880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258372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Commercial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86207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MSA · SOW · order form · SLA · support policy</a:t>
            </a:r>
            <a:endParaRPr lang="en-US" sz="1040" dirty="0"/>
          </a:p>
        </p:txBody>
      </p:sp>
      <p:sp>
        <p:nvSpPr>
          <p:cNvPr id="20" name="Shape 17"/>
          <p:cNvSpPr/>
          <p:nvPr/>
        </p:nvSpPr>
        <p:spPr>
          <a:xfrm>
            <a:off x="4352544" y="233172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2331720"/>
            <a:ext cx="50292" cy="1325880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17136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697" y="258372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Privacy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17136" y="286207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DPA · subprocessor model · residency · retention</a:t>
            </a:r>
            <a:endParaRPr lang="en-US" sz="1040" dirty="0"/>
          </a:p>
        </p:txBody>
      </p:sp>
      <p:sp>
        <p:nvSpPr>
          <p:cNvPr id="26" name="Shape 22"/>
          <p:cNvSpPr/>
          <p:nvPr/>
        </p:nvSpPr>
        <p:spPr>
          <a:xfrm>
            <a:off x="8083296" y="233172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83296" y="2331720"/>
            <a:ext cx="50292" cy="1325880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4449" y="2583729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59952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86207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Security questionnaire · architecture · SBOM · provenance</a:t>
            </a:r>
            <a:endParaRPr lang="en-US" sz="1040" dirty="0"/>
          </a:p>
        </p:txBody>
      </p:sp>
      <p:sp>
        <p:nvSpPr>
          <p:cNvPr id="32" name="Shape 27"/>
          <p:cNvSpPr/>
          <p:nvPr/>
        </p:nvSpPr>
        <p:spPr>
          <a:xfrm>
            <a:off x="621792" y="388620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21792" y="3886200"/>
            <a:ext cx="50292" cy="1325880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45" y="4138209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98448" y="40142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Release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86384" y="441655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manifest · test summary · compatibility · lifecycle</a:t>
            </a:r>
            <a:endParaRPr lang="en-US" sz="1040" dirty="0"/>
          </a:p>
        </p:txBody>
      </p:sp>
      <p:sp>
        <p:nvSpPr>
          <p:cNvPr id="38" name="Shape 32"/>
          <p:cNvSpPr/>
          <p:nvPr/>
        </p:nvSpPr>
        <p:spPr>
          <a:xfrm>
            <a:off x="4352544" y="388620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352544" y="3886200"/>
            <a:ext cx="50292" cy="1325880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17136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3697" y="4138209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29200" y="40142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Operations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17136" y="441655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· telemetry · runbooks · escalation · DR / BCP</a:t>
            </a:r>
            <a:endParaRPr lang="en-US" sz="1040" dirty="0"/>
          </a:p>
        </p:txBody>
      </p:sp>
      <p:sp>
        <p:nvSpPr>
          <p:cNvPr id="44" name="Shape 37"/>
          <p:cNvSpPr/>
          <p:nvPr/>
        </p:nvSpPr>
        <p:spPr>
          <a:xfrm>
            <a:off x="8083296" y="3886200"/>
            <a:ext cx="3401568" cy="1325880"/>
          </a:xfrm>
          <a:prstGeom prst="roundRect">
            <a:avLst>
              <a:gd name="adj" fmla="val 1172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083296" y="3886200"/>
            <a:ext cx="50292" cy="1325880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47888" y="404164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4449" y="4138209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59952" y="401421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47888" y="4416552"/>
            <a:ext cx="3072384" cy="6675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4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 plan · adoption metrics · QBR · roadmap governance</a:t>
            </a:r>
            <a:endParaRPr lang="en-US" sz="1040" dirty="0"/>
          </a:p>
        </p:txBody>
      </p:sp>
      <p:sp>
        <p:nvSpPr>
          <p:cNvPr id="50" name="Shape 42"/>
          <p:cNvSpPr/>
          <p:nvPr/>
        </p:nvSpPr>
        <p:spPr>
          <a:xfrm>
            <a:off x="2926080" y="5650992"/>
            <a:ext cx="6291072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2999232" y="5669280"/>
            <a:ext cx="6144768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AVAILABLE THROUGH THE DIGITAL SALES ROOM AND CUSTOMER PORTAL</a:t>
            </a:r>
            <a:endParaRPr lang="en-US" sz="850" dirty="0"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1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NEXT STEP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41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 WITH ONE HIGH-VALUE WORKFLOW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precise blueprint is the fastest way to determine fit, value and production path.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Bring one business process, one integration priority or one product capability. ProjexCloud returns a concrete solution and operating model.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40080" y="2359152"/>
            <a:ext cx="2542032" cy="2651760"/>
          </a:xfrm>
          <a:prstGeom prst="roundRect">
            <a:avLst>
              <a:gd name="adj" fmla="val 575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804672" y="2514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5E2FF">
                <a:alpha val="7000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04672" y="25237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01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261872" y="250545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 the workflow</a:t>
            </a:r>
            <a:endParaRPr lang="en-US" sz="1330" dirty="0"/>
          </a:p>
        </p:txBody>
      </p:sp>
      <p:sp>
        <p:nvSpPr>
          <p:cNvPr id="18" name="Text 16"/>
          <p:cNvSpPr txBox="1"/>
          <p:nvPr/>
        </p:nvSpPr>
        <p:spPr>
          <a:xfrm>
            <a:off x="804672" y="292608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Current systems, users, pain points, data and desired outcome.</a:t>
            </a:r>
            <a:endParaRPr lang="en-US" sz="1080" dirty="0"/>
          </a:p>
        </p:txBody>
      </p:sp>
      <p:sp>
        <p:nvSpPr>
          <p:cNvPr id="19" name="Shape 17"/>
          <p:cNvSpPr/>
          <p:nvPr/>
        </p:nvSpPr>
        <p:spPr>
          <a:xfrm>
            <a:off x="3200400" y="3675888"/>
            <a:ext cx="20116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3474720" y="2359152"/>
            <a:ext cx="2542032" cy="2651760"/>
          </a:xfrm>
          <a:prstGeom prst="roundRect">
            <a:avLst>
              <a:gd name="adj" fmla="val 575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39312" y="2514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B29CFF">
                <a:alpha val="70000"/>
              </a:srgbClr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3639312" y="25237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02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4096512" y="250545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Map the capability BOM</a:t>
            </a:r>
            <a:endParaRPr lang="en-US" sz="1330" dirty="0"/>
          </a:p>
        </p:txBody>
      </p:sp>
      <p:sp>
        <p:nvSpPr>
          <p:cNvPr id="24" name="Text 22"/>
          <p:cNvSpPr txBox="1"/>
          <p:nvPr/>
        </p:nvSpPr>
        <p:spPr>
          <a:xfrm>
            <a:off x="3639312" y="292608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SDKs/APIs, connectors, deployment, controls, support and dependencies.</a:t>
            </a:r>
            <a:endParaRPr lang="en-US" sz="1080" dirty="0"/>
          </a:p>
        </p:txBody>
      </p:sp>
      <p:sp>
        <p:nvSpPr>
          <p:cNvPr id="25" name="Shape 23"/>
          <p:cNvSpPr/>
          <p:nvPr/>
        </p:nvSpPr>
        <p:spPr>
          <a:xfrm>
            <a:off x="6035040" y="3675888"/>
            <a:ext cx="20116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09360" y="2359152"/>
            <a:ext cx="2542032" cy="2651760"/>
          </a:xfrm>
          <a:prstGeom prst="roundRect">
            <a:avLst>
              <a:gd name="adj" fmla="val 575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5"/>
          <p:cNvSpPr/>
          <p:nvPr/>
        </p:nvSpPr>
        <p:spPr>
          <a:xfrm>
            <a:off x="6473952" y="2514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4D8CFF">
                <a:alpha val="7000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473952" y="25237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03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6931152" y="250545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Demonstrate the journey</a:t>
            </a:r>
            <a:endParaRPr lang="en-US" sz="1330" dirty="0"/>
          </a:p>
        </p:txBody>
      </p:sp>
      <p:sp>
        <p:nvSpPr>
          <p:cNvPr id="30" name="Text 28"/>
          <p:cNvSpPr txBox="1"/>
          <p:nvPr/>
        </p:nvSpPr>
        <p:spPr>
          <a:xfrm>
            <a:off x="6473952" y="292608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working proof using representative data and agreed success criteria.</a:t>
            </a:r>
            <a:endParaRPr lang="en-US" sz="1080" dirty="0"/>
          </a:p>
        </p:txBody>
      </p:sp>
      <p:sp>
        <p:nvSpPr>
          <p:cNvPr id="31" name="Shape 29"/>
          <p:cNvSpPr/>
          <p:nvPr/>
        </p:nvSpPr>
        <p:spPr>
          <a:xfrm>
            <a:off x="8869680" y="3675888"/>
            <a:ext cx="201168" cy="0"/>
          </a:xfrm>
          <a:prstGeom prst="line">
            <a:avLst/>
          </a:prstGeom>
          <a:noFill/>
          <a:ln w="15240">
            <a:solidFill>
              <a:srgbClr val="70859A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9144000" y="2359152"/>
            <a:ext cx="2542032" cy="2651760"/>
          </a:xfrm>
          <a:prstGeom prst="roundRect">
            <a:avLst>
              <a:gd name="adj" fmla="val 575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9308592" y="2514600"/>
            <a:ext cx="347472" cy="347472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9308592" y="2523744"/>
            <a:ext cx="34747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04</a:t>
            </a:r>
            <a:endParaRPr lang="en-US" sz="1000" dirty="0"/>
          </a:p>
        </p:txBody>
      </p:sp>
      <p:sp>
        <p:nvSpPr>
          <p:cNvPr id="35" name="Text 33"/>
          <p:cNvSpPr txBox="1"/>
          <p:nvPr/>
        </p:nvSpPr>
        <p:spPr>
          <a:xfrm>
            <a:off x="9765792" y="2505456"/>
            <a:ext cx="176479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3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Commit the production path</a:t>
            </a:r>
            <a:endParaRPr lang="en-US" sz="1330" dirty="0"/>
          </a:p>
        </p:txBody>
      </p:sp>
      <p:sp>
        <p:nvSpPr>
          <p:cNvPr id="36" name="Text 34"/>
          <p:cNvSpPr txBox="1"/>
          <p:nvPr/>
        </p:nvSpPr>
        <p:spPr>
          <a:xfrm>
            <a:off x="9308592" y="2926080"/>
            <a:ext cx="2212848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release plan, commercials, SLA and named customer team.</a:t>
            </a:r>
            <a:endParaRPr lang="en-US" sz="1080" dirty="0"/>
          </a:p>
        </p:txBody>
      </p:sp>
      <p:sp>
        <p:nvSpPr>
          <p:cNvPr id="37" name="Shape 35"/>
          <p:cNvSpPr/>
          <p:nvPr/>
        </p:nvSpPr>
        <p:spPr>
          <a:xfrm>
            <a:off x="1005840" y="5321808"/>
            <a:ext cx="10168128" cy="694944"/>
          </a:xfrm>
          <a:prstGeom prst="roundRect">
            <a:avLst>
              <a:gd name="adj" fmla="val 26316"/>
            </a:avLst>
          </a:prstGeom>
          <a:solidFill>
            <a:srgbClr val="11253A"/>
          </a:solidFill>
          <a:ln w="12700">
            <a:solidFill>
              <a:srgbClr val="45E2FF">
                <a:alpha val="65000"/>
              </a:srgbClr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8" name="Text 36"/>
          <p:cNvSpPr txBox="1"/>
          <p:nvPr/>
        </p:nvSpPr>
        <p:spPr>
          <a:xfrm>
            <a:off x="1316736" y="5504688"/>
            <a:ext cx="953719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first engagement: a focused outcome blueprint and working proof for the customer’s most valuable reachable use case.</a:t>
            </a:r>
            <a:endParaRPr lang="en-US" sz="1400" dirty="0"/>
          </a:p>
        </p:txBody>
      </p:sp>
      <p:sp>
        <p:nvSpPr>
          <p:cNvPr id="39" name="Text 37"/>
          <p:cNvSpPr txBox="1"/>
          <p:nvPr/>
        </p:nvSpPr>
        <p:spPr>
          <a:xfrm>
            <a:off x="1920240" y="6181344"/>
            <a:ext cx="8375904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· Build faster. Deploy anywhere. Operate with enterprise confidence.</a:t>
            </a:r>
            <a:endParaRPr lang="en-US" sz="1000" dirty="0"/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2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50A12"/>
          </a:solidFill>
          <a:ln w="12700">
            <a:solidFill>
              <a:srgbClr val="050A12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840000">
            <a:off x="8275320" y="137160"/>
            <a:ext cx="3703320" cy="3703320"/>
          </a:xfrm>
          <a:prstGeom prst="arc">
            <a:avLst/>
          </a:prstGeom>
          <a:solidFill>
            <a:srgbClr val="B29CFF">
              <a:alpha val="14000"/>
            </a:srgbClr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 rot="1800000">
            <a:off x="9189720" y="731520"/>
            <a:ext cx="2651760" cy="2651760"/>
          </a:xfrm>
          <a:prstGeom prst="arc">
            <a:avLst/>
          </a:prstGeom>
          <a:solidFill>
            <a:srgbClr val="B29CFF">
              <a:alpha val="10000"/>
            </a:srgbClr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658368" y="1078992"/>
            <a:ext cx="43891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00" b="1" kern="0" spc="150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TECHNICAL &amp; COMMERCIAL ADDENDUM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658368" y="1481328"/>
            <a:ext cx="804672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8000"/>
              </a:lnSpc>
              <a:buNone/>
            </a:pPr>
            <a:r>
              <a:rPr lang="en-US" sz="39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For architecture, security, procurement and operations review.</a:t>
            </a:r>
            <a:endParaRPr lang="en-US" sz="3900" dirty="0"/>
          </a:p>
        </p:txBody>
      </p:sp>
      <p:sp>
        <p:nvSpPr>
          <p:cNvPr id="10" name="Text 8"/>
          <p:cNvSpPr txBox="1"/>
          <p:nvPr/>
        </p:nvSpPr>
        <p:spPr>
          <a:xfrm>
            <a:off x="658368" y="2743200"/>
            <a:ext cx="6949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70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Detailed semantics behind certification, support, commercial metering and research sources.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9509760" y="4480560"/>
            <a:ext cx="1234440" cy="1234440"/>
          </a:xfrm>
          <a:prstGeom prst="roundRect">
            <a:avLst>
              <a:gd name="adj" fmla="val 26667"/>
            </a:avLst>
          </a:prstGeom>
          <a:solidFill>
            <a:srgbClr val="11253A"/>
          </a:solidFill>
          <a:ln w="19050">
            <a:solidFill>
              <a:srgbClr val="B29CFF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pic>
        <p:nvPicPr>
          <p:cNvPr id="12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829800" y="4791456"/>
            <a:ext cx="594360" cy="594360"/>
          </a:xfrm>
          <a:prstGeom prst="rect">
            <a:avLst/>
          </a:prstGeom>
        </p:spPr>
      </p:pic>
      <p:sp>
        <p:nvSpPr>
          <p:cNvPr id="13" name="Text 10"/>
          <p:cNvSpPr txBox="1"/>
          <p:nvPr/>
        </p:nvSpPr>
        <p:spPr>
          <a:xfrm>
            <a:off x="10844784" y="5925312"/>
            <a:ext cx="6400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2200" b="1" dirty="0">
                <a:solidFill>
                  <a:srgbClr val="B29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42</a:t>
            </a:r>
            <a:endParaRPr lang="en-US" sz="2200" dirty="0"/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3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 · ASSURANCE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43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CERTIFICATION AND SLA SEMANTICS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Precision strengthens the promise.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Every contract defines the certified object, target environment, service boundary and response model so both parties can operate with confidence.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267712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786384" y="23957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object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377440" y="237744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SDK/API versions, dependencies, configuration and deployment profile.</a:t>
            </a:r>
            <a:endParaRPr lang="en-US" sz="980" dirty="0"/>
          </a:p>
        </p:txBody>
      </p:sp>
      <p:sp>
        <p:nvSpPr>
          <p:cNvPr id="17" name="Shape 15"/>
          <p:cNvSpPr/>
          <p:nvPr/>
        </p:nvSpPr>
        <p:spPr>
          <a:xfrm>
            <a:off x="6199632" y="2267712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364224" y="2395728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Mandatory gate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7955280" y="2377440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required functional, security, resilience, performance, evidence or support control.</a:t>
            </a:r>
            <a:endParaRPr lang="en-US" sz="980" dirty="0"/>
          </a:p>
        </p:txBody>
      </p:sp>
      <p:sp>
        <p:nvSpPr>
          <p:cNvPr id="20" name="Shape 18"/>
          <p:cNvSpPr/>
          <p:nvPr/>
        </p:nvSpPr>
        <p:spPr>
          <a:xfrm>
            <a:off x="621792" y="3163824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786384" y="3291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release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377440" y="32735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An artifact promoted to a customer-approved channel after certification approval.</a:t>
            </a:r>
            <a:endParaRPr lang="en-US" sz="980" dirty="0"/>
          </a:p>
        </p:txBody>
      </p:sp>
      <p:sp>
        <p:nvSpPr>
          <p:cNvPr id="23" name="Shape 21"/>
          <p:cNvSpPr/>
          <p:nvPr/>
        </p:nvSpPr>
        <p:spPr>
          <a:xfrm>
            <a:off x="6199632" y="3163824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64224" y="3291840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Service availability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7955280" y="3273552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Measured only for hosted components explicitly included in the service boundary.</a:t>
            </a:r>
            <a:endParaRPr lang="en-US" sz="980" dirty="0"/>
          </a:p>
        </p:txBody>
      </p:sp>
      <p:sp>
        <p:nvSpPr>
          <p:cNvPr id="26" name="Shape 24"/>
          <p:cNvSpPr/>
          <p:nvPr/>
        </p:nvSpPr>
        <p:spPr>
          <a:xfrm>
            <a:off x="621792" y="4059936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786384" y="41879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incident</a:t>
            </a:r>
            <a:endParaRPr lang="en-US" sz="1100" dirty="0"/>
          </a:p>
        </p:txBody>
      </p:sp>
      <p:sp>
        <p:nvSpPr>
          <p:cNvPr id="28" name="Text 26"/>
          <p:cNvSpPr txBox="1"/>
          <p:nvPr/>
        </p:nvSpPr>
        <p:spPr>
          <a:xfrm>
            <a:off x="2377440" y="416966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defined production-critical event with agreed impact criteria and response target.</a:t>
            </a:r>
            <a:endParaRPr lang="en-US" sz="980" dirty="0"/>
          </a:p>
        </p:txBody>
      </p:sp>
      <p:sp>
        <p:nvSpPr>
          <p:cNvPr id="29" name="Shape 27"/>
          <p:cNvSpPr/>
          <p:nvPr/>
        </p:nvSpPr>
        <p:spPr>
          <a:xfrm>
            <a:off x="6199632" y="4059936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6364224" y="4187952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responsibility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7955280" y="4169664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 documented map of ProjexCloud-operated and customer-operated controls.</a:t>
            </a:r>
            <a:endParaRPr lang="en-US" sz="980" dirty="0"/>
          </a:p>
        </p:txBody>
      </p:sp>
      <p:sp>
        <p:nvSpPr>
          <p:cNvPr id="32" name="Shape 30"/>
          <p:cNvSpPr/>
          <p:nvPr/>
        </p:nvSpPr>
        <p:spPr>
          <a:xfrm>
            <a:off x="621792" y="4956048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786384" y="50840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Lifecycle</a:t>
            </a:r>
            <a:endParaRPr lang="en-US" sz="1100" dirty="0"/>
          </a:p>
        </p:txBody>
      </p:sp>
      <p:sp>
        <p:nvSpPr>
          <p:cNvPr id="34" name="Text 32"/>
          <p:cNvSpPr txBox="1"/>
          <p:nvPr/>
        </p:nvSpPr>
        <p:spPr>
          <a:xfrm>
            <a:off x="2377440" y="506577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Maintenance, security response, upgrade path and end-of-support dates by version.</a:t>
            </a:r>
            <a:endParaRPr lang="en-US" sz="980" dirty="0"/>
          </a:p>
        </p:txBody>
      </p:sp>
      <p:sp>
        <p:nvSpPr>
          <p:cNvPr id="35" name="Shape 33"/>
          <p:cNvSpPr/>
          <p:nvPr/>
        </p:nvSpPr>
        <p:spPr>
          <a:xfrm>
            <a:off x="6199632" y="4956048"/>
            <a:ext cx="5248656" cy="749808"/>
          </a:xfrm>
          <a:prstGeom prst="roundRect">
            <a:avLst>
              <a:gd name="adj" fmla="val 15854"/>
            </a:avLst>
          </a:prstGeom>
          <a:solidFill>
            <a:srgbClr val="11253A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4224" y="5084064"/>
            <a:ext cx="148132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Third-party dependency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7955280" y="5065776"/>
            <a:ext cx="32461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8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ownership, cost treatment, limits, fallback and escalation path.</a:t>
            </a:r>
            <a:endParaRPr lang="en-US" sz="980" dirty="0"/>
          </a:p>
        </p:txBody>
      </p:sp>
      <p:sp>
        <p:nvSpPr>
          <p:cNvPr id="38" name="Shape 36"/>
          <p:cNvSpPr/>
          <p:nvPr/>
        </p:nvSpPr>
        <p:spPr>
          <a:xfrm>
            <a:off x="2834640" y="5998464"/>
            <a:ext cx="644652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52D6A4">
                <a:alpha val="70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2907792" y="6016752"/>
            <a:ext cx="63002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TERMS BECOME CONTRACTUAL ONLY IN AN EXECUTED ORDER FORM</a:t>
            </a:r>
            <a:endParaRPr lang="en-US" sz="850" dirty="0"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4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 · SUPPORT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44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OPERATING MODEL AND RESPONSIBILITY MAP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 clear handoff is as important as a fast response.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model preserves customer control while giving ProjexCloud enough authority to certify, support and restore the defined service.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548640" y="2240280"/>
            <a:ext cx="2240280" cy="420624"/>
          </a:xfrm>
          <a:prstGeom prst="roundRect">
            <a:avLst>
              <a:gd name="adj" fmla="val 15217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621792" y="2340864"/>
            <a:ext cx="20939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5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WORKSTREAM</a:t>
            </a:r>
            <a:endParaRPr lang="en-US" sz="840" dirty="0"/>
          </a:p>
        </p:txBody>
      </p:sp>
      <p:sp>
        <p:nvSpPr>
          <p:cNvPr id="16" name="Shape 14"/>
          <p:cNvSpPr/>
          <p:nvPr/>
        </p:nvSpPr>
        <p:spPr>
          <a:xfrm>
            <a:off x="2907792" y="2240280"/>
            <a:ext cx="2011680" cy="420624"/>
          </a:xfrm>
          <a:prstGeom prst="roundRect">
            <a:avLst>
              <a:gd name="adj" fmla="val 15217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2980944" y="2340864"/>
            <a:ext cx="1865376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50" dirty="0">
                <a:solidFill>
                  <a:srgbClr val="4D8C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</a:t>
            </a:r>
            <a:endParaRPr lang="en-US" sz="840" dirty="0"/>
          </a:p>
        </p:txBody>
      </p:sp>
      <p:sp>
        <p:nvSpPr>
          <p:cNvPr id="18" name="Shape 16"/>
          <p:cNvSpPr/>
          <p:nvPr/>
        </p:nvSpPr>
        <p:spPr>
          <a:xfrm>
            <a:off x="5029200" y="2240280"/>
            <a:ext cx="3090672" cy="420624"/>
          </a:xfrm>
          <a:prstGeom prst="roundRect">
            <a:avLst>
              <a:gd name="adj" fmla="val 15217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5102352" y="2340864"/>
            <a:ext cx="2944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840" dirty="0"/>
          </a:p>
        </p:txBody>
      </p:sp>
      <p:sp>
        <p:nvSpPr>
          <p:cNvPr id="20" name="Shape 18"/>
          <p:cNvSpPr/>
          <p:nvPr/>
        </p:nvSpPr>
        <p:spPr>
          <a:xfrm>
            <a:off x="8247888" y="2240280"/>
            <a:ext cx="3401568" cy="420624"/>
          </a:xfrm>
          <a:prstGeom prst="roundRect">
            <a:avLst>
              <a:gd name="adj" fmla="val 15217"/>
            </a:avLst>
          </a:prstGeom>
          <a:solidFill>
            <a:srgbClr val="11253A"/>
          </a:solidFill>
          <a:ln w="12700">
            <a:solidFill>
              <a:srgbClr val="25384B">
                <a:alpha val="75000"/>
              </a:srgbClr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321040" y="2340864"/>
            <a:ext cx="325526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40" b="1" kern="0" spc="50" dirty="0">
                <a:solidFill>
                  <a:srgbClr val="52D6A4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OUTPUT</a:t>
            </a:r>
            <a:endParaRPr lang="en-US" sz="840" dirty="0"/>
          </a:p>
        </p:txBody>
      </p:sp>
      <p:sp>
        <p:nvSpPr>
          <p:cNvPr id="22" name="Shape 20"/>
          <p:cNvSpPr/>
          <p:nvPr/>
        </p:nvSpPr>
        <p:spPr>
          <a:xfrm>
            <a:off x="548640" y="27432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621792" y="28072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Business outcome</a:t>
            </a:r>
            <a:endParaRPr lang="en-US" sz="870" dirty="0"/>
          </a:p>
        </p:txBody>
      </p:sp>
      <p:sp>
        <p:nvSpPr>
          <p:cNvPr id="24" name="Shape 22"/>
          <p:cNvSpPr/>
          <p:nvPr/>
        </p:nvSpPr>
        <p:spPr>
          <a:xfrm>
            <a:off x="2907792" y="27432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980944" y="28072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</a:t>
            </a:r>
            <a:endParaRPr lang="en-US" sz="870" dirty="0"/>
          </a:p>
        </p:txBody>
      </p:sp>
      <p:sp>
        <p:nvSpPr>
          <p:cNvPr id="26" name="Shape 24"/>
          <p:cNvSpPr/>
          <p:nvPr/>
        </p:nvSpPr>
        <p:spPr>
          <a:xfrm>
            <a:off x="5029200" y="27432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5102352" y="28072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Advises / delivers</a:t>
            </a:r>
            <a:endParaRPr lang="en-US" sz="870" dirty="0"/>
          </a:p>
        </p:txBody>
      </p:sp>
      <p:sp>
        <p:nvSpPr>
          <p:cNvPr id="28" name="Shape 26"/>
          <p:cNvSpPr/>
          <p:nvPr/>
        </p:nvSpPr>
        <p:spPr>
          <a:xfrm>
            <a:off x="8247888" y="27432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8321040" y="28072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Success criteria and value plan</a:t>
            </a:r>
            <a:endParaRPr lang="en-US" sz="870" dirty="0"/>
          </a:p>
        </p:txBody>
      </p:sp>
      <p:sp>
        <p:nvSpPr>
          <p:cNvPr id="30" name="Shape 28"/>
          <p:cNvSpPr/>
          <p:nvPr/>
        </p:nvSpPr>
        <p:spPr>
          <a:xfrm>
            <a:off x="548640" y="32004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21792" y="32644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&amp; integration</a:t>
            </a:r>
            <a:endParaRPr lang="en-US" sz="870" dirty="0"/>
          </a:p>
        </p:txBody>
      </p:sp>
      <p:sp>
        <p:nvSpPr>
          <p:cNvPr id="32" name="Shape 30"/>
          <p:cNvSpPr/>
          <p:nvPr/>
        </p:nvSpPr>
        <p:spPr>
          <a:xfrm>
            <a:off x="2907792" y="32004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2980944" y="32644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Approves / supplies context</a:t>
            </a:r>
            <a:endParaRPr lang="en-US" sz="870" dirty="0"/>
          </a:p>
        </p:txBody>
      </p:sp>
      <p:sp>
        <p:nvSpPr>
          <p:cNvPr id="34" name="Shape 32"/>
          <p:cNvSpPr/>
          <p:nvPr/>
        </p:nvSpPr>
        <p:spPr>
          <a:xfrm>
            <a:off x="5029200" y="32004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5102352" y="32644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 for certified design</a:t>
            </a:r>
            <a:endParaRPr lang="en-US" sz="870" dirty="0"/>
          </a:p>
        </p:txBody>
      </p:sp>
      <p:sp>
        <p:nvSpPr>
          <p:cNvPr id="36" name="Shape 34"/>
          <p:cNvSpPr/>
          <p:nvPr/>
        </p:nvSpPr>
        <p:spPr>
          <a:xfrm>
            <a:off x="8247888" y="32004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37" name="Text 35"/>
          <p:cNvSpPr txBox="1"/>
          <p:nvPr/>
        </p:nvSpPr>
        <p:spPr>
          <a:xfrm>
            <a:off x="8321040" y="32644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Architecture decision pack</a:t>
            </a:r>
            <a:endParaRPr lang="en-US" sz="870" dirty="0"/>
          </a:p>
        </p:txBody>
      </p:sp>
      <p:sp>
        <p:nvSpPr>
          <p:cNvPr id="38" name="Shape 36"/>
          <p:cNvSpPr/>
          <p:nvPr/>
        </p:nvSpPr>
        <p:spPr>
          <a:xfrm>
            <a:off x="548640" y="36576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39" name="Text 37"/>
          <p:cNvSpPr txBox="1"/>
          <p:nvPr/>
        </p:nvSpPr>
        <p:spPr>
          <a:xfrm>
            <a:off x="621792" y="37216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environment</a:t>
            </a:r>
            <a:endParaRPr lang="en-US" sz="870" dirty="0"/>
          </a:p>
        </p:txBody>
      </p:sp>
      <p:sp>
        <p:nvSpPr>
          <p:cNvPr id="40" name="Shape 38"/>
          <p:cNvSpPr/>
          <p:nvPr/>
        </p:nvSpPr>
        <p:spPr>
          <a:xfrm>
            <a:off x="2907792" y="36576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41" name="Text 39"/>
          <p:cNvSpPr txBox="1"/>
          <p:nvPr/>
        </p:nvSpPr>
        <p:spPr>
          <a:xfrm>
            <a:off x="2980944" y="37216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Owns IAM, network, data and change windows</a:t>
            </a:r>
            <a:endParaRPr lang="en-US" sz="870" dirty="0"/>
          </a:p>
        </p:txBody>
      </p:sp>
      <p:sp>
        <p:nvSpPr>
          <p:cNvPr id="42" name="Shape 40"/>
          <p:cNvSpPr/>
          <p:nvPr/>
        </p:nvSpPr>
        <p:spPr>
          <a:xfrm>
            <a:off x="5029200" y="36576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43" name="Text 41"/>
          <p:cNvSpPr txBox="1"/>
          <p:nvPr/>
        </p:nvSpPr>
        <p:spPr>
          <a:xfrm>
            <a:off x="5102352" y="37216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Supports agreed deployment</a:t>
            </a:r>
            <a:endParaRPr lang="en-US" sz="870" dirty="0"/>
          </a:p>
        </p:txBody>
      </p:sp>
      <p:sp>
        <p:nvSpPr>
          <p:cNvPr id="44" name="Shape 42"/>
          <p:cNvSpPr/>
          <p:nvPr/>
        </p:nvSpPr>
        <p:spPr>
          <a:xfrm>
            <a:off x="8247888" y="36576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321040" y="37216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Shared-responsibility matrix</a:t>
            </a:r>
            <a:endParaRPr lang="en-US" sz="870" dirty="0"/>
          </a:p>
        </p:txBody>
      </p:sp>
      <p:sp>
        <p:nvSpPr>
          <p:cNvPr id="46" name="Shape 44"/>
          <p:cNvSpPr/>
          <p:nvPr/>
        </p:nvSpPr>
        <p:spPr>
          <a:xfrm>
            <a:off x="548640" y="41148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621792" y="41788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release</a:t>
            </a:r>
            <a:endParaRPr lang="en-US" sz="870" dirty="0"/>
          </a:p>
        </p:txBody>
      </p:sp>
      <p:sp>
        <p:nvSpPr>
          <p:cNvPr id="48" name="Shape 46"/>
          <p:cNvSpPr/>
          <p:nvPr/>
        </p:nvSpPr>
        <p:spPr>
          <a:xfrm>
            <a:off x="2907792" y="41148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2980944" y="41788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Accepts release and UAT</a:t>
            </a:r>
            <a:endParaRPr lang="en-US" sz="870" dirty="0"/>
          </a:p>
        </p:txBody>
      </p:sp>
      <p:sp>
        <p:nvSpPr>
          <p:cNvPr id="50" name="Shape 48"/>
          <p:cNvSpPr/>
          <p:nvPr/>
        </p:nvSpPr>
        <p:spPr>
          <a:xfrm>
            <a:off x="5029200" y="41148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5102352" y="41788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Accountable for certification</a:t>
            </a:r>
            <a:endParaRPr lang="en-US" sz="870" dirty="0"/>
          </a:p>
        </p:txBody>
      </p:sp>
      <p:sp>
        <p:nvSpPr>
          <p:cNvPr id="52" name="Shape 50"/>
          <p:cNvSpPr/>
          <p:nvPr/>
        </p:nvSpPr>
        <p:spPr>
          <a:xfrm>
            <a:off x="8247888" y="41148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53" name="Text 51"/>
          <p:cNvSpPr txBox="1"/>
          <p:nvPr/>
        </p:nvSpPr>
        <p:spPr>
          <a:xfrm>
            <a:off x="8321040" y="41788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evidence pack</a:t>
            </a:r>
            <a:endParaRPr lang="en-US" sz="870" dirty="0"/>
          </a:p>
        </p:txBody>
      </p:sp>
      <p:sp>
        <p:nvSpPr>
          <p:cNvPr id="54" name="Shape 52"/>
          <p:cNvSpPr/>
          <p:nvPr/>
        </p:nvSpPr>
        <p:spPr>
          <a:xfrm>
            <a:off x="548640" y="45720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55" name="Text 53"/>
          <p:cNvSpPr txBox="1"/>
          <p:nvPr/>
        </p:nvSpPr>
        <p:spPr>
          <a:xfrm>
            <a:off x="621792" y="46360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Production operation</a:t>
            </a:r>
            <a:endParaRPr lang="en-US" sz="870" dirty="0"/>
          </a:p>
        </p:txBody>
      </p:sp>
      <p:sp>
        <p:nvSpPr>
          <p:cNvPr id="56" name="Shape 54"/>
          <p:cNvSpPr/>
          <p:nvPr/>
        </p:nvSpPr>
        <p:spPr>
          <a:xfrm>
            <a:off x="2907792" y="45720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57" name="Text 55"/>
          <p:cNvSpPr txBox="1"/>
          <p:nvPr/>
        </p:nvSpPr>
        <p:spPr>
          <a:xfrm>
            <a:off x="2980944" y="46360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Operates customer-owned components</a:t>
            </a:r>
            <a:endParaRPr lang="en-US" sz="870" dirty="0"/>
          </a:p>
        </p:txBody>
      </p:sp>
      <p:sp>
        <p:nvSpPr>
          <p:cNvPr id="58" name="Shape 56"/>
          <p:cNvSpPr/>
          <p:nvPr/>
        </p:nvSpPr>
        <p:spPr>
          <a:xfrm>
            <a:off x="5029200" y="45720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5102352" y="46360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Operates hosted / supported components</a:t>
            </a:r>
            <a:endParaRPr lang="en-US" sz="870" dirty="0"/>
          </a:p>
        </p:txBody>
      </p:sp>
      <p:sp>
        <p:nvSpPr>
          <p:cNvPr id="60" name="Shape 58"/>
          <p:cNvSpPr/>
          <p:nvPr/>
        </p:nvSpPr>
        <p:spPr>
          <a:xfrm>
            <a:off x="8247888" y="45720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8321040" y="46360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SLO dashboard and runbooks</a:t>
            </a:r>
            <a:endParaRPr lang="en-US" sz="870" dirty="0"/>
          </a:p>
        </p:txBody>
      </p:sp>
      <p:sp>
        <p:nvSpPr>
          <p:cNvPr id="62" name="Shape 60"/>
          <p:cNvSpPr/>
          <p:nvPr/>
        </p:nvSpPr>
        <p:spPr>
          <a:xfrm>
            <a:off x="548640" y="50292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63" name="Text 61"/>
          <p:cNvSpPr txBox="1"/>
          <p:nvPr/>
        </p:nvSpPr>
        <p:spPr>
          <a:xfrm>
            <a:off x="621792" y="50932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 incident</a:t>
            </a:r>
            <a:endParaRPr lang="en-US" sz="870" dirty="0"/>
          </a:p>
        </p:txBody>
      </p:sp>
      <p:sp>
        <p:nvSpPr>
          <p:cNvPr id="64" name="Shape 62"/>
          <p:cNvSpPr/>
          <p:nvPr/>
        </p:nvSpPr>
        <p:spPr>
          <a:xfrm>
            <a:off x="2907792" y="50292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65" name="Text 63"/>
          <p:cNvSpPr txBox="1"/>
          <p:nvPr/>
        </p:nvSpPr>
        <p:spPr>
          <a:xfrm>
            <a:off x="2980944" y="50932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Provides impact and customer actions</a:t>
            </a:r>
            <a:endParaRPr lang="en-US" sz="870" dirty="0"/>
          </a:p>
        </p:txBody>
      </p:sp>
      <p:sp>
        <p:nvSpPr>
          <p:cNvPr id="66" name="Shape 64"/>
          <p:cNvSpPr/>
          <p:nvPr/>
        </p:nvSpPr>
        <p:spPr>
          <a:xfrm>
            <a:off x="5029200" y="50292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5102352" y="50932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Incident command for supported scope</a:t>
            </a:r>
            <a:endParaRPr lang="en-US" sz="870" dirty="0"/>
          </a:p>
        </p:txBody>
      </p:sp>
      <p:sp>
        <p:nvSpPr>
          <p:cNvPr id="68" name="Shape 66"/>
          <p:cNvSpPr/>
          <p:nvPr/>
        </p:nvSpPr>
        <p:spPr>
          <a:xfrm>
            <a:off x="8247888" y="50292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11253A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8321040" y="50932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Timeline, recovery and PIR</a:t>
            </a:r>
            <a:endParaRPr lang="en-US" sz="870" dirty="0"/>
          </a:p>
        </p:txBody>
      </p:sp>
      <p:sp>
        <p:nvSpPr>
          <p:cNvPr id="70" name="Shape 68"/>
          <p:cNvSpPr/>
          <p:nvPr/>
        </p:nvSpPr>
        <p:spPr>
          <a:xfrm>
            <a:off x="548640" y="5486400"/>
            <a:ext cx="22402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71" name="Text 69"/>
          <p:cNvSpPr txBox="1"/>
          <p:nvPr/>
        </p:nvSpPr>
        <p:spPr>
          <a:xfrm>
            <a:off x="621792" y="5550408"/>
            <a:ext cx="20939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Roadmap &amp; lifecycle</a:t>
            </a:r>
            <a:endParaRPr lang="en-US" sz="870" dirty="0"/>
          </a:p>
        </p:txBody>
      </p:sp>
      <p:sp>
        <p:nvSpPr>
          <p:cNvPr id="72" name="Shape 70"/>
          <p:cNvSpPr/>
          <p:nvPr/>
        </p:nvSpPr>
        <p:spPr>
          <a:xfrm>
            <a:off x="2907792" y="5486400"/>
            <a:ext cx="2011680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73" name="Text 71"/>
          <p:cNvSpPr txBox="1"/>
          <p:nvPr/>
        </p:nvSpPr>
        <p:spPr>
          <a:xfrm>
            <a:off x="2980944" y="5550408"/>
            <a:ext cx="18653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Prioritizes business change</a:t>
            </a:r>
            <a:endParaRPr lang="en-US" sz="870" dirty="0"/>
          </a:p>
        </p:txBody>
      </p:sp>
      <p:sp>
        <p:nvSpPr>
          <p:cNvPr id="74" name="Shape 72"/>
          <p:cNvSpPr/>
          <p:nvPr/>
        </p:nvSpPr>
        <p:spPr>
          <a:xfrm>
            <a:off x="5029200" y="5486400"/>
            <a:ext cx="3090672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75" name="Text 73"/>
          <p:cNvSpPr txBox="1"/>
          <p:nvPr/>
        </p:nvSpPr>
        <p:spPr>
          <a:xfrm>
            <a:off x="5102352" y="5550408"/>
            <a:ext cx="29443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Maintains capability roadmap</a:t>
            </a:r>
            <a:endParaRPr lang="en-US" sz="870" dirty="0"/>
          </a:p>
        </p:txBody>
      </p:sp>
      <p:sp>
        <p:nvSpPr>
          <p:cNvPr id="76" name="Shape 74"/>
          <p:cNvSpPr/>
          <p:nvPr/>
        </p:nvSpPr>
        <p:spPr>
          <a:xfrm>
            <a:off x="8247888" y="5486400"/>
            <a:ext cx="3401568" cy="393192"/>
          </a:xfrm>
          <a:prstGeom prst="roundRect">
            <a:avLst>
              <a:gd name="adj" fmla="val 9302"/>
            </a:avLst>
          </a:prstGeom>
          <a:solidFill>
            <a:srgbClr val="0D1A29"/>
          </a:solidFill>
          <a:ln w="12700">
            <a:solidFill>
              <a:srgbClr val="25384B">
                <a:alpha val="45000"/>
              </a:srgb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8321040" y="5550408"/>
            <a:ext cx="32552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87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Quarterly service and roadmap review</a:t>
            </a:r>
            <a:endParaRPr lang="en-US" sz="870" dirty="0"/>
          </a:p>
        </p:txBody>
      </p:sp>
      <p:sp>
        <p:nvSpPr>
          <p:cNvPr id="78" name="Shape 76"/>
          <p:cNvSpPr/>
          <p:nvPr/>
        </p:nvSpPr>
        <p:spPr>
          <a:xfrm>
            <a:off x="3886200" y="6080760"/>
            <a:ext cx="4434840" cy="292608"/>
          </a:xfrm>
          <a:prstGeom prst="roundRect">
            <a:avLst>
              <a:gd name="adj" fmla="val 50000"/>
            </a:avLst>
          </a:prstGeom>
          <a:solidFill>
            <a:srgbClr val="11253A"/>
          </a:solidFill>
          <a:ln w="12700">
            <a:solidFill>
              <a:srgbClr val="F6C85F">
                <a:alpha val="70000"/>
              </a:srgbClr>
            </a:solidFill>
            <a:prstDash val="solid"/>
          </a:ln>
        </p:spPr>
      </p:sp>
      <p:sp>
        <p:nvSpPr>
          <p:cNvPr id="79" name="Text 77"/>
          <p:cNvSpPr txBox="1"/>
          <p:nvPr/>
        </p:nvSpPr>
        <p:spPr>
          <a:xfrm>
            <a:off x="3959352" y="6099048"/>
            <a:ext cx="428853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50" b="1" kern="0" spc="50" dirty="0">
                <a:solidFill>
                  <a:srgbClr val="F6C85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RACI IS FINALIZED DURING THE OUTCOME BLUEPRINT</a:t>
            </a:r>
            <a:endParaRPr lang="en-US" sz="850" dirty="0"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5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 · COMMERCIAL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45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45E2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METERING AND COMMERCIAL ARCHITECTURE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31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Transparent economics across capability, infrastructure and premium dependencies.</a:t>
            </a:r>
            <a:endParaRPr lang="en-US" sz="31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The commercial design can combine annual commitment and usage while keeping cost attribution visible by tenant, capability and provider.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331720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1792" y="2331720"/>
            <a:ext cx="50292" cy="1344168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786384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D8CFF"/>
            </a:solidFill>
            <a:prstDash val="solid"/>
          </a:ln>
        </p:spPr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82945" y="2583729"/>
            <a:ext cx="209215" cy="209215"/>
          </a:xfrm>
          <a:prstGeom prst="rect">
            <a:avLst/>
          </a:prstGeom>
        </p:spPr>
      </p:pic>
      <p:sp>
        <p:nvSpPr>
          <p:cNvPr id="18" name="Text 15"/>
          <p:cNvSpPr txBox="1"/>
          <p:nvPr/>
        </p:nvSpPr>
        <p:spPr>
          <a:xfrm>
            <a:off x="1298448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Platform access</a:t>
            </a:r>
            <a:endParaRPr lang="en-US" sz="1450" dirty="0"/>
          </a:p>
        </p:txBody>
      </p:sp>
      <p:sp>
        <p:nvSpPr>
          <p:cNvPr id="19" name="Text 16"/>
          <p:cNvSpPr txBox="1"/>
          <p:nvPr/>
        </p:nvSpPr>
        <p:spPr>
          <a:xfrm>
            <a:off x="786384" y="2862072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Catalog, tenant controls, release channels and customer portal</a:t>
            </a:r>
            <a:endParaRPr lang="en-US" sz="1020" dirty="0"/>
          </a:p>
        </p:txBody>
      </p:sp>
      <p:sp>
        <p:nvSpPr>
          <p:cNvPr id="20" name="Shape 17"/>
          <p:cNvSpPr/>
          <p:nvPr/>
        </p:nvSpPr>
        <p:spPr>
          <a:xfrm>
            <a:off x="4352544" y="2331720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4352544" y="2331720"/>
            <a:ext cx="50292" cy="1344168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22" name="Shape 19"/>
          <p:cNvSpPr/>
          <p:nvPr/>
        </p:nvSpPr>
        <p:spPr>
          <a:xfrm>
            <a:off x="4517136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45E2FF"/>
            </a:solidFill>
            <a:prstDash val="solid"/>
          </a:ln>
        </p:spPr>
      </p:sp>
      <p:pic>
        <p:nvPicPr>
          <p:cNvPr id="23" name="Image 1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13697" y="2583729"/>
            <a:ext cx="209215" cy="209215"/>
          </a:xfrm>
          <a:prstGeom prst="rect">
            <a:avLst/>
          </a:prstGeom>
        </p:spPr>
      </p:pic>
      <p:sp>
        <p:nvSpPr>
          <p:cNvPr id="24" name="Text 20"/>
          <p:cNvSpPr txBox="1"/>
          <p:nvPr/>
        </p:nvSpPr>
        <p:spPr>
          <a:xfrm>
            <a:off x="5029200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Capability rights</a:t>
            </a:r>
            <a:endParaRPr lang="en-US" sz="1450" dirty="0"/>
          </a:p>
        </p:txBody>
      </p:sp>
      <p:sp>
        <p:nvSpPr>
          <p:cNvPr id="25" name="Text 21"/>
          <p:cNvSpPr txBox="1"/>
          <p:nvPr/>
        </p:nvSpPr>
        <p:spPr>
          <a:xfrm>
            <a:off x="4517136" y="2862072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Named certified SDK/API capability packs and environments</a:t>
            </a:r>
            <a:endParaRPr lang="en-US" sz="1020" dirty="0"/>
          </a:p>
        </p:txBody>
      </p:sp>
      <p:sp>
        <p:nvSpPr>
          <p:cNvPr id="26" name="Shape 22"/>
          <p:cNvSpPr/>
          <p:nvPr/>
        </p:nvSpPr>
        <p:spPr>
          <a:xfrm>
            <a:off x="8083296" y="2331720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27" name="Shape 23"/>
          <p:cNvSpPr/>
          <p:nvPr/>
        </p:nvSpPr>
        <p:spPr>
          <a:xfrm>
            <a:off x="8083296" y="2331720"/>
            <a:ext cx="50292" cy="1344168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8" name="Shape 24"/>
          <p:cNvSpPr/>
          <p:nvPr/>
        </p:nvSpPr>
        <p:spPr>
          <a:xfrm>
            <a:off x="8247888" y="2487168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52D6A4"/>
            </a:solidFill>
            <a:prstDash val="solid"/>
          </a:ln>
        </p:spPr>
      </p:sp>
      <p:pic>
        <p:nvPicPr>
          <p:cNvPr id="29" name="Image 2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8344449" y="2583729"/>
            <a:ext cx="209215" cy="209215"/>
          </a:xfrm>
          <a:prstGeom prst="rect">
            <a:avLst/>
          </a:prstGeom>
        </p:spPr>
      </p:pic>
      <p:sp>
        <p:nvSpPr>
          <p:cNvPr id="30" name="Text 25"/>
          <p:cNvSpPr txBox="1"/>
          <p:nvPr/>
        </p:nvSpPr>
        <p:spPr>
          <a:xfrm>
            <a:off x="8759952" y="2459736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Runtime usage</a:t>
            </a:r>
            <a:endParaRPr lang="en-US" sz="1450" dirty="0"/>
          </a:p>
        </p:txBody>
      </p:sp>
      <p:sp>
        <p:nvSpPr>
          <p:cNvPr id="31" name="Text 26"/>
          <p:cNvSpPr txBox="1"/>
          <p:nvPr/>
        </p:nvSpPr>
        <p:spPr>
          <a:xfrm>
            <a:off x="8247888" y="2862072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Requests, workflow runs, events, storage, compute or transactions</a:t>
            </a:r>
            <a:endParaRPr lang="en-US" sz="1020" dirty="0"/>
          </a:p>
        </p:txBody>
      </p:sp>
      <p:sp>
        <p:nvSpPr>
          <p:cNvPr id="32" name="Shape 27"/>
          <p:cNvSpPr/>
          <p:nvPr/>
        </p:nvSpPr>
        <p:spPr>
          <a:xfrm>
            <a:off x="621792" y="3904488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3" name="Shape 28"/>
          <p:cNvSpPr/>
          <p:nvPr/>
        </p:nvSpPr>
        <p:spPr>
          <a:xfrm>
            <a:off x="621792" y="3904488"/>
            <a:ext cx="50292" cy="1344168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34" name="Shape 29"/>
          <p:cNvSpPr/>
          <p:nvPr/>
        </p:nvSpPr>
        <p:spPr>
          <a:xfrm>
            <a:off x="786384" y="40599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B29CFF"/>
            </a:solidFill>
            <a:prstDash val="solid"/>
          </a:ln>
        </p:spPr>
      </p:sp>
      <p:pic>
        <p:nvPicPr>
          <p:cNvPr id="35" name="Image 3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882945" y="4156497"/>
            <a:ext cx="209215" cy="209215"/>
          </a:xfrm>
          <a:prstGeom prst="rect">
            <a:avLst/>
          </a:prstGeom>
        </p:spPr>
      </p:pic>
      <p:sp>
        <p:nvSpPr>
          <p:cNvPr id="36" name="Text 30"/>
          <p:cNvSpPr txBox="1"/>
          <p:nvPr/>
        </p:nvSpPr>
        <p:spPr>
          <a:xfrm>
            <a:off x="1298448" y="40325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Provider dependency</a:t>
            </a:r>
            <a:endParaRPr lang="en-US" sz="1450" dirty="0"/>
          </a:p>
        </p:txBody>
      </p:sp>
      <p:sp>
        <p:nvSpPr>
          <p:cNvPr id="37" name="Text 31"/>
          <p:cNvSpPr txBox="1"/>
          <p:nvPr/>
        </p:nvSpPr>
        <p:spPr>
          <a:xfrm>
            <a:off x="786384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Model, messaging, payment, map or other premium consumption</a:t>
            </a:r>
            <a:endParaRPr lang="en-US" sz="1020" dirty="0"/>
          </a:p>
        </p:txBody>
      </p:sp>
      <p:sp>
        <p:nvSpPr>
          <p:cNvPr id="38" name="Shape 32"/>
          <p:cNvSpPr/>
          <p:nvPr/>
        </p:nvSpPr>
        <p:spPr>
          <a:xfrm>
            <a:off x="4352544" y="3904488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39" name="Shape 33"/>
          <p:cNvSpPr/>
          <p:nvPr/>
        </p:nvSpPr>
        <p:spPr>
          <a:xfrm>
            <a:off x="4352544" y="3904488"/>
            <a:ext cx="50292" cy="1344168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4517136" y="40599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6C85F"/>
            </a:solidFill>
            <a:prstDash val="solid"/>
          </a:ln>
        </p:spPr>
      </p:sp>
      <p:pic>
        <p:nvPicPr>
          <p:cNvPr id="41" name="Image 4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613697" y="4156497"/>
            <a:ext cx="209215" cy="209215"/>
          </a:xfrm>
          <a:prstGeom prst="rect">
            <a:avLst/>
          </a:prstGeom>
        </p:spPr>
      </p:pic>
      <p:sp>
        <p:nvSpPr>
          <p:cNvPr id="42" name="Text 35"/>
          <p:cNvSpPr txBox="1"/>
          <p:nvPr/>
        </p:nvSpPr>
        <p:spPr>
          <a:xfrm>
            <a:off x="5029200" y="40325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Support tier</a:t>
            </a:r>
            <a:endParaRPr lang="en-US" sz="1450" dirty="0"/>
          </a:p>
        </p:txBody>
      </p:sp>
      <p:sp>
        <p:nvSpPr>
          <p:cNvPr id="43" name="Text 36"/>
          <p:cNvSpPr txBox="1"/>
          <p:nvPr/>
        </p:nvSpPr>
        <p:spPr>
          <a:xfrm>
            <a:off x="4517136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Essential, Production or Mission Critical operating model</a:t>
            </a:r>
            <a:endParaRPr lang="en-US" sz="1020" dirty="0"/>
          </a:p>
        </p:txBody>
      </p:sp>
      <p:sp>
        <p:nvSpPr>
          <p:cNvPr id="44" name="Shape 37"/>
          <p:cNvSpPr/>
          <p:nvPr/>
        </p:nvSpPr>
        <p:spPr>
          <a:xfrm>
            <a:off x="8083296" y="3904488"/>
            <a:ext cx="3401568" cy="1344168"/>
          </a:xfrm>
          <a:prstGeom prst="roundRect">
            <a:avLst>
              <a:gd name="adj" fmla="val 11565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  <a:effectLst>
            <a:outerShdw algn="bl" rotWithShape="0">
              <a:srgbClr val="000000">
                <a:alpha val="0"/>
              </a:srgbClr>
            </a:outerShdw>
          </a:effectLst>
        </p:spPr>
      </p:sp>
      <p:sp>
        <p:nvSpPr>
          <p:cNvPr id="45" name="Shape 38"/>
          <p:cNvSpPr/>
          <p:nvPr/>
        </p:nvSpPr>
        <p:spPr>
          <a:xfrm>
            <a:off x="8083296" y="3904488"/>
            <a:ext cx="50292" cy="1344168"/>
          </a:xfrm>
          <a:prstGeom prst="rect">
            <a:avLst/>
          </a:prstGeom>
          <a:solidFill>
            <a:srgbClr val="FF9A66"/>
          </a:solidFill>
          <a:ln w="12700">
            <a:solidFill>
              <a:srgbClr val="FF9A66">
                <a:alpha val="0"/>
              </a:srgbClr>
            </a:solidFill>
            <a:prstDash val="solid"/>
          </a:ln>
        </p:spPr>
      </p:sp>
      <p:sp>
        <p:nvSpPr>
          <p:cNvPr id="46" name="Shape 39"/>
          <p:cNvSpPr/>
          <p:nvPr/>
        </p:nvSpPr>
        <p:spPr>
          <a:xfrm>
            <a:off x="8247888" y="4059936"/>
            <a:ext cx="402336" cy="402336"/>
          </a:xfrm>
          <a:prstGeom prst="roundRect">
            <a:avLst>
              <a:gd name="adj" fmla="val 40909"/>
            </a:avLst>
          </a:prstGeom>
          <a:solidFill>
            <a:srgbClr val="11253A"/>
          </a:solidFill>
          <a:ln w="12700">
            <a:solidFill>
              <a:srgbClr val="FF9A66"/>
            </a:solidFill>
            <a:prstDash val="solid"/>
          </a:ln>
        </p:spPr>
      </p:sp>
      <p:pic>
        <p:nvPicPr>
          <p:cNvPr id="47" name="Image 5" descr="preencoded.png"/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344449" y="4156497"/>
            <a:ext cx="209215" cy="209215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8759952" y="4032504"/>
            <a:ext cx="2578608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Professional services</a:t>
            </a:r>
            <a:endParaRPr lang="en-US" sz="1450" dirty="0"/>
          </a:p>
        </p:txBody>
      </p:sp>
      <p:sp>
        <p:nvSpPr>
          <p:cNvPr id="49" name="Text 41"/>
          <p:cNvSpPr txBox="1"/>
          <p:nvPr/>
        </p:nvSpPr>
        <p:spPr>
          <a:xfrm>
            <a:off x="8247888" y="4434840"/>
            <a:ext cx="3072384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0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Blueprint, integration, migration, resident architecture and custom extension</a:t>
            </a:r>
            <a:endParaRPr lang="en-US" sz="1020" dirty="0"/>
          </a:p>
        </p:txBody>
      </p:sp>
      <p:sp>
        <p:nvSpPr>
          <p:cNvPr id="50" name="Shape 42"/>
          <p:cNvSpPr/>
          <p:nvPr/>
        </p:nvSpPr>
        <p:spPr>
          <a:xfrm>
            <a:off x="1078992" y="5632704"/>
            <a:ext cx="10021824" cy="502920"/>
          </a:xfrm>
          <a:prstGeom prst="roundRect">
            <a:avLst>
              <a:gd name="adj" fmla="val 29091"/>
            </a:avLst>
          </a:prstGeom>
          <a:solidFill>
            <a:srgbClr val="11253A"/>
          </a:solidFill>
          <a:ln w="12700">
            <a:solidFill>
              <a:srgbClr val="4D8CFF">
                <a:alpha val="65000"/>
              </a:srgbClr>
            </a:solidFill>
            <a:prstDash val="solid"/>
          </a:ln>
        </p:spPr>
      </p:sp>
      <p:sp>
        <p:nvSpPr>
          <p:cNvPr id="51" name="Text 43"/>
          <p:cNvSpPr txBox="1"/>
          <p:nvPr/>
        </p:nvSpPr>
        <p:spPr>
          <a:xfrm>
            <a:off x="1353312" y="5769864"/>
            <a:ext cx="9473184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22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choice: ProjexCloud-funded provider usage, customer BYOK, or a controlled combination by capability.</a:t>
            </a:r>
            <a:endParaRPr lang="en-US" sz="1220" dirty="0"/>
          </a:p>
        </p:txBody>
      </p:sp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6">
    <p:bg>
      <p:bgPr>
        <a:solidFill>
          <a:srgbClr val="050A1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50292"/>
          </a:xfrm>
          <a:prstGeom prst="rect">
            <a:avLst/>
          </a:prstGeom>
          <a:solidFill>
            <a:srgbClr val="70859A"/>
          </a:solidFill>
          <a:ln w="12700">
            <a:solidFill>
              <a:srgbClr val="70859A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438912" y="201168"/>
            <a:ext cx="246888" cy="246888"/>
          </a:xfrm>
          <a:prstGeom prst="ellipse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557784" y="228600"/>
            <a:ext cx="246888" cy="246888"/>
          </a:xfrm>
          <a:prstGeom prst="ellipse">
            <a:avLst/>
          </a:prstGeom>
          <a:solidFill>
            <a:srgbClr val="45E2FF">
              <a:alpha val="82000"/>
            </a:srgbClr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868680" y="128016"/>
            <a:ext cx="16916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b="1" kern="0" spc="20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</a:t>
            </a:r>
            <a:endParaRPr lang="en-US" sz="1400" dirty="0"/>
          </a:p>
        </p:txBody>
      </p:sp>
      <p:sp>
        <p:nvSpPr>
          <p:cNvPr id="6" name="Text 4"/>
          <p:cNvSpPr txBox="1"/>
          <p:nvPr/>
        </p:nvSpPr>
        <p:spPr>
          <a:xfrm>
            <a:off x="8732520" y="137160"/>
            <a:ext cx="2697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kern="0" spc="11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ADDENDUM · SOURCES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11484864" y="137160"/>
            <a:ext cx="31089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b="1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46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438912" y="6565392"/>
            <a:ext cx="11329416" cy="0"/>
          </a:xfrm>
          <a:prstGeom prst="line">
            <a:avLst/>
          </a:prstGeom>
          <a:noFill/>
          <a:ln w="8890">
            <a:solidFill>
              <a:srgbClr val="25384B"/>
            </a:solidFill>
            <a:prstDash val="solid"/>
            <a:headEnd type="none"/>
            <a:tailEnd type="none"/>
          </a:ln>
        </p:spPr>
      </p:sp>
      <p:sp>
        <p:nvSpPr>
          <p:cNvPr id="9" name="Text 7"/>
          <p:cNvSpPr txBox="1"/>
          <p:nvPr/>
        </p:nvSpPr>
        <p:spPr>
          <a:xfrm>
            <a:off x="438912" y="6611112"/>
            <a:ext cx="393192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740" b="1" kern="0" spc="7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CERTIFIED COMPOSABLE SOFTWARE CAPABILITIES</a:t>
            </a:r>
            <a:endParaRPr lang="en-US" sz="740" dirty="0"/>
          </a:p>
        </p:txBody>
      </p:sp>
      <p:sp>
        <p:nvSpPr>
          <p:cNvPr id="10" name="Text 8"/>
          <p:cNvSpPr txBox="1"/>
          <p:nvPr/>
        </p:nvSpPr>
        <p:spPr>
          <a:xfrm>
            <a:off x="8412480" y="6611112"/>
            <a:ext cx="333756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74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Customer discussion deck · June 2026</a:t>
            </a:r>
            <a:endParaRPr lang="en-US" sz="740" dirty="0"/>
          </a:p>
        </p:txBody>
      </p:sp>
      <p:sp>
        <p:nvSpPr>
          <p:cNvPr id="11" name="Text 9"/>
          <p:cNvSpPr txBox="1"/>
          <p:nvPr/>
        </p:nvSpPr>
        <p:spPr>
          <a:xfrm>
            <a:off x="530352" y="658368"/>
            <a:ext cx="47548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50" b="1" kern="0" spc="110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SOURCES AND METHODOLOGY</a:t>
            </a:r>
            <a:endParaRPr lang="en-US" sz="950" dirty="0"/>
          </a:p>
        </p:txBody>
      </p:sp>
      <p:sp>
        <p:nvSpPr>
          <p:cNvPr id="12" name="Text 10"/>
          <p:cNvSpPr txBox="1"/>
          <p:nvPr/>
        </p:nvSpPr>
        <p:spPr>
          <a:xfrm>
            <a:off x="530352" y="932688"/>
            <a:ext cx="10972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90000"/>
              </a:lnSpc>
              <a:buNone/>
            </a:pPr>
            <a:r>
              <a:rPr lang="en-US" sz="2700" b="1" dirty="0">
                <a:solidFill>
                  <a:srgbClr val="F3F8F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data is used to frame the market context; product claims are grounded in the supplied ProjexCloud materials.</a:t>
            </a:r>
            <a:endParaRPr lang="en-US" sz="2700" dirty="0"/>
          </a:p>
        </p:txBody>
      </p:sp>
      <p:sp>
        <p:nvSpPr>
          <p:cNvPr id="13" name="Text 11"/>
          <p:cNvSpPr txBox="1"/>
          <p:nvPr/>
        </p:nvSpPr>
        <p:spPr>
          <a:xfrm>
            <a:off x="530352" y="1627632"/>
            <a:ext cx="107899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5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Metrics are paraphrased from primary or official sources. Commercial response targets and packaging are proposed ProjexCloud offers and become contractual only through executed agreements.</a:t>
            </a:r>
            <a:endParaRPr lang="en-US" sz="1550" dirty="0"/>
          </a:p>
        </p:txBody>
      </p:sp>
      <p:sp>
        <p:nvSpPr>
          <p:cNvPr id="14" name="Shape 12"/>
          <p:cNvSpPr/>
          <p:nvPr/>
        </p:nvSpPr>
        <p:spPr>
          <a:xfrm>
            <a:off x="621792" y="2249424"/>
            <a:ext cx="5248656" cy="950976"/>
          </a:xfrm>
          <a:prstGeom prst="roundRect">
            <a:avLst>
              <a:gd name="adj" fmla="val 1634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621792" y="2249424"/>
            <a:ext cx="50292" cy="950976"/>
          </a:xfrm>
          <a:prstGeom prst="rect">
            <a:avLst/>
          </a:prstGeom>
          <a:solidFill>
            <a:srgbClr val="B29CFF"/>
          </a:solidFill>
          <a:ln w="12700">
            <a:solidFill>
              <a:srgbClr val="B29CFF">
                <a:alpha val="0"/>
              </a:srgbClr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786384" y="23774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adoption &amp; productivity</a:t>
            </a:r>
            <a:endParaRPr lang="en-US" sz="1450" dirty="0"/>
          </a:p>
        </p:txBody>
      </p:sp>
      <p:sp>
        <p:nvSpPr>
          <p:cNvPr id="17" name="Text 15"/>
          <p:cNvSpPr txBox="1"/>
          <p:nvPr/>
        </p:nvSpPr>
        <p:spPr>
          <a:xfrm>
            <a:off x="786384" y="277977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Gartner 2024 AI code assistant forecast; Gartner 2024 engineering upskilling; GitHub Copilot productivity research; McKinsey GenAI software-engineering research.</a:t>
            </a:r>
            <a:endParaRPr lang="en-US" sz="920" dirty="0"/>
          </a:p>
        </p:txBody>
      </p:sp>
      <p:sp>
        <p:nvSpPr>
          <p:cNvPr id="18" name="Shape 16"/>
          <p:cNvSpPr/>
          <p:nvPr/>
        </p:nvSpPr>
        <p:spPr>
          <a:xfrm>
            <a:off x="6199632" y="2249424"/>
            <a:ext cx="5248656" cy="950976"/>
          </a:xfrm>
          <a:prstGeom prst="roundRect">
            <a:avLst>
              <a:gd name="adj" fmla="val 1634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6199632" y="2249424"/>
            <a:ext cx="50292" cy="950976"/>
          </a:xfrm>
          <a:prstGeom prst="rect">
            <a:avLst/>
          </a:prstGeom>
          <a:solidFill>
            <a:srgbClr val="52D6A4"/>
          </a:solidFill>
          <a:ln w="12700">
            <a:solidFill>
              <a:srgbClr val="52D6A4">
                <a:alpha val="0"/>
              </a:srgbClr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6364224" y="2377440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AI quality &amp; assurance</a:t>
            </a:r>
            <a:endParaRPr lang="en-US" sz="1450" dirty="0"/>
          </a:p>
        </p:txBody>
      </p:sp>
      <p:sp>
        <p:nvSpPr>
          <p:cNvPr id="21" name="Text 19"/>
          <p:cNvSpPr txBox="1"/>
          <p:nvPr/>
        </p:nvSpPr>
        <p:spPr>
          <a:xfrm>
            <a:off x="6364224" y="2779776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Sonar State of Code 2026; Veracode 2025 GenAI Code Security Report; Capgemini World Quality Report 2024/2025; DORA 2025 report.</a:t>
            </a:r>
            <a:endParaRPr lang="en-US" sz="920" dirty="0"/>
          </a:p>
        </p:txBody>
      </p:sp>
      <p:sp>
        <p:nvSpPr>
          <p:cNvPr id="22" name="Shape 20"/>
          <p:cNvSpPr/>
          <p:nvPr/>
        </p:nvSpPr>
        <p:spPr>
          <a:xfrm>
            <a:off x="621792" y="3364992"/>
            <a:ext cx="5248656" cy="950976"/>
          </a:xfrm>
          <a:prstGeom prst="roundRect">
            <a:avLst>
              <a:gd name="adj" fmla="val 1634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21792" y="3364992"/>
            <a:ext cx="50292" cy="950976"/>
          </a:xfrm>
          <a:prstGeom prst="rect">
            <a:avLst/>
          </a:prstGeom>
          <a:solidFill>
            <a:srgbClr val="F6C85F"/>
          </a:solidFill>
          <a:ln w="12700">
            <a:solidFill>
              <a:srgbClr val="F6C85F">
                <a:alpha val="0"/>
              </a:srgbClr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786384" y="34930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Engineering economics</a:t>
            </a:r>
            <a:endParaRPr lang="en-US" sz="1450" dirty="0"/>
          </a:p>
        </p:txBody>
      </p:sp>
      <p:sp>
        <p:nvSpPr>
          <p:cNvPr id="25" name="Text 23"/>
          <p:cNvSpPr txBox="1"/>
          <p:nvPr/>
        </p:nvSpPr>
        <p:spPr>
          <a:xfrm>
            <a:off x="786384" y="389534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U.S. Bureau of Labor Statistics May 2024 median wages; CISQ software-quality economics research.</a:t>
            </a:r>
            <a:endParaRPr lang="en-US" sz="920" dirty="0"/>
          </a:p>
        </p:txBody>
      </p:sp>
      <p:sp>
        <p:nvSpPr>
          <p:cNvPr id="26" name="Shape 24"/>
          <p:cNvSpPr/>
          <p:nvPr/>
        </p:nvSpPr>
        <p:spPr>
          <a:xfrm>
            <a:off x="6199632" y="3364992"/>
            <a:ext cx="5248656" cy="950976"/>
          </a:xfrm>
          <a:prstGeom prst="roundRect">
            <a:avLst>
              <a:gd name="adj" fmla="val 1634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6199632" y="3364992"/>
            <a:ext cx="50292" cy="950976"/>
          </a:xfrm>
          <a:prstGeom prst="rect">
            <a:avLst/>
          </a:prstGeom>
          <a:solidFill>
            <a:srgbClr val="4D8CFF"/>
          </a:solidFill>
          <a:ln w="12700">
            <a:solidFill>
              <a:srgbClr val="4D8CFF">
                <a:alpha val="0"/>
              </a:srgbClr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6364224" y="3493008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API &amp; integration market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364224" y="3895344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MuleSoft Connectivity Benchmark; Postman State of the API 2025; official product documentation from MuAPI, OpenRouter, Merge, Nango, RapidAPI, Kong, Workato and Boomi.</a:t>
            </a:r>
            <a:endParaRPr lang="en-US" sz="920" dirty="0"/>
          </a:p>
        </p:txBody>
      </p:sp>
      <p:sp>
        <p:nvSpPr>
          <p:cNvPr id="30" name="Shape 28"/>
          <p:cNvSpPr/>
          <p:nvPr/>
        </p:nvSpPr>
        <p:spPr>
          <a:xfrm>
            <a:off x="621792" y="4480560"/>
            <a:ext cx="5248656" cy="950976"/>
          </a:xfrm>
          <a:prstGeom prst="roundRect">
            <a:avLst>
              <a:gd name="adj" fmla="val 1634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21792" y="4480560"/>
            <a:ext cx="50292" cy="950976"/>
          </a:xfrm>
          <a:prstGeom prst="rect">
            <a:avLst/>
          </a:prstGeom>
          <a:solidFill>
            <a:srgbClr val="45E2FF"/>
          </a:solidFill>
          <a:ln w="12700">
            <a:solidFill>
              <a:srgbClr val="45E2FF">
                <a:alpha val="0"/>
              </a:srgb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86384" y="46085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Enterprise support benchmark</a:t>
            </a:r>
            <a:endParaRPr lang="en-US" sz="1450" dirty="0"/>
          </a:p>
        </p:txBody>
      </p:sp>
      <p:sp>
        <p:nvSpPr>
          <p:cNvPr id="33" name="Text 31"/>
          <p:cNvSpPr txBox="1"/>
          <p:nvPr/>
        </p:nvSpPr>
        <p:spPr>
          <a:xfrm>
            <a:off x="786384" y="501091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Snowflake support editions; AWS Enterprise Support; Google Cloud Premium Support.</a:t>
            </a:r>
            <a:endParaRPr lang="en-US" sz="920" dirty="0"/>
          </a:p>
        </p:txBody>
      </p:sp>
      <p:sp>
        <p:nvSpPr>
          <p:cNvPr id="34" name="Shape 32"/>
          <p:cNvSpPr/>
          <p:nvPr/>
        </p:nvSpPr>
        <p:spPr>
          <a:xfrm>
            <a:off x="6199632" y="4480560"/>
            <a:ext cx="5248656" cy="950976"/>
          </a:xfrm>
          <a:prstGeom prst="roundRect">
            <a:avLst>
              <a:gd name="adj" fmla="val 16346"/>
            </a:avLst>
          </a:prstGeom>
          <a:solidFill>
            <a:srgbClr val="0D1A29"/>
          </a:solidFill>
          <a:ln w="12700">
            <a:solidFill>
              <a:srgbClr val="25384B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6199632" y="4480560"/>
            <a:ext cx="50292" cy="950976"/>
          </a:xfrm>
          <a:prstGeom prst="rect">
            <a:avLst/>
          </a:prstGeom>
          <a:solidFill>
            <a:srgbClr val="36D4C0"/>
          </a:solidFill>
          <a:ln w="12700">
            <a:solidFill>
              <a:srgbClr val="36D4C0">
                <a:alpha val="0"/>
              </a:srgbClr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364224" y="4608576"/>
            <a:ext cx="49377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3F8F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ProjexCloud product evidence</a:t>
            </a:r>
            <a:endParaRPr lang="en-US" sz="1450" dirty="0"/>
          </a:p>
        </p:txBody>
      </p:sp>
      <p:sp>
        <p:nvSpPr>
          <p:cNvPr id="37" name="Text 35"/>
          <p:cNvSpPr txBox="1"/>
          <p:nvPr/>
        </p:nvSpPr>
        <p:spPr>
          <a:xfrm>
            <a:off x="6364224" y="5010912"/>
            <a:ext cx="491947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920" dirty="0">
                <a:solidFill>
                  <a:srgbClr val="9DB0C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Attached ProjexCloud API Reference v3.1; Insignia Platform Constitution &amp; Engineering Atlas; customer discussion notes; supplied corporate capability deck.</a:t>
            </a:r>
            <a:endParaRPr lang="en-US" sz="920" dirty="0"/>
          </a:p>
        </p:txBody>
      </p:sp>
      <p:sp>
        <p:nvSpPr>
          <p:cNvPr id="38" name="Text 36"/>
          <p:cNvSpPr txBox="1"/>
          <p:nvPr/>
        </p:nvSpPr>
        <p:spPr>
          <a:xfrm>
            <a:off x="3273552" y="5888736"/>
            <a:ext cx="5669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i="1" dirty="0">
                <a:solidFill>
                  <a:srgbClr val="7085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Full URLs are included in the speaker notes for the relevant slides.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6851</Words>
  <Application>Microsoft Macintosh PowerPoint</Application>
  <PresentationFormat>Widescreen</PresentationFormat>
  <Paragraphs>1196</Paragraphs>
  <Slides>46</Slides>
  <Notes>46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Insignia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ProjexCloud — Certified Composable Software Capabilities</dc:title>
  <dc:subject>Customer-facing ProjexCloud capability, certification, deployment and support offer</dc:subject>
  <dc:creator>ProjexCloud</dc:creator>
  <cp:lastModifiedBy>Vivek Prakash Mishra</cp:lastModifiedBy>
  <cp:revision>2</cp:revision>
  <dcterms:created xsi:type="dcterms:W3CDTF">2026-06-25T06:25:09Z</dcterms:created>
  <dcterms:modified xsi:type="dcterms:W3CDTF">2026-06-25T10:14:36Z</dcterms:modified>
</cp:coreProperties>
</file>